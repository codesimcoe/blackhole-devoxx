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9"/>
  </p:notesMasterIdLst>
  <p:handoutMasterIdLst>
    <p:handoutMasterId r:id="rId50"/>
  </p:handoutMasterIdLst>
  <p:sldIdLst>
    <p:sldId id="438" r:id="rId2"/>
    <p:sldId id="442" r:id="rId3"/>
    <p:sldId id="443" r:id="rId4"/>
    <p:sldId id="445" r:id="rId5"/>
    <p:sldId id="446" r:id="rId6"/>
    <p:sldId id="448" r:id="rId7"/>
    <p:sldId id="449" r:id="rId8"/>
    <p:sldId id="447" r:id="rId9"/>
    <p:sldId id="439" r:id="rId10"/>
    <p:sldId id="440" r:id="rId11"/>
    <p:sldId id="453" r:id="rId12"/>
    <p:sldId id="444" r:id="rId13"/>
    <p:sldId id="450" r:id="rId14"/>
    <p:sldId id="451" r:id="rId15"/>
    <p:sldId id="452" r:id="rId16"/>
    <p:sldId id="454" r:id="rId17"/>
    <p:sldId id="455" r:id="rId18"/>
    <p:sldId id="456" r:id="rId19"/>
    <p:sldId id="457" r:id="rId20"/>
    <p:sldId id="462" r:id="rId21"/>
    <p:sldId id="458" r:id="rId22"/>
    <p:sldId id="460" r:id="rId23"/>
    <p:sldId id="459" r:id="rId24"/>
    <p:sldId id="441" r:id="rId25"/>
    <p:sldId id="287" r:id="rId26"/>
    <p:sldId id="461" r:id="rId27"/>
    <p:sldId id="273" r:id="rId28"/>
    <p:sldId id="464" r:id="rId29"/>
    <p:sldId id="463" r:id="rId30"/>
    <p:sldId id="289" r:id="rId31"/>
    <p:sldId id="292" r:id="rId32"/>
    <p:sldId id="296" r:id="rId33"/>
    <p:sldId id="297" r:id="rId34"/>
    <p:sldId id="299" r:id="rId35"/>
    <p:sldId id="300" r:id="rId36"/>
    <p:sldId id="312" r:id="rId37"/>
    <p:sldId id="314" r:id="rId38"/>
    <p:sldId id="303" r:id="rId39"/>
    <p:sldId id="307" r:id="rId40"/>
    <p:sldId id="323" r:id="rId41"/>
    <p:sldId id="305" r:id="rId42"/>
    <p:sldId id="317" r:id="rId43"/>
    <p:sldId id="309" r:id="rId44"/>
    <p:sldId id="435" r:id="rId45"/>
    <p:sldId id="437" r:id="rId46"/>
    <p:sldId id="304" r:id="rId47"/>
    <p:sldId id="316" r:id="rId4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51" autoAdjust="0"/>
    <p:restoredTop sz="92342" autoAdjust="0"/>
  </p:normalViewPr>
  <p:slideViewPr>
    <p:cSldViewPr snapToGrid="0">
      <p:cViewPr varScale="1">
        <p:scale>
          <a:sx n="111" d="100"/>
          <a:sy n="111" d="100"/>
        </p:scale>
        <p:origin x="12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4114" y="6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B91C848-B012-01CD-383B-68BABF105F0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D0CC307-2DBF-5ABB-A4A8-34E74E1B062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A90223-A383-4EF3-9DDD-045F9EB239B6}" type="datetimeFigureOut">
              <a:rPr lang="fr-FR" smtClean="0"/>
              <a:t>21/09/2026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1494DE-A878-789B-0AB9-34328386C88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3CFE15-B67A-FE70-5E52-483D87B0A5A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727C60E-E3E0-4F56-ACBE-3A01B47EF68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64343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E15E0A-83FC-4BC3-B4D8-F52493CDE4DD}" type="datetimeFigureOut">
              <a:rPr lang="fr-FR" smtClean="0"/>
              <a:t>21/09/2026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EA3014-B2AC-4DD9-96D6-B2D3355A50BC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97453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A3014-B2AC-4DD9-96D6-B2D3355A50B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505171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B64BE-7EC8-9CAD-4481-499FA1D35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E1C654-C728-DF29-B359-F60885E695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81D0FD-AE80-02BC-0C23-2397C26C1D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A31C33-0AD8-C77A-B94B-E0A299BE2E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A3014-B2AC-4DD9-96D6-B2D3355A50BC}" type="slidenum">
              <a:rPr lang="fr-FR" smtClean="0"/>
              <a:t>39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875120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B5DA6-BD9C-5FAA-3A21-57313BA0C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1434C5-B944-C4B2-0430-1AD84B6B80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9FE9E9-75AD-623A-6D1B-3E80844548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353C8D-284C-0811-C5FA-FFF9E73990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A3014-B2AC-4DD9-96D6-B2D3355A50BC}" type="slidenum">
              <a:rPr lang="fr-FR" smtClean="0"/>
              <a:t>41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2911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3D564-0AA7-5E81-DED3-E67AB1D24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22B7ED-0083-5C97-88A3-776903CA81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98F068-A625-8724-82D8-E632734785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14DB72-26F0-04EB-7A79-4E6C055739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A3014-B2AC-4DD9-96D6-B2D3355A50BC}" type="slidenum">
              <a:rPr lang="fr-FR" smtClean="0"/>
              <a:t>46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35944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4AE4C0-E2B0-D69A-0AD3-22431AD0C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497D49-3038-481D-F74C-39E308453B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53E2DB-454D-C62E-F5FD-D965A7A3A7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FB0EF4-65C2-FFD5-4EE6-ED31ACD930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A3014-B2AC-4DD9-96D6-B2D3355A50BC}" type="slidenum">
              <a:rPr lang="fr-FR" smtClean="0"/>
              <a:t>47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512232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51987-27BB-2014-8039-4BAD119EE3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71744E-7135-93BB-FCD5-EA2F3C80A0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980758-6111-F257-1B94-0CAF636B4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B909E-DF75-4467-8919-325FEECAC709}" type="datetime1">
              <a:rPr lang="fr-FR" smtClean="0"/>
              <a:t>21/09/2026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525523-B413-A638-EBB0-7EB0F3D56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643E8C-FCE7-ACF3-4AC0-C64A3DA81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3FBCAFE-9BA5-4F25-83BC-8351B4665D24}" type="slidenum">
              <a:rPr lang="fr-FR" smtClean="0"/>
              <a:pPr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57930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4E3207-D829-6182-825B-043FA1C0C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84EC31-356A-B413-FAFC-5C4628298F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7A5BBC-76BD-80A2-DC11-CD8DB144C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A09E8-7476-4472-8A87-583D7F23AB0B}" type="datetime1">
              <a:rPr lang="fr-FR" smtClean="0"/>
              <a:t>21/09/2026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A5AF5E-FBA1-2660-2ABB-89C35C840D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BF9FA7-D19B-AC34-B6F0-B16139E2C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800451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2F28F-9D59-C0F6-ED45-6E5EAE95D6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CD0BD9-5DCF-E7CB-029E-5B5E2E91AF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13661D-1FCB-F462-E87C-34BE8F4FB2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FAEAD-4E04-4474-B982-B4CE1B1F79FA}" type="datetime1">
              <a:rPr lang="fr-FR" smtClean="0"/>
              <a:t>21/09/2026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E548C2-6E8A-7EC5-EED6-B2E8F4720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36A9A5-C3E6-3968-8587-471FF8FC2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133467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5BBAD-D0D5-1B5D-B20F-AE42F2229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B02319-5E91-A10F-3979-5B6F3FE16B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308F79-6C5D-FBBC-45DF-3B7871B14E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2C70CC-2716-9594-CA61-1C90E3E38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5371DE-4BB3-41F6-AC3F-6CEBA8F21BD3}" type="datetime1">
              <a:rPr lang="fr-FR" smtClean="0"/>
              <a:t>21/09/2026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FE4BE6-BB42-B9C9-5957-996B0616A6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F9DDC3-7D79-752A-DE6F-69800DC31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868373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EB726-2919-E12D-B4C0-CAD4B6A4E0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C9B2C9-710B-46E4-E42A-A88BBD9AAB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A788D1-BBC4-6B3F-06EF-A3982C958F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FA0BF18-5E1B-540A-D12F-EE545E333C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517424-C093-097F-4B47-F966087F20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93AC25E-B6A4-213B-8850-FCFAC18ED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90617F-C9C1-455A-9E27-DE7E820A2C5A}" type="datetime1">
              <a:rPr lang="fr-FR" smtClean="0"/>
              <a:t>21/09/2026</a:t>
            </a:fld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B45403-D49E-F87E-E6C2-EE25A81119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ED98DA-4512-39BA-BEB5-11159EF24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04079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099299-0EC7-1233-3352-1A934B3E51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0FFEEA1-476A-7670-2E35-FD7DD1B3F2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E084AF-9098-4A15-8BDC-BDD5C517DFAA}" type="datetime1">
              <a:rPr lang="fr-FR" smtClean="0"/>
              <a:t>21/09/2026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871D49-E937-5260-A4F9-EEAD7D67D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FED7CE-7271-92C3-8D72-BE0746F12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833035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0C0110-0071-65F1-5AD9-2204A8D174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D4CC8-AC63-483F-A31B-4695172B72D7}" type="datetime1">
              <a:rPr lang="fr-FR" smtClean="0"/>
              <a:t>21/09/2026</a:t>
            </a:fld>
            <a:endParaRPr lang="fr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494BB3-8978-415C-0987-98EE32F157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EC42C0-EB26-CAB8-DFDD-30BB4AF6B2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377139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0DB8C-69FE-8951-D59B-4A034A4880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CC0C8-0077-1C50-6C7E-F9CFC1945A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FB2645-B326-D797-46AF-76159227E1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32F7D3-D5EF-9A38-3D5E-92D9D621C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DE2A67-9B9A-4DA7-A234-B292BBF525A2}" type="datetime1">
              <a:rPr lang="fr-FR" smtClean="0"/>
              <a:t>21/09/2026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6AE42B-DF36-29B3-BF44-1DBB0679BE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6BE26F-64C8-DC74-D325-860E77548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771355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3E9C3-ADB4-0B05-4CE3-147C5E8F4F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3C7772A-70D4-54D3-07D5-C2D5758B349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DB78DB-2588-743A-244F-4269B53C86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B7B721-22EA-B521-8490-FC9AC4151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E55379-FEA8-410F-AD03-3AEA35DBF523}" type="datetime1">
              <a:rPr lang="fr-FR" smtClean="0"/>
              <a:t>21/09/2026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E8FD49-DF3F-11A2-F6F5-BC1D4C0DB2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E9EAA8-5BA2-802C-5131-0D288EA70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513543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9AD4B7-2904-E782-4AB1-F55E3F3D3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4C44EC-6500-CCD0-C6A2-5624FBB769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01B663-0199-169D-44B2-C5628549C1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4F587-7C7F-49AB-8B44-58E41FB7D3D4}" type="datetime1">
              <a:rPr lang="fr-FR" smtClean="0"/>
              <a:t>21/09/2026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E9D8C-BB0C-5FEB-B042-081691D76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81C25C-02BA-4FD8-D87E-01C64FD228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465345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FD014D0-2284-5356-93A3-0E2CDE077F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C9D93B-6E31-C60E-9231-7D67A83CF9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EEE7D8-580E-2985-9E8A-B2D3B36FE4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391112-AA40-456A-8658-AC9B2F2D8D8F}" type="datetime1">
              <a:rPr lang="fr-FR" smtClean="0"/>
              <a:t>21/09/2026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52F7DF-AC0A-C9EF-2BEA-A0B6B3A153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2A4F72-97F8-351D-D592-6E68AA3A05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157870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Slide">
    <p:bg>
      <p:bgPr>
        <a:solidFill>
          <a:srgbClr val="3049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34377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258F5A2-FA90-BA36-BB48-DA58CA76B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3DAADE-0157-F8C2-27AE-0EFBBFD4D5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FD1814-3EFE-CD69-8D6E-4A9FEA9D10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7863EF-1D1D-4DC6-B064-9AC470BACB47}" type="datetime1">
              <a:rPr lang="fr-FR" smtClean="0"/>
              <a:t>21/09/2026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8BB2B-2E74-2DBF-CDEA-E7FD3CC3B9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7C831E-4CE7-960C-51BF-033F06B05F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9844" y="649226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  <a:latin typeface="Fira Sans Condensed SemiBold" panose="020B0603050000020004" pitchFamily="34" charset="0"/>
              </a:defRPr>
            </a:lvl1pPr>
          </a:lstStyle>
          <a:p>
            <a:fld id="{83FBCAFE-9BA5-4F25-83BC-8351B4665D24}" type="slidenum">
              <a:rPr lang="fr-FR" smtClean="0"/>
              <a:pPr/>
              <a:t>‹#›</a:t>
            </a:fld>
            <a:endParaRPr lang="fr-FR"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96817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espace, astronomie&#10;&#10;Description générée automatiquement">
            <a:extLst>
              <a:ext uri="{FF2B5EF4-FFF2-40B4-BE49-F238E27FC236}">
                <a16:creationId xmlns:a16="http://schemas.microsoft.com/office/drawing/2014/main" id="{4BE75BF6-3DC8-6C32-A52E-4922BCB4E4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6" name="TextBox 2">
            <a:extLst>
              <a:ext uri="{FF2B5EF4-FFF2-40B4-BE49-F238E27FC236}">
                <a16:creationId xmlns:a16="http://schemas.microsoft.com/office/drawing/2014/main" id="{17629A96-7EE9-BC2E-8165-5A7367A41A52}"/>
              </a:ext>
            </a:extLst>
          </p:cNvPr>
          <p:cNvSpPr txBox="1"/>
          <p:nvPr/>
        </p:nvSpPr>
        <p:spPr>
          <a:xfrm>
            <a:off x="787495" y="5440360"/>
            <a:ext cx="10617009" cy="646331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solidFill>
                  <a:schemeClr val="bg2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Fira Sans Condensed SemiBold" panose="020B0603050000020004" pitchFamily="34" charset="0"/>
              </a:rPr>
              <a:t>“Escaping Java's Allocation Gravity with Value Classes”</a:t>
            </a:r>
            <a:endParaRPr lang="fr-FR" sz="3600" dirty="0">
              <a:solidFill>
                <a:schemeClr val="bg2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Fira Sans Condensed SemiBold" panose="020B0603050000020004" pitchFamily="34" charset="0"/>
            </a:endParaRPr>
          </a:p>
        </p:txBody>
      </p:sp>
      <p:sp>
        <p:nvSpPr>
          <p:cNvPr id="17" name="TextBox 5">
            <a:extLst>
              <a:ext uri="{FF2B5EF4-FFF2-40B4-BE49-F238E27FC236}">
                <a16:creationId xmlns:a16="http://schemas.microsoft.com/office/drawing/2014/main" id="{0E042E82-70CE-DF80-6E9D-F24286B71455}"/>
              </a:ext>
            </a:extLst>
          </p:cNvPr>
          <p:cNvSpPr txBox="1"/>
          <p:nvPr/>
        </p:nvSpPr>
        <p:spPr>
          <a:xfrm>
            <a:off x="202399" y="6334780"/>
            <a:ext cx="2917786" cy="523220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Fira Sans Condensed SemiBold" panose="020B0603050000020004" pitchFamily="34" charset="0"/>
              </a:rPr>
              <a:t>Clément de Tastes</a:t>
            </a:r>
            <a:endParaRPr lang="fr-FR" sz="2800" dirty="0">
              <a:solidFill>
                <a:schemeClr val="bg2">
                  <a:lumMod val="75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Fira Sans Condensed SemiBold" panose="020B06030500000200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5D8960-5DD8-6414-51FD-9B1E45679AD3}"/>
              </a:ext>
            </a:extLst>
          </p:cNvPr>
          <p:cNvSpPr txBox="1"/>
          <p:nvPr/>
        </p:nvSpPr>
        <p:spPr>
          <a:xfrm>
            <a:off x="10155445" y="6334780"/>
            <a:ext cx="1834156" cy="523220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r>
              <a:rPr lang="en-US" sz="2800" dirty="0" err="1">
                <a:solidFill>
                  <a:schemeClr val="bg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Fira Sans Condensed SemiBold" panose="020B0603050000020004" pitchFamily="34" charset="0"/>
              </a:rPr>
              <a:t>Rémi</a:t>
            </a:r>
            <a:r>
              <a:rPr lang="en-US" sz="2800" dirty="0">
                <a:solidFill>
                  <a:schemeClr val="bg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Fira Sans Condensed SemiBold" panose="020B0603050000020004" pitchFamily="34" charset="0"/>
              </a:rPr>
              <a:t> </a:t>
            </a:r>
            <a:r>
              <a:rPr lang="en-US" sz="2800" dirty="0" err="1">
                <a:solidFill>
                  <a:schemeClr val="bg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Fira Sans Condensed SemiBold" panose="020B0603050000020004" pitchFamily="34" charset="0"/>
              </a:rPr>
              <a:t>Forax</a:t>
            </a:r>
            <a:endParaRPr lang="fr-FR" sz="2800" dirty="0">
              <a:solidFill>
                <a:schemeClr val="bg2">
                  <a:lumMod val="75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44990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17D4D-DE3C-3BE1-57A4-F3A61E17F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 10" descr="Une image contenant texte, affiche, dessin humoristique, fiction&#10;&#10;Description générée automatiquement">
            <a:extLst>
              <a:ext uri="{FF2B5EF4-FFF2-40B4-BE49-F238E27FC236}">
                <a16:creationId xmlns:a16="http://schemas.microsoft.com/office/drawing/2014/main" id="{10F202E3-FB8C-3A80-0DB5-F765E57E5D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0643" y="1512731"/>
            <a:ext cx="2821601" cy="308752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5B20572-4586-6C07-4FF9-0930FFD0708B}"/>
              </a:ext>
            </a:extLst>
          </p:cNvPr>
          <p:cNvSpPr txBox="1"/>
          <p:nvPr/>
        </p:nvSpPr>
        <p:spPr>
          <a:xfrm>
            <a:off x="4494440" y="490008"/>
            <a:ext cx="32031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Project Valhalla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6836DAF-E7B9-7829-B410-C124E1FDC177}"/>
              </a:ext>
            </a:extLst>
          </p:cNvPr>
          <p:cNvSpPr txBox="1"/>
          <p:nvPr/>
        </p:nvSpPr>
        <p:spPr>
          <a:xfrm>
            <a:off x="1177025" y="5595383"/>
            <a:ext cx="403027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dirty="0">
                <a:latin typeface="Fira Sans Condensed SemiBold" panose="020B0603050000020004" pitchFamily="34" charset="0"/>
              </a:rPr>
              <a:t>Flat memory </a:t>
            </a:r>
            <a:r>
              <a:rPr lang="en-US" sz="2400" dirty="0">
                <a:latin typeface="Fira Sans Condensed SemiBold" panose="020B0603050000020004" pitchFamily="34" charset="0"/>
              </a:rPr>
              <a:t>representation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>
                <a:latin typeface="Fira Sans Condensed SemiBold" panose="020B0603050000020004" pitchFamily="34" charset="0"/>
              </a:rPr>
              <a:t>Primitives vs Objects</a:t>
            </a:r>
            <a:endParaRPr lang="fr-FR" sz="2400" dirty="0">
              <a:latin typeface="Fira Sans Condensed SemiBold" panose="020B06030500000200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B3047D-F482-FEAB-0F2D-EE602F893433}"/>
              </a:ext>
            </a:extLst>
          </p:cNvPr>
          <p:cNvSpPr txBox="1"/>
          <p:nvPr/>
        </p:nvSpPr>
        <p:spPr>
          <a:xfrm>
            <a:off x="1177025" y="1150793"/>
            <a:ext cx="647004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OpenJDK project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i="1">
                <a:latin typeface="Fira Sans Condensed SemiBold" panose="020B0603050000020004" pitchFamily="34" charset="0"/>
              </a:rPr>
              <a:t>Language (Amber, Babylon)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i="1">
                <a:latin typeface="Fira Sans Condensed SemiBold" panose="020B0603050000020004" pitchFamily="34" charset="0"/>
              </a:rPr>
              <a:t>Platform (Loom</a:t>
            </a:r>
            <a:r>
              <a:rPr lang="en-US" sz="2000" i="1" dirty="0">
                <a:latin typeface="Fira Sans Condensed SemiBold" panose="020B0603050000020004" pitchFamily="34" charset="0"/>
              </a:rPr>
              <a:t>, Panama, Leyden</a:t>
            </a:r>
            <a:r>
              <a:rPr lang="en-US" sz="2000" i="1">
                <a:latin typeface="Fira Sans Condensed SemiBold" panose="020B0603050000020004" pitchFamily="34" charset="0"/>
              </a:rPr>
              <a:t>, Lilliput, </a:t>
            </a:r>
            <a:r>
              <a:rPr lang="en-US" sz="2000" i="1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Valhalla</a:t>
            </a:r>
            <a:r>
              <a:rPr lang="en-US" sz="2000" i="1">
                <a:latin typeface="Fira Sans Condensed SemiBold" panose="020B0603050000020004" pitchFamily="34" charset="0"/>
              </a:rPr>
              <a:t>)</a:t>
            </a:r>
            <a:endParaRPr lang="en-US" sz="2400" i="1" dirty="0">
              <a:latin typeface="Fira Sans Condensed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Started in 2014 </a:t>
            </a:r>
            <a:r>
              <a:rPr lang="en-US" sz="2000" i="1" dirty="0">
                <a:latin typeface="Fira Sans Condensed SemiBold" panose="020B0603050000020004" pitchFamily="34" charset="0"/>
              </a:rPr>
              <a:t>(!!)</a:t>
            </a:r>
            <a:r>
              <a:rPr lang="en-US" sz="2400" dirty="0">
                <a:latin typeface="Fira Sans Condensed SemiBold" panose="020B0603050000020004" pitchFamily="34" charset="0"/>
              </a:rPr>
              <a:t> by Brian Goetz &amp; John Rose</a:t>
            </a:r>
            <a:endParaRPr lang="fr-FR" sz="2400" dirty="0">
              <a:latin typeface="Fira Sans Condensed SemiBold" panose="020B0603050000020004" pitchFamily="34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E5942B9-43BC-3A99-B6FE-35E4D0FB2485}"/>
              </a:ext>
            </a:extLst>
          </p:cNvPr>
          <p:cNvGrpSpPr/>
          <p:nvPr/>
        </p:nvGrpSpPr>
        <p:grpSpPr>
          <a:xfrm>
            <a:off x="3743272" y="2684340"/>
            <a:ext cx="4705455" cy="951095"/>
            <a:chOff x="4061949" y="3105834"/>
            <a:chExt cx="4705455" cy="951095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BBE49E5-D564-7D6A-82A2-DB2146E37CBE}"/>
                </a:ext>
              </a:extLst>
            </p:cNvPr>
            <p:cNvSpPr txBox="1"/>
            <p:nvPr/>
          </p:nvSpPr>
          <p:spPr>
            <a:xfrm>
              <a:off x="4061949" y="3105834"/>
              <a:ext cx="406810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i="1">
                  <a:solidFill>
                    <a:schemeClr val="tx1">
                      <a:lumMod val="50000"/>
                      <a:lumOff val="50000"/>
                    </a:schemeClr>
                  </a:solidFill>
                  <a:latin typeface="Fira Sans Condensed" panose="020B0503050000020004" pitchFamily="34" charset="0"/>
                </a:rPr>
                <a:t>“Java’s epic refactor”</a:t>
              </a:r>
              <a:endParaRPr lang="fr-FR" sz="3600" i="1">
                <a:solidFill>
                  <a:schemeClr val="tx1">
                    <a:lumMod val="50000"/>
                    <a:lumOff val="50000"/>
                  </a:schemeClr>
                </a:solidFill>
                <a:latin typeface="Fira Sans Condensed" panose="020B0503050000020004" pitchFamily="34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F441272-D2B8-8D10-5DA3-89B6008C9E7E}"/>
                </a:ext>
              </a:extLst>
            </p:cNvPr>
            <p:cNvSpPr txBox="1"/>
            <p:nvPr/>
          </p:nvSpPr>
          <p:spPr>
            <a:xfrm>
              <a:off x="7492696" y="3687597"/>
              <a:ext cx="12747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>
                  <a:solidFill>
                    <a:schemeClr val="tx1">
                      <a:lumMod val="50000"/>
                      <a:lumOff val="50000"/>
                    </a:schemeClr>
                  </a:solidFill>
                  <a:latin typeface="Fira Sans Condensed" panose="020B0503050000020004" pitchFamily="34" charset="0"/>
                </a:rPr>
                <a:t>Brian Goetz</a:t>
              </a:r>
              <a:endParaRPr lang="fr-FR" i="1">
                <a:solidFill>
                  <a:schemeClr val="tx1">
                    <a:lumMod val="50000"/>
                    <a:lumOff val="50000"/>
                  </a:schemeClr>
                </a:solidFill>
                <a:latin typeface="Fira Sans Condensed" panose="020B0503050000020004" pitchFamily="34" charset="0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5E3F5899-C8B4-01A2-AB5C-21166C1D118C}"/>
              </a:ext>
            </a:extLst>
          </p:cNvPr>
          <p:cNvSpPr txBox="1"/>
          <p:nvPr/>
        </p:nvSpPr>
        <p:spPr>
          <a:xfrm>
            <a:off x="2500304" y="4275572"/>
            <a:ext cx="71913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Fira Sans Condensed" panose="020B0503050000020004" pitchFamily="34" charset="0"/>
              </a:rPr>
              <a:t>“Codes like a class, works like an int”</a:t>
            </a:r>
            <a:endParaRPr lang="fr-FR" sz="3600" i="1" dirty="0">
              <a:solidFill>
                <a:schemeClr val="tx1">
                  <a:lumMod val="50000"/>
                  <a:lumOff val="50000"/>
                </a:schemeClr>
              </a:solidFill>
              <a:latin typeface="Fira Sans Condensed" panose="020B05030500000200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ED55E4D-2105-D8BD-2D01-9750B328C1A0}"/>
              </a:ext>
            </a:extLst>
          </p:cNvPr>
          <p:cNvSpPr txBox="1"/>
          <p:nvPr/>
        </p:nvSpPr>
        <p:spPr>
          <a:xfrm>
            <a:off x="1177025" y="3629943"/>
            <a:ext cx="60971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Zero-cost abstraction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A4F182-E396-1186-0E3A-10EE483E1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473996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3" grpId="0"/>
      <p:bldP spid="1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3D16D2B-FB67-AE6A-DC83-2F1D6AC1182F}"/>
              </a:ext>
            </a:extLst>
          </p:cNvPr>
          <p:cNvSpPr txBox="1"/>
          <p:nvPr/>
        </p:nvSpPr>
        <p:spPr>
          <a:xfrm>
            <a:off x="3897325" y="490008"/>
            <a:ext cx="43973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Zero-Cost Abstraction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17" name="Rectangle 6">
            <a:extLst>
              <a:ext uri="{FF2B5EF4-FFF2-40B4-BE49-F238E27FC236}">
                <a16:creationId xmlns:a16="http://schemas.microsoft.com/office/drawing/2014/main" id="{FA427B4F-9484-9FAB-1753-CB18606AD1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0705" y="3060165"/>
            <a:ext cx="10642861" cy="2585323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public class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Mass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private double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mass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public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Consolas" panose="020B0609020204030204" pitchFamily="49" charset="0"/>
              </a:rPr>
              <a:t>Mass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mass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if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mass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&lt;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fr-FR" altLang="fr-FR" dirty="0">
                <a:solidFill>
                  <a:srgbClr val="080808"/>
                </a:solidFill>
                <a:latin typeface="Consolas" panose="020B0609020204030204" pitchFamily="49" charset="0"/>
              </a:rPr>
              <a:t>       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throw new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IllegalArgumentException(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Consolas" panose="020B0609020204030204" pitchFamily="49" charset="0"/>
              </a:rPr>
              <a:t>"Mass must be strictly positive"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fr-FR" altLang="fr-FR" dirty="0">
                <a:solidFill>
                  <a:srgbClr val="080808"/>
                </a:solidFill>
                <a:latin typeface="Consolas" panose="020B0609020204030204" pitchFamily="49" charset="0"/>
              </a:rPr>
              <a:t>        }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mass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mass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}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}</a:t>
            </a:r>
            <a:endParaRPr kumimoji="0" lang="fr-FR" altLang="fr-FR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2A347B18-5F0A-0366-C737-F11EABDB262A}"/>
              </a:ext>
            </a:extLst>
          </p:cNvPr>
          <p:cNvSpPr txBox="1"/>
          <p:nvPr/>
        </p:nvSpPr>
        <p:spPr>
          <a:xfrm>
            <a:off x="2063292" y="1948999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We should not choose between abstraction and performance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22042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4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3D16D2B-FB67-AE6A-DC83-2F1D6AC1182F}"/>
              </a:ext>
            </a:extLst>
          </p:cNvPr>
          <p:cNvSpPr txBox="1"/>
          <p:nvPr/>
        </p:nvSpPr>
        <p:spPr>
          <a:xfrm>
            <a:off x="3694553" y="490008"/>
            <a:ext cx="48029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Memory Representation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D4E7A50-3EBD-D19C-B26E-3AFF11C7E5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7123" y="1348300"/>
            <a:ext cx="6597754" cy="40011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record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Vec3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{}</a:t>
            </a:r>
            <a:endParaRPr kumimoji="0" lang="fr-FR" altLang="fr-FR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5" name="Groupe 4">
            <a:extLst>
              <a:ext uri="{FF2B5EF4-FFF2-40B4-BE49-F238E27FC236}">
                <a16:creationId xmlns:a16="http://schemas.microsoft.com/office/drawing/2014/main" id="{947DC2F4-6D6F-C5A7-C2A6-88D377502A89}"/>
              </a:ext>
            </a:extLst>
          </p:cNvPr>
          <p:cNvGrpSpPr/>
          <p:nvPr/>
        </p:nvGrpSpPr>
        <p:grpSpPr>
          <a:xfrm>
            <a:off x="2105740" y="3432635"/>
            <a:ext cx="1502768" cy="1712844"/>
            <a:chOff x="1331843" y="1855304"/>
            <a:chExt cx="1345096" cy="171284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A46C85C-28F4-F161-6870-5E49A00DE8DE}"/>
                </a:ext>
              </a:extLst>
            </p:cNvPr>
            <p:cNvSpPr/>
            <p:nvPr/>
          </p:nvSpPr>
          <p:spPr>
            <a:xfrm>
              <a:off x="1331843" y="1855304"/>
              <a:ext cx="1345096" cy="52346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Header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5890BBB-97ED-2DFA-C251-23DBD92BDD66}"/>
                </a:ext>
              </a:extLst>
            </p:cNvPr>
            <p:cNvSpPr/>
            <p:nvPr/>
          </p:nvSpPr>
          <p:spPr>
            <a:xfrm>
              <a:off x="1331843" y="2378765"/>
              <a:ext cx="1345096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Vec3@0x...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B3D981B-0328-EAAD-9218-A9D380F85B84}"/>
                </a:ext>
              </a:extLst>
            </p:cNvPr>
            <p:cNvSpPr/>
            <p:nvPr/>
          </p:nvSpPr>
          <p:spPr>
            <a:xfrm>
              <a:off x="1331843" y="2729948"/>
              <a:ext cx="1345096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Vec3@0X...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6B40FA9-48B0-E782-260E-6E28A04329E0}"/>
                </a:ext>
              </a:extLst>
            </p:cNvPr>
            <p:cNvSpPr/>
            <p:nvPr/>
          </p:nvSpPr>
          <p:spPr>
            <a:xfrm>
              <a:off x="1331843" y="3077817"/>
              <a:ext cx="1345096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Vec3@0X...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E182F9A-3332-A49D-A187-CB03188C62AC}"/>
                </a:ext>
              </a:extLst>
            </p:cNvPr>
            <p:cNvSpPr/>
            <p:nvPr/>
          </p:nvSpPr>
          <p:spPr>
            <a:xfrm>
              <a:off x="1331843" y="3429000"/>
              <a:ext cx="1345096" cy="13914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atin typeface="Consolas" panose="020B0609020204030204" pitchFamily="49" charset="0"/>
              </a:endParaRPr>
            </a:p>
          </p:txBody>
        </p:sp>
      </p:grpSp>
      <p:sp>
        <p:nvSpPr>
          <p:cNvPr id="13" name="TextBox 5">
            <a:extLst>
              <a:ext uri="{FF2B5EF4-FFF2-40B4-BE49-F238E27FC236}">
                <a16:creationId xmlns:a16="http://schemas.microsoft.com/office/drawing/2014/main" id="{BDC8590E-D28E-D210-2F6A-9AA39E5D52E1}"/>
              </a:ext>
            </a:extLst>
          </p:cNvPr>
          <p:cNvSpPr txBox="1"/>
          <p:nvPr/>
        </p:nvSpPr>
        <p:spPr>
          <a:xfrm>
            <a:off x="2255035" y="2970970"/>
            <a:ext cx="12041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</a:rPr>
              <a:t>Vec3[]</a:t>
            </a:r>
            <a:endParaRPr lang="fr-FR" sz="2400" dirty="0">
              <a:latin typeface="Consolas" panose="020B0609020204030204" pitchFamily="49" charset="0"/>
            </a:endParaRPr>
          </a:p>
        </p:txBody>
      </p:sp>
      <p:grpSp>
        <p:nvGrpSpPr>
          <p:cNvPr id="21" name="Groupe 20">
            <a:extLst>
              <a:ext uri="{FF2B5EF4-FFF2-40B4-BE49-F238E27FC236}">
                <a16:creationId xmlns:a16="http://schemas.microsoft.com/office/drawing/2014/main" id="{5634622F-D329-2616-CD19-6F0D1831039D}"/>
              </a:ext>
            </a:extLst>
          </p:cNvPr>
          <p:cNvGrpSpPr/>
          <p:nvPr/>
        </p:nvGrpSpPr>
        <p:grpSpPr>
          <a:xfrm>
            <a:off x="4933101" y="2515867"/>
            <a:ext cx="1502768" cy="1712844"/>
            <a:chOff x="5651789" y="3218775"/>
            <a:chExt cx="1502768" cy="171284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5C74D8B-C1B7-11AF-0C0D-CDE91B8E042C}"/>
                </a:ext>
              </a:extLst>
            </p:cNvPr>
            <p:cNvSpPr/>
            <p:nvPr/>
          </p:nvSpPr>
          <p:spPr>
            <a:xfrm>
              <a:off x="5651789" y="3218775"/>
              <a:ext cx="1502768" cy="52346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Header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636E193-4559-2674-BDD6-B7CDB214E663}"/>
                </a:ext>
              </a:extLst>
            </p:cNvPr>
            <p:cNvSpPr/>
            <p:nvPr/>
          </p:nvSpPr>
          <p:spPr>
            <a:xfrm>
              <a:off x="5651789" y="3742236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x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8B0B459-ED61-E9CD-821A-5B0850EB6E1B}"/>
                </a:ext>
              </a:extLst>
            </p:cNvPr>
            <p:cNvSpPr/>
            <p:nvPr/>
          </p:nvSpPr>
          <p:spPr>
            <a:xfrm>
              <a:off x="5651789" y="4093419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y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281575B-AB4D-25F5-E488-F0EBFB9BCB09}"/>
                </a:ext>
              </a:extLst>
            </p:cNvPr>
            <p:cNvSpPr/>
            <p:nvPr/>
          </p:nvSpPr>
          <p:spPr>
            <a:xfrm>
              <a:off x="5651789" y="4441288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z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668267C-D77D-2F28-7C74-2AE3A988FA11}"/>
                </a:ext>
              </a:extLst>
            </p:cNvPr>
            <p:cNvSpPr/>
            <p:nvPr/>
          </p:nvSpPr>
          <p:spPr>
            <a:xfrm>
              <a:off x="5651789" y="4792471"/>
              <a:ext cx="1502768" cy="13914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atin typeface="Consolas" panose="020B0609020204030204" pitchFamily="49" charset="0"/>
              </a:endParaRPr>
            </a:p>
          </p:txBody>
        </p:sp>
      </p:grpSp>
      <p:grpSp>
        <p:nvGrpSpPr>
          <p:cNvPr id="22" name="Groupe 21">
            <a:extLst>
              <a:ext uri="{FF2B5EF4-FFF2-40B4-BE49-F238E27FC236}">
                <a16:creationId xmlns:a16="http://schemas.microsoft.com/office/drawing/2014/main" id="{4C73AF41-1283-E4B7-DB65-291AC9AA13E0}"/>
              </a:ext>
            </a:extLst>
          </p:cNvPr>
          <p:cNvGrpSpPr/>
          <p:nvPr/>
        </p:nvGrpSpPr>
        <p:grpSpPr>
          <a:xfrm>
            <a:off x="8679234" y="4655148"/>
            <a:ext cx="1502768" cy="1712844"/>
            <a:chOff x="5651789" y="3218775"/>
            <a:chExt cx="1502768" cy="1712844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1DD4624E-59C8-0DBB-2C89-EC67345FAC91}"/>
                </a:ext>
              </a:extLst>
            </p:cNvPr>
            <p:cNvSpPr/>
            <p:nvPr/>
          </p:nvSpPr>
          <p:spPr>
            <a:xfrm>
              <a:off x="5651789" y="3218775"/>
              <a:ext cx="1502768" cy="52346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Header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E003FC7-C43E-C7E4-31F3-673DA46C5450}"/>
                </a:ext>
              </a:extLst>
            </p:cNvPr>
            <p:cNvSpPr/>
            <p:nvPr/>
          </p:nvSpPr>
          <p:spPr>
            <a:xfrm>
              <a:off x="5651789" y="3742236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x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C7A16ED6-DD79-896B-4F3E-9282992626CB}"/>
                </a:ext>
              </a:extLst>
            </p:cNvPr>
            <p:cNvSpPr/>
            <p:nvPr/>
          </p:nvSpPr>
          <p:spPr>
            <a:xfrm>
              <a:off x="5651789" y="4093419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y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0BFD5BC-CD87-CAAE-22C2-E0A14564CB1A}"/>
                </a:ext>
              </a:extLst>
            </p:cNvPr>
            <p:cNvSpPr/>
            <p:nvPr/>
          </p:nvSpPr>
          <p:spPr>
            <a:xfrm>
              <a:off x="5651789" y="4441288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z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0854D624-4167-FA5E-609F-2D71FFEC6820}"/>
                </a:ext>
              </a:extLst>
            </p:cNvPr>
            <p:cNvSpPr/>
            <p:nvPr/>
          </p:nvSpPr>
          <p:spPr>
            <a:xfrm>
              <a:off x="5651789" y="4792471"/>
              <a:ext cx="1502768" cy="13914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atin typeface="Consolas" panose="020B0609020204030204" pitchFamily="49" charset="0"/>
              </a:endParaRPr>
            </a:p>
          </p:txBody>
        </p:sp>
      </p:grpSp>
      <p:grpSp>
        <p:nvGrpSpPr>
          <p:cNvPr id="28" name="Groupe 27">
            <a:extLst>
              <a:ext uri="{FF2B5EF4-FFF2-40B4-BE49-F238E27FC236}">
                <a16:creationId xmlns:a16="http://schemas.microsoft.com/office/drawing/2014/main" id="{937E39F3-655A-7EDD-D721-798AA66F1CA4}"/>
              </a:ext>
            </a:extLst>
          </p:cNvPr>
          <p:cNvGrpSpPr/>
          <p:nvPr/>
        </p:nvGrpSpPr>
        <p:grpSpPr>
          <a:xfrm>
            <a:off x="6806168" y="3402481"/>
            <a:ext cx="1502768" cy="1712844"/>
            <a:chOff x="5651789" y="3218775"/>
            <a:chExt cx="1502768" cy="1712844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1017790-D0BE-6009-5210-EF6954E79DBF}"/>
                </a:ext>
              </a:extLst>
            </p:cNvPr>
            <p:cNvSpPr/>
            <p:nvPr/>
          </p:nvSpPr>
          <p:spPr>
            <a:xfrm>
              <a:off x="5651789" y="3218775"/>
              <a:ext cx="1502768" cy="52346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Header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82245FCA-F0A5-60CD-E6F2-146241782DD0}"/>
                </a:ext>
              </a:extLst>
            </p:cNvPr>
            <p:cNvSpPr/>
            <p:nvPr/>
          </p:nvSpPr>
          <p:spPr>
            <a:xfrm>
              <a:off x="5651789" y="3742236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x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48811AAA-BC38-3C39-7ECB-E1029826F3C6}"/>
                </a:ext>
              </a:extLst>
            </p:cNvPr>
            <p:cNvSpPr/>
            <p:nvPr/>
          </p:nvSpPr>
          <p:spPr>
            <a:xfrm>
              <a:off x="5651789" y="4093419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y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E32BDB9A-C269-2CC9-C822-4A67F52F039A}"/>
                </a:ext>
              </a:extLst>
            </p:cNvPr>
            <p:cNvSpPr/>
            <p:nvPr/>
          </p:nvSpPr>
          <p:spPr>
            <a:xfrm>
              <a:off x="5651789" y="4441288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z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BAF28A0-4025-E76C-B830-35BF10038BCF}"/>
                </a:ext>
              </a:extLst>
            </p:cNvPr>
            <p:cNvSpPr/>
            <p:nvPr/>
          </p:nvSpPr>
          <p:spPr>
            <a:xfrm>
              <a:off x="5651789" y="4792471"/>
              <a:ext cx="1502768" cy="13914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atin typeface="Consolas" panose="020B0609020204030204" pitchFamily="49" charset="0"/>
              </a:endParaRPr>
            </a:p>
          </p:txBody>
        </p:sp>
      </p:grpSp>
      <p:cxnSp>
        <p:nvCxnSpPr>
          <p:cNvPr id="34" name="Connecteur droit avec flèche 33">
            <a:extLst>
              <a:ext uri="{FF2B5EF4-FFF2-40B4-BE49-F238E27FC236}">
                <a16:creationId xmlns:a16="http://schemas.microsoft.com/office/drawing/2014/main" id="{C24E9A57-0E32-B272-C539-ADC350356583}"/>
              </a:ext>
            </a:extLst>
          </p:cNvPr>
          <p:cNvCxnSpPr>
            <a:cxnSpLocks/>
            <a:stCxn id="7" idx="3"/>
            <a:endCxn id="16" idx="1"/>
          </p:cNvCxnSpPr>
          <p:nvPr/>
        </p:nvCxnSpPr>
        <p:spPr>
          <a:xfrm flipV="1">
            <a:off x="3608508" y="3566103"/>
            <a:ext cx="1324593" cy="5655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eur droit avec flèche 36">
            <a:extLst>
              <a:ext uri="{FF2B5EF4-FFF2-40B4-BE49-F238E27FC236}">
                <a16:creationId xmlns:a16="http://schemas.microsoft.com/office/drawing/2014/main" id="{108A27FC-9BED-5742-F0A8-E098DF0BC58F}"/>
              </a:ext>
            </a:extLst>
          </p:cNvPr>
          <p:cNvCxnSpPr>
            <a:cxnSpLocks/>
            <a:stCxn id="8" idx="3"/>
            <a:endCxn id="31" idx="1"/>
          </p:cNvCxnSpPr>
          <p:nvPr/>
        </p:nvCxnSpPr>
        <p:spPr>
          <a:xfrm flipV="1">
            <a:off x="3608508" y="4452717"/>
            <a:ext cx="3197660" cy="301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 droit avec flèche 41">
            <a:extLst>
              <a:ext uri="{FF2B5EF4-FFF2-40B4-BE49-F238E27FC236}">
                <a16:creationId xmlns:a16="http://schemas.microsoft.com/office/drawing/2014/main" id="{51348514-5A8F-055C-413C-466FD6A8CEF7}"/>
              </a:ext>
            </a:extLst>
          </p:cNvPr>
          <p:cNvCxnSpPr>
            <a:cxnSpLocks/>
            <a:stCxn id="9" idx="3"/>
            <a:endCxn id="25" idx="1"/>
          </p:cNvCxnSpPr>
          <p:nvPr/>
        </p:nvCxnSpPr>
        <p:spPr>
          <a:xfrm>
            <a:off x="3608508" y="4830740"/>
            <a:ext cx="5070726" cy="8746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5">
            <a:extLst>
              <a:ext uri="{FF2B5EF4-FFF2-40B4-BE49-F238E27FC236}">
                <a16:creationId xmlns:a16="http://schemas.microsoft.com/office/drawing/2014/main" id="{0B0C54CB-FA29-9ECD-AC4B-C1F763E7A449}"/>
              </a:ext>
            </a:extLst>
          </p:cNvPr>
          <p:cNvSpPr txBox="1"/>
          <p:nvPr/>
        </p:nvSpPr>
        <p:spPr>
          <a:xfrm>
            <a:off x="5252315" y="2067720"/>
            <a:ext cx="8643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</a:rPr>
              <a:t>Vec3</a:t>
            </a:r>
            <a:endParaRPr lang="fr-FR" sz="2400" dirty="0">
              <a:latin typeface="Consolas" panose="020B0609020204030204" pitchFamily="49" charset="0"/>
            </a:endParaRPr>
          </a:p>
        </p:txBody>
      </p:sp>
      <p:sp>
        <p:nvSpPr>
          <p:cNvPr id="46" name="TextBox 5">
            <a:extLst>
              <a:ext uri="{FF2B5EF4-FFF2-40B4-BE49-F238E27FC236}">
                <a16:creationId xmlns:a16="http://schemas.microsoft.com/office/drawing/2014/main" id="{F2E19E0A-235B-EE77-691E-CBF14EE94CBE}"/>
              </a:ext>
            </a:extLst>
          </p:cNvPr>
          <p:cNvSpPr txBox="1"/>
          <p:nvPr/>
        </p:nvSpPr>
        <p:spPr>
          <a:xfrm>
            <a:off x="7125382" y="2924467"/>
            <a:ext cx="8643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</a:rPr>
              <a:t>Vec3</a:t>
            </a:r>
            <a:endParaRPr lang="fr-FR" sz="2400" dirty="0">
              <a:latin typeface="Consolas" panose="020B0609020204030204" pitchFamily="49" charset="0"/>
            </a:endParaRPr>
          </a:p>
        </p:txBody>
      </p:sp>
      <p:sp>
        <p:nvSpPr>
          <p:cNvPr id="47" name="TextBox 5">
            <a:extLst>
              <a:ext uri="{FF2B5EF4-FFF2-40B4-BE49-F238E27FC236}">
                <a16:creationId xmlns:a16="http://schemas.microsoft.com/office/drawing/2014/main" id="{A35D5464-083D-57B9-0F73-C9DC333E3FC8}"/>
              </a:ext>
            </a:extLst>
          </p:cNvPr>
          <p:cNvSpPr txBox="1"/>
          <p:nvPr/>
        </p:nvSpPr>
        <p:spPr>
          <a:xfrm>
            <a:off x="8998448" y="4190481"/>
            <a:ext cx="8643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</a:rPr>
              <a:t>Vec3</a:t>
            </a:r>
            <a:endParaRPr lang="fr-FR" sz="2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79709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5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3D16D2B-FB67-AE6A-DC83-2F1D6AC1182F}"/>
              </a:ext>
            </a:extLst>
          </p:cNvPr>
          <p:cNvSpPr txBox="1"/>
          <p:nvPr/>
        </p:nvSpPr>
        <p:spPr>
          <a:xfrm>
            <a:off x="3285788" y="490008"/>
            <a:ext cx="56204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Flat Memory Representation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BDC8590E-D28E-D210-2F6A-9AA39E5D52E1}"/>
              </a:ext>
            </a:extLst>
          </p:cNvPr>
          <p:cNvSpPr txBox="1"/>
          <p:nvPr/>
        </p:nvSpPr>
        <p:spPr>
          <a:xfrm>
            <a:off x="5493912" y="1698350"/>
            <a:ext cx="12041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</a:rPr>
              <a:t>Vec3[]</a:t>
            </a:r>
            <a:endParaRPr lang="fr-FR" sz="2400" dirty="0">
              <a:latin typeface="Consolas" panose="020B0609020204030204" pitchFamily="49" charset="0"/>
            </a:endParaRPr>
          </a:p>
        </p:txBody>
      </p:sp>
      <p:grpSp>
        <p:nvGrpSpPr>
          <p:cNvPr id="38" name="Groupe 37">
            <a:extLst>
              <a:ext uri="{FF2B5EF4-FFF2-40B4-BE49-F238E27FC236}">
                <a16:creationId xmlns:a16="http://schemas.microsoft.com/office/drawing/2014/main" id="{9C283B99-FD59-0EBE-80C8-ABE3431E1422}"/>
              </a:ext>
            </a:extLst>
          </p:cNvPr>
          <p:cNvGrpSpPr/>
          <p:nvPr/>
        </p:nvGrpSpPr>
        <p:grpSpPr>
          <a:xfrm>
            <a:off x="5344616" y="2160015"/>
            <a:ext cx="1502768" cy="3810260"/>
            <a:chOff x="5344616" y="2160015"/>
            <a:chExt cx="1502768" cy="3810260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947DC2F4-6D6F-C5A7-C2A6-88D377502A89}"/>
                </a:ext>
              </a:extLst>
            </p:cNvPr>
            <p:cNvGrpSpPr/>
            <p:nvPr/>
          </p:nvGrpSpPr>
          <p:grpSpPr>
            <a:xfrm>
              <a:off x="5344616" y="2160015"/>
              <a:ext cx="1502768" cy="3810260"/>
              <a:chOff x="1331843" y="1855304"/>
              <a:chExt cx="1345096" cy="381026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7A46C85C-28F4-F161-6870-5E49A00DE8DE}"/>
                  </a:ext>
                </a:extLst>
              </p:cNvPr>
              <p:cNvSpPr/>
              <p:nvPr/>
            </p:nvSpPr>
            <p:spPr>
              <a:xfrm>
                <a:off x="1331843" y="1855304"/>
                <a:ext cx="1345096" cy="523461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Header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A5890BBB-97ED-2DFA-C251-23DBD92BDD66}"/>
                  </a:ext>
                </a:extLst>
              </p:cNvPr>
              <p:cNvSpPr/>
              <p:nvPr/>
            </p:nvSpPr>
            <p:spPr>
              <a:xfrm>
                <a:off x="1331843" y="2378765"/>
                <a:ext cx="1345096" cy="35118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x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EB3D981B-0328-EAAD-9218-A9D380F85B84}"/>
                  </a:ext>
                </a:extLst>
              </p:cNvPr>
              <p:cNvSpPr/>
              <p:nvPr/>
            </p:nvSpPr>
            <p:spPr>
              <a:xfrm>
                <a:off x="1331843" y="2729948"/>
                <a:ext cx="1345096" cy="35118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y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96B40FA9-48B0-E782-260E-6E28A04329E0}"/>
                  </a:ext>
                </a:extLst>
              </p:cNvPr>
              <p:cNvSpPr/>
              <p:nvPr/>
            </p:nvSpPr>
            <p:spPr>
              <a:xfrm>
                <a:off x="1331843" y="3077817"/>
                <a:ext cx="1345096" cy="35118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z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E182F9A-3332-A49D-A187-CB03188C62AC}"/>
                  </a:ext>
                </a:extLst>
              </p:cNvPr>
              <p:cNvSpPr/>
              <p:nvPr/>
            </p:nvSpPr>
            <p:spPr>
              <a:xfrm>
                <a:off x="1331843" y="5526416"/>
                <a:ext cx="1345096" cy="139148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7F86F62-D840-B76D-B0C2-C2646DB9CDB3}"/>
                </a:ext>
              </a:extLst>
            </p:cNvPr>
            <p:cNvSpPr/>
            <p:nvPr/>
          </p:nvSpPr>
          <p:spPr>
            <a:xfrm>
              <a:off x="5344616" y="3730657"/>
              <a:ext cx="1502768" cy="351183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x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9569941-7A19-BD99-CEAA-97C7AAB8A579}"/>
                </a:ext>
              </a:extLst>
            </p:cNvPr>
            <p:cNvSpPr/>
            <p:nvPr/>
          </p:nvSpPr>
          <p:spPr>
            <a:xfrm>
              <a:off x="5344616" y="4081840"/>
              <a:ext cx="1502768" cy="351183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y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1915CA3-AD86-D5CC-8E16-E613BED99D1F}"/>
                </a:ext>
              </a:extLst>
            </p:cNvPr>
            <p:cNvSpPr/>
            <p:nvPr/>
          </p:nvSpPr>
          <p:spPr>
            <a:xfrm>
              <a:off x="5344616" y="4429709"/>
              <a:ext cx="1502768" cy="351183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z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A5B5A1C-D3FC-D6B1-6391-831FD1197CB2}"/>
                </a:ext>
              </a:extLst>
            </p:cNvPr>
            <p:cNvSpPr/>
            <p:nvPr/>
          </p:nvSpPr>
          <p:spPr>
            <a:xfrm>
              <a:off x="5344616" y="4780892"/>
              <a:ext cx="1502768" cy="351183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x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D97FD7BC-473C-C5D2-EC74-BEEFA9EE79B7}"/>
                </a:ext>
              </a:extLst>
            </p:cNvPr>
            <p:cNvSpPr/>
            <p:nvPr/>
          </p:nvSpPr>
          <p:spPr>
            <a:xfrm>
              <a:off x="5344616" y="5132075"/>
              <a:ext cx="1502768" cy="351183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y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17C45D16-8DCE-6481-D4CD-ABC6F9E66620}"/>
                </a:ext>
              </a:extLst>
            </p:cNvPr>
            <p:cNvSpPr/>
            <p:nvPr/>
          </p:nvSpPr>
          <p:spPr>
            <a:xfrm>
              <a:off x="5344616" y="5479944"/>
              <a:ext cx="1502768" cy="351183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z</a:t>
              </a:r>
              <a:endParaRPr lang="fr-FR" dirty="0"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550859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6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3D16D2B-FB67-AE6A-DC83-2F1D6AC1182F}"/>
              </a:ext>
            </a:extLst>
          </p:cNvPr>
          <p:cNvSpPr txBox="1"/>
          <p:nvPr/>
        </p:nvSpPr>
        <p:spPr>
          <a:xfrm>
            <a:off x="4004722" y="490008"/>
            <a:ext cx="41825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Primitives vs Objects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29366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0900F922-237B-F17B-B1FD-EEBECA41B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7</a:t>
            </a:fld>
            <a:endParaRPr lang="fr-FR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2B9D201-FEF5-2ADB-A82A-64AB7B285D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0837" y="1348406"/>
            <a:ext cx="6630325" cy="4048690"/>
          </a:xfrm>
          <a:prstGeom prst="rect">
            <a:avLst/>
          </a:prstGeom>
        </p:spPr>
      </p:pic>
      <p:sp>
        <p:nvSpPr>
          <p:cNvPr id="6" name="TextBox 9">
            <a:extLst>
              <a:ext uri="{FF2B5EF4-FFF2-40B4-BE49-F238E27FC236}">
                <a16:creationId xmlns:a16="http://schemas.microsoft.com/office/drawing/2014/main" id="{D041EF67-AA86-24A3-4DEF-77F7AC204E46}"/>
              </a:ext>
            </a:extLst>
          </p:cNvPr>
          <p:cNvSpPr txBox="1"/>
          <p:nvPr/>
        </p:nvSpPr>
        <p:spPr>
          <a:xfrm>
            <a:off x="2063292" y="423187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JEP 401 introduces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Objects </a:t>
            </a:r>
            <a:r>
              <a:rPr lang="en-US" sz="2400" dirty="0">
                <a:latin typeface="Fira Sans Condensed SemiBold" panose="020B0603050000020004" pitchFamily="34" charset="0"/>
              </a:rPr>
              <a:t>in the language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3" name="TextBox 9">
            <a:extLst>
              <a:ext uri="{FF2B5EF4-FFF2-40B4-BE49-F238E27FC236}">
                <a16:creationId xmlns:a16="http://schemas.microsoft.com/office/drawing/2014/main" id="{D75CE977-5BB5-8DE9-0DCE-1DF232FB602E}"/>
              </a:ext>
            </a:extLst>
          </p:cNvPr>
          <p:cNvSpPr txBox="1"/>
          <p:nvPr/>
        </p:nvSpPr>
        <p:spPr>
          <a:xfrm>
            <a:off x="2063292" y="5860650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Available as a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preview</a:t>
            </a:r>
            <a:r>
              <a:rPr lang="en-US" sz="2400" dirty="0">
                <a:latin typeface="Fira Sans Condensed SemiBold" panose="020B0603050000020004" pitchFamily="34" charset="0"/>
              </a:rPr>
              <a:t> feature in JDK 28 early access build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53354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F612E88A-27B7-DF3D-DE72-EA6CB5DE3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8</a:t>
            </a:fld>
            <a:endParaRPr lang="fr-FR"/>
          </a:p>
        </p:txBody>
      </p:sp>
      <p:pic>
        <p:nvPicPr>
          <p:cNvPr id="5122" name="Picture 2" descr="JEP 401 Pull Request">
            <a:extLst>
              <a:ext uri="{FF2B5EF4-FFF2-40B4-BE49-F238E27FC236}">
                <a16:creationId xmlns:a16="http://schemas.microsoft.com/office/drawing/2014/main" id="{D731EAAE-B7C6-0A0D-BA3A-1F913A473E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3513" y="0"/>
            <a:ext cx="1186497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07388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8781B10-4E89-76EC-3D69-8F1D5C739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9</a:t>
            </a:fld>
            <a:endParaRPr lang="fr-FR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959C93DF-618F-2DFA-8969-3EA70E92DB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63" b="2663"/>
          <a:stretch/>
        </p:blipFill>
        <p:spPr>
          <a:xfrm>
            <a:off x="4948188" y="1"/>
            <a:ext cx="7243812" cy="6857999"/>
          </a:xfrm>
          <a:custGeom>
            <a:avLst/>
            <a:gdLst/>
            <a:ahLst/>
            <a:cxnLst/>
            <a:rect l="l" t="t" r="r" b="b"/>
            <a:pathLst>
              <a:path w="7243812" h="6857999">
                <a:moveTo>
                  <a:pt x="609803" y="0"/>
                </a:moveTo>
                <a:lnTo>
                  <a:pt x="1222601" y="0"/>
                </a:lnTo>
                <a:lnTo>
                  <a:pt x="1223032" y="1645"/>
                </a:lnTo>
                <a:lnTo>
                  <a:pt x="1343371" y="1645"/>
                </a:lnTo>
                <a:lnTo>
                  <a:pt x="1343665" y="0"/>
                </a:lnTo>
                <a:lnTo>
                  <a:pt x="1884172" y="0"/>
                </a:lnTo>
                <a:lnTo>
                  <a:pt x="1884280" y="1645"/>
                </a:lnTo>
                <a:lnTo>
                  <a:pt x="7243812" y="1645"/>
                </a:lnTo>
                <a:lnTo>
                  <a:pt x="7243812" y="6857999"/>
                </a:lnTo>
                <a:lnTo>
                  <a:pt x="133676" y="6857999"/>
                </a:lnTo>
                <a:lnTo>
                  <a:pt x="114609" y="6843646"/>
                </a:lnTo>
                <a:cubicBezTo>
                  <a:pt x="106811" y="6836369"/>
                  <a:pt x="103243" y="6828354"/>
                  <a:pt x="111459" y="6817746"/>
                </a:cubicBezTo>
                <a:cubicBezTo>
                  <a:pt x="93943" y="6769544"/>
                  <a:pt x="97901" y="6796071"/>
                  <a:pt x="113412" y="6759582"/>
                </a:cubicBezTo>
                <a:cubicBezTo>
                  <a:pt x="110188" y="6732087"/>
                  <a:pt x="99653" y="6727133"/>
                  <a:pt x="100729" y="6705297"/>
                </a:cubicBezTo>
                <a:cubicBezTo>
                  <a:pt x="94563" y="6675394"/>
                  <a:pt x="99792" y="6669536"/>
                  <a:pt x="87662" y="6640957"/>
                </a:cubicBezTo>
                <a:cubicBezTo>
                  <a:pt x="74199" y="6591883"/>
                  <a:pt x="82185" y="6576319"/>
                  <a:pt x="83084" y="6541313"/>
                </a:cubicBezTo>
                <a:cubicBezTo>
                  <a:pt x="82225" y="6490855"/>
                  <a:pt x="67640" y="6422980"/>
                  <a:pt x="59444" y="6370251"/>
                </a:cubicBezTo>
                <a:cubicBezTo>
                  <a:pt x="51248" y="6317522"/>
                  <a:pt x="30729" y="6270972"/>
                  <a:pt x="33908" y="6224938"/>
                </a:cubicBezTo>
                <a:lnTo>
                  <a:pt x="30063" y="6089693"/>
                </a:lnTo>
                <a:cubicBezTo>
                  <a:pt x="25730" y="6032039"/>
                  <a:pt x="3474" y="5997051"/>
                  <a:pt x="29101" y="5973994"/>
                </a:cubicBezTo>
                <a:cubicBezTo>
                  <a:pt x="17018" y="5940131"/>
                  <a:pt x="41135" y="5955713"/>
                  <a:pt x="33855" y="5939847"/>
                </a:cubicBezTo>
                <a:lnTo>
                  <a:pt x="12982" y="5906467"/>
                </a:lnTo>
                <a:lnTo>
                  <a:pt x="8416" y="5862699"/>
                </a:lnTo>
                <a:cubicBezTo>
                  <a:pt x="7895" y="5838948"/>
                  <a:pt x="8409" y="5853058"/>
                  <a:pt x="12052" y="5823324"/>
                </a:cubicBezTo>
                <a:cubicBezTo>
                  <a:pt x="11631" y="5805291"/>
                  <a:pt x="11213" y="5787258"/>
                  <a:pt x="10793" y="5769225"/>
                </a:cubicBezTo>
                <a:cubicBezTo>
                  <a:pt x="17866" y="5738356"/>
                  <a:pt x="19121" y="5696311"/>
                  <a:pt x="25986" y="5667896"/>
                </a:cubicBezTo>
                <a:cubicBezTo>
                  <a:pt x="16329" y="5647975"/>
                  <a:pt x="42195" y="5619318"/>
                  <a:pt x="43687" y="5594585"/>
                </a:cubicBezTo>
                <a:cubicBezTo>
                  <a:pt x="32512" y="5517959"/>
                  <a:pt x="44052" y="5536542"/>
                  <a:pt x="40019" y="5464225"/>
                </a:cubicBezTo>
                <a:cubicBezTo>
                  <a:pt x="32676" y="5400671"/>
                  <a:pt x="26469" y="5311951"/>
                  <a:pt x="22904" y="5269726"/>
                </a:cubicBezTo>
                <a:cubicBezTo>
                  <a:pt x="19341" y="5227501"/>
                  <a:pt x="14742" y="5212581"/>
                  <a:pt x="18628" y="5210876"/>
                </a:cubicBezTo>
                <a:cubicBezTo>
                  <a:pt x="-20300" y="5161742"/>
                  <a:pt x="15511" y="5141336"/>
                  <a:pt x="5392" y="5111369"/>
                </a:cubicBezTo>
                <a:cubicBezTo>
                  <a:pt x="10662" y="5053859"/>
                  <a:pt x="15546" y="5034036"/>
                  <a:pt x="13324" y="5009272"/>
                </a:cubicBezTo>
                <a:cubicBezTo>
                  <a:pt x="25126" y="4982633"/>
                  <a:pt x="74251" y="4956261"/>
                  <a:pt x="48699" y="4925805"/>
                </a:cubicBezTo>
                <a:cubicBezTo>
                  <a:pt x="76704" y="4931200"/>
                  <a:pt x="39437" y="4888353"/>
                  <a:pt x="62925" y="4877992"/>
                </a:cubicBezTo>
                <a:cubicBezTo>
                  <a:pt x="82480" y="4871554"/>
                  <a:pt x="75731" y="4857054"/>
                  <a:pt x="79496" y="4844323"/>
                </a:cubicBezTo>
                <a:cubicBezTo>
                  <a:pt x="97657" y="4832308"/>
                  <a:pt x="110974" y="4752352"/>
                  <a:pt x="101400" y="4733115"/>
                </a:cubicBezTo>
                <a:cubicBezTo>
                  <a:pt x="108185" y="4679357"/>
                  <a:pt x="119720" y="4662889"/>
                  <a:pt x="111223" y="4625153"/>
                </a:cubicBezTo>
                <a:cubicBezTo>
                  <a:pt x="106592" y="4588197"/>
                  <a:pt x="114401" y="4567830"/>
                  <a:pt x="126359" y="4539168"/>
                </a:cubicBezTo>
                <a:cubicBezTo>
                  <a:pt x="126535" y="4522289"/>
                  <a:pt x="126710" y="4505410"/>
                  <a:pt x="126886" y="4488531"/>
                </a:cubicBezTo>
                <a:cubicBezTo>
                  <a:pt x="126165" y="4473140"/>
                  <a:pt x="132917" y="4437329"/>
                  <a:pt x="135099" y="4411258"/>
                </a:cubicBezTo>
                <a:cubicBezTo>
                  <a:pt x="107667" y="4345686"/>
                  <a:pt x="146840" y="4280033"/>
                  <a:pt x="132327" y="4219510"/>
                </a:cubicBezTo>
                <a:cubicBezTo>
                  <a:pt x="138549" y="4158987"/>
                  <a:pt x="124091" y="4192084"/>
                  <a:pt x="172424" y="4048117"/>
                </a:cubicBezTo>
                <a:cubicBezTo>
                  <a:pt x="167703" y="4015047"/>
                  <a:pt x="203806" y="3905047"/>
                  <a:pt x="177666" y="3878222"/>
                </a:cubicBezTo>
                <a:cubicBezTo>
                  <a:pt x="167714" y="3821305"/>
                  <a:pt x="183914" y="3845122"/>
                  <a:pt x="156982" y="3778166"/>
                </a:cubicBezTo>
                <a:cubicBezTo>
                  <a:pt x="160365" y="3760234"/>
                  <a:pt x="142791" y="3724716"/>
                  <a:pt x="142115" y="3707357"/>
                </a:cubicBezTo>
                <a:cubicBezTo>
                  <a:pt x="139253" y="3688591"/>
                  <a:pt x="140202" y="3672776"/>
                  <a:pt x="139805" y="3665569"/>
                </a:cubicBezTo>
                <a:cubicBezTo>
                  <a:pt x="139778" y="3665084"/>
                  <a:pt x="139750" y="3664599"/>
                  <a:pt x="139723" y="3664114"/>
                </a:cubicBezTo>
                <a:lnTo>
                  <a:pt x="134134" y="3653088"/>
                </a:lnTo>
                <a:lnTo>
                  <a:pt x="126568" y="3641228"/>
                </a:lnTo>
                <a:cubicBezTo>
                  <a:pt x="126560" y="3629488"/>
                  <a:pt x="126549" y="3617747"/>
                  <a:pt x="126540" y="3606007"/>
                </a:cubicBezTo>
                <a:lnTo>
                  <a:pt x="134645" y="3597336"/>
                </a:lnTo>
                <a:lnTo>
                  <a:pt x="131649" y="3586412"/>
                </a:lnTo>
                <a:lnTo>
                  <a:pt x="134221" y="3569719"/>
                </a:lnTo>
                <a:lnTo>
                  <a:pt x="133795" y="3568021"/>
                </a:lnTo>
                <a:lnTo>
                  <a:pt x="130189" y="3553678"/>
                </a:lnTo>
                <a:lnTo>
                  <a:pt x="129827" y="3552249"/>
                </a:lnTo>
                <a:lnTo>
                  <a:pt x="122183" y="3542019"/>
                </a:lnTo>
                <a:lnTo>
                  <a:pt x="112426" y="3531201"/>
                </a:lnTo>
                <a:lnTo>
                  <a:pt x="105626" y="3496391"/>
                </a:lnTo>
                <a:lnTo>
                  <a:pt x="111971" y="3486850"/>
                </a:lnTo>
                <a:lnTo>
                  <a:pt x="106910" y="3476412"/>
                </a:lnTo>
                <a:cubicBezTo>
                  <a:pt x="105781" y="3466028"/>
                  <a:pt x="105824" y="3433967"/>
                  <a:pt x="105209" y="3424545"/>
                </a:cubicBezTo>
                <a:lnTo>
                  <a:pt x="103215" y="3419880"/>
                </a:lnTo>
                <a:lnTo>
                  <a:pt x="104953" y="3415218"/>
                </a:lnTo>
                <a:lnTo>
                  <a:pt x="101255" y="3409825"/>
                </a:lnTo>
                <a:lnTo>
                  <a:pt x="103044" y="3407057"/>
                </a:lnTo>
                <a:lnTo>
                  <a:pt x="89764" y="3378959"/>
                </a:lnTo>
                <a:lnTo>
                  <a:pt x="83991" y="3362948"/>
                </a:lnTo>
                <a:lnTo>
                  <a:pt x="66858" y="3332072"/>
                </a:lnTo>
                <a:lnTo>
                  <a:pt x="69057" y="3325671"/>
                </a:lnTo>
                <a:lnTo>
                  <a:pt x="51631" y="3278130"/>
                </a:lnTo>
                <a:lnTo>
                  <a:pt x="53959" y="3277179"/>
                </a:lnTo>
                <a:lnTo>
                  <a:pt x="60205" y="3262610"/>
                </a:lnTo>
                <a:lnTo>
                  <a:pt x="58998" y="3258677"/>
                </a:lnTo>
                <a:cubicBezTo>
                  <a:pt x="46010" y="3210316"/>
                  <a:pt x="80872" y="3236545"/>
                  <a:pt x="45170" y="3180546"/>
                </a:cubicBezTo>
                <a:cubicBezTo>
                  <a:pt x="53643" y="3171780"/>
                  <a:pt x="52550" y="3163902"/>
                  <a:pt x="45228" y="3151828"/>
                </a:cubicBezTo>
                <a:cubicBezTo>
                  <a:pt x="39651" y="3128169"/>
                  <a:pt x="64667" y="3124610"/>
                  <a:pt x="45020" y="3103777"/>
                </a:cubicBezTo>
                <a:cubicBezTo>
                  <a:pt x="59127" y="3105196"/>
                  <a:pt x="41123" y="3057428"/>
                  <a:pt x="57092" y="3065434"/>
                </a:cubicBezTo>
                <a:cubicBezTo>
                  <a:pt x="55435" y="3051512"/>
                  <a:pt x="40803" y="3032637"/>
                  <a:pt x="35088" y="3020247"/>
                </a:cubicBezTo>
                <a:cubicBezTo>
                  <a:pt x="32503" y="3002537"/>
                  <a:pt x="18197" y="3001119"/>
                  <a:pt x="22803" y="2991092"/>
                </a:cubicBezTo>
                <a:cubicBezTo>
                  <a:pt x="24338" y="2987749"/>
                  <a:pt x="27975" y="2983455"/>
                  <a:pt x="34850" y="2977278"/>
                </a:cubicBezTo>
                <a:cubicBezTo>
                  <a:pt x="22587" y="2954448"/>
                  <a:pt x="35600" y="2946689"/>
                  <a:pt x="36223" y="2911749"/>
                </a:cubicBezTo>
                <a:cubicBezTo>
                  <a:pt x="35158" y="2886513"/>
                  <a:pt x="29761" y="2843788"/>
                  <a:pt x="28462" y="2825860"/>
                </a:cubicBezTo>
                <a:cubicBezTo>
                  <a:pt x="28449" y="2818634"/>
                  <a:pt x="28437" y="2811409"/>
                  <a:pt x="28424" y="2804183"/>
                </a:cubicBezTo>
                <a:lnTo>
                  <a:pt x="21292" y="2790136"/>
                </a:lnTo>
                <a:lnTo>
                  <a:pt x="16179" y="2760208"/>
                </a:lnTo>
                <a:lnTo>
                  <a:pt x="22858" y="2751112"/>
                </a:lnTo>
                <a:lnTo>
                  <a:pt x="18505" y="2740278"/>
                </a:lnTo>
                <a:lnTo>
                  <a:pt x="22482" y="2726489"/>
                </a:lnTo>
                <a:lnTo>
                  <a:pt x="18175" y="2725052"/>
                </a:lnTo>
                <a:lnTo>
                  <a:pt x="10521" y="2715895"/>
                </a:lnTo>
                <a:lnTo>
                  <a:pt x="25499" y="2665666"/>
                </a:lnTo>
                <a:lnTo>
                  <a:pt x="30658" y="2635351"/>
                </a:lnTo>
                <a:cubicBezTo>
                  <a:pt x="30723" y="2625597"/>
                  <a:pt x="30791" y="2615842"/>
                  <a:pt x="30857" y="2606088"/>
                </a:cubicBezTo>
                <a:lnTo>
                  <a:pt x="37532" y="2596456"/>
                </a:lnTo>
                <a:cubicBezTo>
                  <a:pt x="41239" y="2582253"/>
                  <a:pt x="34640" y="2564757"/>
                  <a:pt x="36511" y="2549900"/>
                </a:cubicBezTo>
                <a:lnTo>
                  <a:pt x="53712" y="2496499"/>
                </a:lnTo>
                <a:cubicBezTo>
                  <a:pt x="53527" y="2492743"/>
                  <a:pt x="64725" y="2449625"/>
                  <a:pt x="64540" y="2445869"/>
                </a:cubicBezTo>
                <a:cubicBezTo>
                  <a:pt x="61940" y="2441580"/>
                  <a:pt x="65575" y="2413465"/>
                  <a:pt x="64348" y="2408995"/>
                </a:cubicBezTo>
                <a:cubicBezTo>
                  <a:pt x="100333" y="2407546"/>
                  <a:pt x="71752" y="2329020"/>
                  <a:pt x="101725" y="2335735"/>
                </a:cubicBezTo>
                <a:cubicBezTo>
                  <a:pt x="120512" y="2299003"/>
                  <a:pt x="138791" y="2291744"/>
                  <a:pt x="147278" y="2260088"/>
                </a:cubicBezTo>
                <a:cubicBezTo>
                  <a:pt x="152668" y="2224200"/>
                  <a:pt x="143589" y="2220953"/>
                  <a:pt x="152643" y="2193455"/>
                </a:cubicBezTo>
                <a:cubicBezTo>
                  <a:pt x="152701" y="2159228"/>
                  <a:pt x="131577" y="2138038"/>
                  <a:pt x="161815" y="2107942"/>
                </a:cubicBezTo>
                <a:lnTo>
                  <a:pt x="168884" y="2024270"/>
                </a:lnTo>
                <a:lnTo>
                  <a:pt x="210800" y="1969445"/>
                </a:lnTo>
                <a:lnTo>
                  <a:pt x="215063" y="1961162"/>
                </a:lnTo>
                <a:lnTo>
                  <a:pt x="226767" y="1945112"/>
                </a:lnTo>
                <a:lnTo>
                  <a:pt x="225906" y="1942021"/>
                </a:lnTo>
                <a:lnTo>
                  <a:pt x="220555" y="1935584"/>
                </a:lnTo>
                <a:cubicBezTo>
                  <a:pt x="220179" y="1930292"/>
                  <a:pt x="223282" y="1914884"/>
                  <a:pt x="223648" y="1910265"/>
                </a:cubicBezTo>
                <a:cubicBezTo>
                  <a:pt x="221934" y="1909994"/>
                  <a:pt x="221895" y="1909162"/>
                  <a:pt x="222758" y="1907867"/>
                </a:cubicBezTo>
                <a:lnTo>
                  <a:pt x="229387" y="1899379"/>
                </a:lnTo>
                <a:lnTo>
                  <a:pt x="231548" y="1895114"/>
                </a:lnTo>
                <a:lnTo>
                  <a:pt x="216553" y="1892417"/>
                </a:lnTo>
                <a:cubicBezTo>
                  <a:pt x="209075" y="1884999"/>
                  <a:pt x="222114" y="1866643"/>
                  <a:pt x="209739" y="1861483"/>
                </a:cubicBezTo>
                <a:cubicBezTo>
                  <a:pt x="214584" y="1853278"/>
                  <a:pt x="219066" y="1844665"/>
                  <a:pt x="222950" y="1835810"/>
                </a:cubicBezTo>
                <a:lnTo>
                  <a:pt x="224812" y="1830569"/>
                </a:lnTo>
                <a:lnTo>
                  <a:pt x="224522" y="1830429"/>
                </a:lnTo>
                <a:cubicBezTo>
                  <a:pt x="224224" y="1829219"/>
                  <a:pt x="224571" y="1827468"/>
                  <a:pt x="225830" y="1824832"/>
                </a:cubicBezTo>
                <a:lnTo>
                  <a:pt x="228207" y="1821003"/>
                </a:lnTo>
                <a:lnTo>
                  <a:pt x="230878" y="1807109"/>
                </a:lnTo>
                <a:lnTo>
                  <a:pt x="227355" y="1805316"/>
                </a:lnTo>
                <a:lnTo>
                  <a:pt x="228132" y="1804434"/>
                </a:lnTo>
                <a:cubicBezTo>
                  <a:pt x="237533" y="1798221"/>
                  <a:pt x="248274" y="1797417"/>
                  <a:pt x="223762" y="1784314"/>
                </a:cubicBezTo>
                <a:cubicBezTo>
                  <a:pt x="240655" y="1769422"/>
                  <a:pt x="224912" y="1763793"/>
                  <a:pt x="226521" y="1740358"/>
                </a:cubicBezTo>
                <a:cubicBezTo>
                  <a:pt x="240385" y="1732435"/>
                  <a:pt x="239102" y="1724301"/>
                  <a:pt x="233164" y="1715685"/>
                </a:cubicBezTo>
                <a:cubicBezTo>
                  <a:pt x="245499" y="1694404"/>
                  <a:pt x="240415" y="1672675"/>
                  <a:pt x="245819" y="1647555"/>
                </a:cubicBezTo>
                <a:cubicBezTo>
                  <a:pt x="268668" y="1622803"/>
                  <a:pt x="248434" y="1605585"/>
                  <a:pt x="254317" y="1578752"/>
                </a:cubicBezTo>
                <a:lnTo>
                  <a:pt x="249918" y="1546022"/>
                </a:lnTo>
                <a:cubicBezTo>
                  <a:pt x="251996" y="1543635"/>
                  <a:pt x="248777" y="1521210"/>
                  <a:pt x="248927" y="1519929"/>
                </a:cubicBezTo>
                <a:lnTo>
                  <a:pt x="248704" y="1519731"/>
                </a:lnTo>
                <a:lnTo>
                  <a:pt x="252245" y="1514846"/>
                </a:lnTo>
                <a:cubicBezTo>
                  <a:pt x="255314" y="1501295"/>
                  <a:pt x="252199" y="1477394"/>
                  <a:pt x="254681" y="1463304"/>
                </a:cubicBezTo>
                <a:cubicBezTo>
                  <a:pt x="257024" y="1459891"/>
                  <a:pt x="268983" y="1432466"/>
                  <a:pt x="267138" y="1430305"/>
                </a:cubicBezTo>
                <a:lnTo>
                  <a:pt x="266110" y="1429568"/>
                </a:lnTo>
                <a:lnTo>
                  <a:pt x="286784" y="1404045"/>
                </a:lnTo>
                <a:lnTo>
                  <a:pt x="294521" y="1360879"/>
                </a:lnTo>
                <a:lnTo>
                  <a:pt x="324750" y="1301993"/>
                </a:lnTo>
                <a:lnTo>
                  <a:pt x="328780" y="1210776"/>
                </a:lnTo>
                <a:cubicBezTo>
                  <a:pt x="344171" y="1197232"/>
                  <a:pt x="343390" y="1192124"/>
                  <a:pt x="346123" y="1157176"/>
                </a:cubicBezTo>
                <a:cubicBezTo>
                  <a:pt x="359383" y="1110140"/>
                  <a:pt x="355619" y="1111028"/>
                  <a:pt x="349331" y="1063288"/>
                </a:cubicBezTo>
                <a:cubicBezTo>
                  <a:pt x="364194" y="1005331"/>
                  <a:pt x="362778" y="969963"/>
                  <a:pt x="431245" y="889417"/>
                </a:cubicBezTo>
                <a:lnTo>
                  <a:pt x="459477" y="816346"/>
                </a:lnTo>
                <a:cubicBezTo>
                  <a:pt x="465006" y="808083"/>
                  <a:pt x="496978" y="764380"/>
                  <a:pt x="489268" y="752692"/>
                </a:cubicBezTo>
                <a:lnTo>
                  <a:pt x="505368" y="724368"/>
                </a:lnTo>
                <a:lnTo>
                  <a:pt x="511178" y="722494"/>
                </a:lnTo>
                <a:lnTo>
                  <a:pt x="514451" y="717531"/>
                </a:lnTo>
                <a:cubicBezTo>
                  <a:pt x="514171" y="710761"/>
                  <a:pt x="513893" y="703992"/>
                  <a:pt x="513612" y="697222"/>
                </a:cubicBezTo>
                <a:cubicBezTo>
                  <a:pt x="513272" y="693376"/>
                  <a:pt x="513720" y="690905"/>
                  <a:pt x="514772" y="689289"/>
                </a:cubicBezTo>
                <a:lnTo>
                  <a:pt x="515249" y="689151"/>
                </a:lnTo>
                <a:cubicBezTo>
                  <a:pt x="515320" y="686637"/>
                  <a:pt x="515389" y="684122"/>
                  <a:pt x="515461" y="681608"/>
                </a:cubicBezTo>
                <a:cubicBezTo>
                  <a:pt x="522970" y="666964"/>
                  <a:pt x="551123" y="617831"/>
                  <a:pt x="560298" y="601285"/>
                </a:cubicBezTo>
                <a:cubicBezTo>
                  <a:pt x="558549" y="585107"/>
                  <a:pt x="540289" y="573171"/>
                  <a:pt x="570504" y="582332"/>
                </a:cubicBezTo>
                <a:cubicBezTo>
                  <a:pt x="570816" y="577121"/>
                  <a:pt x="573898" y="574271"/>
                  <a:pt x="578347" y="572511"/>
                </a:cubicBezTo>
                <a:lnTo>
                  <a:pt x="580375" y="572092"/>
                </a:lnTo>
                <a:lnTo>
                  <a:pt x="575722" y="536015"/>
                </a:lnTo>
                <a:lnTo>
                  <a:pt x="578705" y="531675"/>
                </a:lnTo>
                <a:lnTo>
                  <a:pt x="564084" y="491380"/>
                </a:lnTo>
                <a:cubicBezTo>
                  <a:pt x="560969" y="487340"/>
                  <a:pt x="560134" y="482008"/>
                  <a:pt x="564457" y="473782"/>
                </a:cubicBezTo>
                <a:lnTo>
                  <a:pt x="566413" y="472000"/>
                </a:lnTo>
                <a:lnTo>
                  <a:pt x="584600" y="354566"/>
                </a:lnTo>
                <a:cubicBezTo>
                  <a:pt x="586100" y="325288"/>
                  <a:pt x="584583" y="317533"/>
                  <a:pt x="588077" y="265704"/>
                </a:cubicBezTo>
                <a:cubicBezTo>
                  <a:pt x="588008" y="205530"/>
                  <a:pt x="578491" y="226511"/>
                  <a:pt x="580576" y="187093"/>
                </a:cubicBezTo>
                <a:cubicBezTo>
                  <a:pt x="579265" y="162458"/>
                  <a:pt x="569240" y="117589"/>
                  <a:pt x="587928" y="130336"/>
                </a:cubicBezTo>
                <a:cubicBezTo>
                  <a:pt x="552635" y="69804"/>
                  <a:pt x="604651" y="82036"/>
                  <a:pt x="593881" y="17287"/>
                </a:cubicBezTo>
                <a:cubicBezTo>
                  <a:pt x="600399" y="13784"/>
                  <a:pt x="605413" y="8440"/>
                  <a:pt x="609224" y="1705"/>
                </a:cubicBezTo>
                <a:close/>
              </a:path>
            </a:pathLst>
          </a:cu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609FF59-39BF-ECB4-E23D-8B811783A144}"/>
              </a:ext>
            </a:extLst>
          </p:cNvPr>
          <p:cNvSpPr txBox="1"/>
          <p:nvPr/>
        </p:nvSpPr>
        <p:spPr>
          <a:xfrm>
            <a:off x="457200" y="581433"/>
            <a:ext cx="4330104" cy="13308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>
                <a:latin typeface="Fira Sans Condensed SemiBold" panose="020B0603050000020004" pitchFamily="34" charset="0"/>
                <a:ea typeface="+mj-ea"/>
                <a:cs typeface="+mj-cs"/>
              </a:rPr>
              <a:t>Clément de Tastes</a:t>
            </a:r>
          </a:p>
        </p:txBody>
      </p:sp>
      <p:sp>
        <p:nvSpPr>
          <p:cNvPr id="5" name="Google Shape;1035;p40">
            <a:extLst>
              <a:ext uri="{FF2B5EF4-FFF2-40B4-BE49-F238E27FC236}">
                <a16:creationId xmlns:a16="http://schemas.microsoft.com/office/drawing/2014/main" id="{17D25E4B-34C0-773B-DB6A-2AE7988A7195}"/>
              </a:ext>
            </a:extLst>
          </p:cNvPr>
          <p:cNvSpPr txBox="1">
            <a:spLocks/>
          </p:cNvSpPr>
          <p:nvPr/>
        </p:nvSpPr>
        <p:spPr>
          <a:xfrm>
            <a:off x="170653" y="2217548"/>
            <a:ext cx="4669797" cy="3908586"/>
          </a:xfrm>
          <a:prstGeom prst="rect">
            <a:avLst/>
          </a:prstGeom>
        </p:spPr>
        <p:txBody>
          <a:bodyPr spcFirstLastPara="1" vert="horz" lIns="91440" tIns="45720" rIns="91440" bIns="45720" rtlCol="0" anchorCtr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Tech Lead @ SCIAM</a:t>
            </a:r>
          </a:p>
          <a:p>
            <a:pPr marL="285750"/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@cdetastes.bsky.social</a:t>
            </a: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github.com/</a:t>
            </a:r>
            <a:r>
              <a:rPr lang="en-US" sz="2400" dirty="0" err="1">
                <a:latin typeface="Fira Sans Condensed SemiBold" panose="020B0603050000020004" pitchFamily="34" charset="0"/>
              </a:rPr>
              <a:t>CodeSimcoe</a:t>
            </a:r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blog.sciam.fr</a:t>
            </a: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www.toulon.dev</a:t>
            </a: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Java ☕ — JavaFX —  </a:t>
            </a:r>
            <a:r>
              <a:rPr lang="en-US" sz="2400" dirty="0" err="1">
                <a:latin typeface="Fira Sans Condensed SemiBold" panose="020B0603050000020004" pitchFamily="34" charset="0"/>
              </a:rPr>
              <a:t>Quarkus</a:t>
            </a:r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I brew my own beer 🍺</a:t>
            </a:r>
          </a:p>
          <a:p>
            <a:pPr marL="285750">
              <a:spcBef>
                <a:spcPts val="0"/>
              </a:spcBef>
            </a:pPr>
            <a:endParaRPr lang="en-US" sz="2400" dirty="0">
              <a:latin typeface="Fira Sans Condensed SemiBold" panose="020B0603050000020004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EA581052-A9F1-A62D-E34C-F392A03B40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3589" y="2014031"/>
            <a:ext cx="877301" cy="92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78094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4BEA7D7-31AA-8392-AF67-1777F4D5B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10</a:t>
            </a:fld>
            <a:endParaRPr lang="fr-FR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4591D2CC-5838-48D5-FF1F-342E2EE9DF9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-2" b="632"/>
          <a:stretch>
            <a:fillRect/>
          </a:stretch>
        </p:blipFill>
        <p:spPr>
          <a:xfrm>
            <a:off x="20" y="10"/>
            <a:ext cx="6901711" cy="6857990"/>
          </a:xfrm>
          <a:custGeom>
            <a:avLst/>
            <a:gdLst/>
            <a:ahLst/>
            <a:cxnLst/>
            <a:rect l="l" t="t" r="r" b="b"/>
            <a:pathLst>
              <a:path w="6901731" h="6858000">
                <a:moveTo>
                  <a:pt x="0" y="0"/>
                </a:moveTo>
                <a:lnTo>
                  <a:pt x="6897896" y="5958"/>
                </a:lnTo>
                <a:lnTo>
                  <a:pt x="6866823" y="62592"/>
                </a:lnTo>
                <a:lnTo>
                  <a:pt x="6901731" y="89476"/>
                </a:lnTo>
                <a:lnTo>
                  <a:pt x="6901731" y="103833"/>
                </a:lnTo>
                <a:lnTo>
                  <a:pt x="6900034" y="110092"/>
                </a:lnTo>
                <a:lnTo>
                  <a:pt x="6901731" y="113679"/>
                </a:lnTo>
                <a:lnTo>
                  <a:pt x="6901731" y="405560"/>
                </a:lnTo>
                <a:lnTo>
                  <a:pt x="6900456" y="429509"/>
                </a:lnTo>
                <a:cubicBezTo>
                  <a:pt x="6892773" y="535647"/>
                  <a:pt x="6878314" y="537918"/>
                  <a:pt x="6886342" y="636808"/>
                </a:cubicBezTo>
                <a:cubicBezTo>
                  <a:pt x="6892506" y="756883"/>
                  <a:pt x="6864504" y="771443"/>
                  <a:pt x="6851784" y="839073"/>
                </a:cubicBezTo>
                <a:cubicBezTo>
                  <a:pt x="6838675" y="892655"/>
                  <a:pt x="6864124" y="961738"/>
                  <a:pt x="6845760" y="994930"/>
                </a:cubicBezTo>
                <a:cubicBezTo>
                  <a:pt x="6833572" y="1024166"/>
                  <a:pt x="6859282" y="1058905"/>
                  <a:pt x="6845601" y="1112932"/>
                </a:cubicBezTo>
                <a:cubicBezTo>
                  <a:pt x="6838700" y="1149910"/>
                  <a:pt x="6829138" y="1151035"/>
                  <a:pt x="6820235" y="1187433"/>
                </a:cubicBezTo>
                <a:cubicBezTo>
                  <a:pt x="6815504" y="1196464"/>
                  <a:pt x="6777707" y="1338549"/>
                  <a:pt x="6759643" y="1337010"/>
                </a:cubicBezTo>
                <a:cubicBezTo>
                  <a:pt x="6737660" y="1337296"/>
                  <a:pt x="6760650" y="1396341"/>
                  <a:pt x="6736375" y="1382272"/>
                </a:cubicBezTo>
                <a:cubicBezTo>
                  <a:pt x="6755741" y="1415836"/>
                  <a:pt x="6714675" y="1414567"/>
                  <a:pt x="6701292" y="1432111"/>
                </a:cubicBezTo>
                <a:cubicBezTo>
                  <a:pt x="6721110" y="1460185"/>
                  <a:pt x="6692106" y="1490815"/>
                  <a:pt x="6686578" y="1518624"/>
                </a:cubicBezTo>
                <a:cubicBezTo>
                  <a:pt x="6682512" y="1567002"/>
                  <a:pt x="6679579" y="1571443"/>
                  <a:pt x="6670824" y="1607743"/>
                </a:cubicBezTo>
                <a:cubicBezTo>
                  <a:pt x="6671133" y="1629590"/>
                  <a:pt x="6663161" y="1656870"/>
                  <a:pt x="6664392" y="1696405"/>
                </a:cubicBezTo>
                <a:cubicBezTo>
                  <a:pt x="6655686" y="1770486"/>
                  <a:pt x="6641938" y="1757082"/>
                  <a:pt x="6642880" y="1812372"/>
                </a:cubicBezTo>
                <a:cubicBezTo>
                  <a:pt x="6638579" y="1872475"/>
                  <a:pt x="6619231" y="1825476"/>
                  <a:pt x="6612547" y="1876437"/>
                </a:cubicBezTo>
                <a:cubicBezTo>
                  <a:pt x="6600695" y="1913834"/>
                  <a:pt x="6591061" y="1923231"/>
                  <a:pt x="6571760" y="1953331"/>
                </a:cubicBezTo>
                <a:cubicBezTo>
                  <a:pt x="6561039" y="1989021"/>
                  <a:pt x="6544090" y="2087896"/>
                  <a:pt x="6520213" y="2096455"/>
                </a:cubicBezTo>
                <a:lnTo>
                  <a:pt x="6492461" y="2188148"/>
                </a:lnTo>
                <a:cubicBezTo>
                  <a:pt x="6504372" y="2211333"/>
                  <a:pt x="6489131" y="2253220"/>
                  <a:pt x="6471854" y="2259117"/>
                </a:cubicBezTo>
                <a:cubicBezTo>
                  <a:pt x="6466151" y="2287829"/>
                  <a:pt x="6440452" y="2301346"/>
                  <a:pt x="6439832" y="2328334"/>
                </a:cubicBezTo>
                <a:cubicBezTo>
                  <a:pt x="6431013" y="2351201"/>
                  <a:pt x="6444250" y="2396409"/>
                  <a:pt x="6425162" y="2408211"/>
                </a:cubicBezTo>
                <a:lnTo>
                  <a:pt x="6417221" y="2427382"/>
                </a:lnTo>
                <a:lnTo>
                  <a:pt x="6425030" y="2464387"/>
                </a:lnTo>
                <a:lnTo>
                  <a:pt x="6406293" y="2472223"/>
                </a:lnTo>
                <a:cubicBezTo>
                  <a:pt x="6406862" y="2477277"/>
                  <a:pt x="6406486" y="2491723"/>
                  <a:pt x="6405400" y="2493547"/>
                </a:cubicBezTo>
                <a:lnTo>
                  <a:pt x="6374829" y="2532070"/>
                </a:lnTo>
                <a:cubicBezTo>
                  <a:pt x="6374597" y="2545374"/>
                  <a:pt x="6360976" y="2563797"/>
                  <a:pt x="6350864" y="2577422"/>
                </a:cubicBezTo>
                <a:cubicBezTo>
                  <a:pt x="6327056" y="2632768"/>
                  <a:pt x="6341262" y="2616275"/>
                  <a:pt x="6329174" y="2663854"/>
                </a:cubicBezTo>
                <a:cubicBezTo>
                  <a:pt x="6326303" y="2703642"/>
                  <a:pt x="6332854" y="2709643"/>
                  <a:pt x="6315095" y="2741507"/>
                </a:cubicBezTo>
                <a:cubicBezTo>
                  <a:pt x="6319921" y="2740191"/>
                  <a:pt x="6321925" y="2742004"/>
                  <a:pt x="6322463" y="2745641"/>
                </a:cubicBezTo>
                <a:cubicBezTo>
                  <a:pt x="6322245" y="2747982"/>
                  <a:pt x="6322027" y="2750323"/>
                  <a:pt x="6321808" y="2752663"/>
                </a:cubicBezTo>
                <a:lnTo>
                  <a:pt x="6314569" y="2756718"/>
                </a:lnTo>
                <a:cubicBezTo>
                  <a:pt x="6289324" y="2773686"/>
                  <a:pt x="6317551" y="2780051"/>
                  <a:pt x="6315211" y="2811618"/>
                </a:cubicBezTo>
                <a:cubicBezTo>
                  <a:pt x="6315620" y="2826627"/>
                  <a:pt x="6296047" y="2885298"/>
                  <a:pt x="6302211" y="2882314"/>
                </a:cubicBezTo>
                <a:lnTo>
                  <a:pt x="6286167" y="2949597"/>
                </a:lnTo>
                <a:cubicBezTo>
                  <a:pt x="6286401" y="2994618"/>
                  <a:pt x="6286615" y="2971464"/>
                  <a:pt x="6287037" y="3008578"/>
                </a:cubicBezTo>
                <a:cubicBezTo>
                  <a:pt x="6293795" y="3029535"/>
                  <a:pt x="6274405" y="3114154"/>
                  <a:pt x="6259150" y="3123139"/>
                </a:cubicBezTo>
                <a:cubicBezTo>
                  <a:pt x="6250085" y="3189063"/>
                  <a:pt x="6269067" y="3151280"/>
                  <a:pt x="6272249" y="3227854"/>
                </a:cubicBezTo>
                <a:cubicBezTo>
                  <a:pt x="6278775" y="3295842"/>
                  <a:pt x="6289216" y="3303765"/>
                  <a:pt x="6292288" y="3378383"/>
                </a:cubicBezTo>
                <a:cubicBezTo>
                  <a:pt x="6303894" y="3395995"/>
                  <a:pt x="6287498" y="3432581"/>
                  <a:pt x="6288328" y="3459618"/>
                </a:cubicBezTo>
                <a:cubicBezTo>
                  <a:pt x="6289158" y="3486653"/>
                  <a:pt x="6299937" y="3538735"/>
                  <a:pt x="6297272" y="3540603"/>
                </a:cubicBezTo>
                <a:cubicBezTo>
                  <a:pt x="6296849" y="3577379"/>
                  <a:pt x="6294184" y="3587943"/>
                  <a:pt x="6291001" y="3638374"/>
                </a:cubicBezTo>
                <a:cubicBezTo>
                  <a:pt x="6283026" y="3666794"/>
                  <a:pt x="6265833" y="3731744"/>
                  <a:pt x="6283592" y="3763609"/>
                </a:cubicBezTo>
                <a:cubicBezTo>
                  <a:pt x="6264286" y="3758340"/>
                  <a:pt x="6290177" y="3803150"/>
                  <a:pt x="6274068" y="3814506"/>
                </a:cubicBezTo>
                <a:cubicBezTo>
                  <a:pt x="6260645" y="3821643"/>
                  <a:pt x="6265372" y="3836902"/>
                  <a:pt x="6262850" y="3850454"/>
                </a:cubicBezTo>
                <a:cubicBezTo>
                  <a:pt x="6250418" y="3863479"/>
                  <a:pt x="6250660" y="3955243"/>
                  <a:pt x="6257357" y="3975474"/>
                </a:cubicBezTo>
                <a:cubicBezTo>
                  <a:pt x="6245091" y="4036737"/>
                  <a:pt x="6237535" y="4029237"/>
                  <a:pt x="6257889" y="4073155"/>
                </a:cubicBezTo>
                <a:cubicBezTo>
                  <a:pt x="6259272" y="4085906"/>
                  <a:pt x="6239882" y="4116397"/>
                  <a:pt x="6237441" y="4126638"/>
                </a:cubicBezTo>
                <a:lnTo>
                  <a:pt x="6245587" y="4172738"/>
                </a:lnTo>
                <a:lnTo>
                  <a:pt x="6235772" y="4176721"/>
                </a:lnTo>
                <a:lnTo>
                  <a:pt x="6233287" y="4195136"/>
                </a:lnTo>
                <a:lnTo>
                  <a:pt x="6234619" y="4280850"/>
                </a:lnTo>
                <a:cubicBezTo>
                  <a:pt x="6239453" y="4320763"/>
                  <a:pt x="6223309" y="4337596"/>
                  <a:pt x="6219318" y="4402526"/>
                </a:cubicBezTo>
                <a:cubicBezTo>
                  <a:pt x="6205466" y="4516209"/>
                  <a:pt x="6216183" y="4588729"/>
                  <a:pt x="6216810" y="4651172"/>
                </a:cubicBezTo>
                <a:cubicBezTo>
                  <a:pt x="6217673" y="4756959"/>
                  <a:pt x="6228654" y="4824005"/>
                  <a:pt x="6225945" y="4916779"/>
                </a:cubicBezTo>
                <a:cubicBezTo>
                  <a:pt x="6217032" y="4993010"/>
                  <a:pt x="6264271" y="4984591"/>
                  <a:pt x="6230174" y="5051379"/>
                </a:cubicBezTo>
                <a:cubicBezTo>
                  <a:pt x="6235713" y="5056951"/>
                  <a:pt x="6239420" y="5163714"/>
                  <a:pt x="6242600" y="5170879"/>
                </a:cubicBezTo>
                <a:lnTo>
                  <a:pt x="6235996" y="5216428"/>
                </a:lnTo>
                <a:lnTo>
                  <a:pt x="6214638" y="5285298"/>
                </a:lnTo>
                <a:cubicBezTo>
                  <a:pt x="6211392" y="5297492"/>
                  <a:pt x="6225576" y="5312063"/>
                  <a:pt x="6228432" y="5317696"/>
                </a:cubicBezTo>
                <a:lnTo>
                  <a:pt x="6246496" y="5398787"/>
                </a:lnTo>
                <a:lnTo>
                  <a:pt x="6244793" y="5399530"/>
                </a:lnTo>
                <a:lnTo>
                  <a:pt x="6241695" y="5406948"/>
                </a:lnTo>
                <a:lnTo>
                  <a:pt x="6267461" y="5499413"/>
                </a:lnTo>
                <a:cubicBezTo>
                  <a:pt x="6285387" y="5533848"/>
                  <a:pt x="6284888" y="5550029"/>
                  <a:pt x="6295987" y="5582659"/>
                </a:cubicBezTo>
                <a:cubicBezTo>
                  <a:pt x="6311253" y="5681724"/>
                  <a:pt x="6295439" y="5695558"/>
                  <a:pt x="6364803" y="5784263"/>
                </a:cubicBezTo>
                <a:cubicBezTo>
                  <a:pt x="6379348" y="5818651"/>
                  <a:pt x="6412475" y="5906802"/>
                  <a:pt x="6423050" y="5922637"/>
                </a:cubicBezTo>
                <a:cubicBezTo>
                  <a:pt x="6445210" y="5973612"/>
                  <a:pt x="6468179" y="6023873"/>
                  <a:pt x="6497767" y="6090108"/>
                </a:cubicBezTo>
                <a:cubicBezTo>
                  <a:pt x="6571895" y="6150548"/>
                  <a:pt x="6572491" y="6236583"/>
                  <a:pt x="6606710" y="6281543"/>
                </a:cubicBezTo>
                <a:cubicBezTo>
                  <a:pt x="6633675" y="6335892"/>
                  <a:pt x="6654357" y="6388782"/>
                  <a:pt x="6667540" y="6443715"/>
                </a:cubicBezTo>
                <a:cubicBezTo>
                  <a:pt x="6685192" y="6466826"/>
                  <a:pt x="6650500" y="6508701"/>
                  <a:pt x="6659722" y="6550105"/>
                </a:cubicBezTo>
                <a:cubicBezTo>
                  <a:pt x="6665926" y="6645044"/>
                  <a:pt x="6669126" y="6627536"/>
                  <a:pt x="6671805" y="6687397"/>
                </a:cubicBezTo>
                <a:cubicBezTo>
                  <a:pt x="6682671" y="6733683"/>
                  <a:pt x="6665210" y="6772117"/>
                  <a:pt x="6669658" y="6806602"/>
                </a:cubicBezTo>
                <a:cubicBezTo>
                  <a:pt x="6661174" y="6812658"/>
                  <a:pt x="6667097" y="6831470"/>
                  <a:pt x="6675783" y="6850325"/>
                </a:cubicBezTo>
                <a:lnTo>
                  <a:pt x="6679704" y="6858000"/>
                </a:lnTo>
                <a:lnTo>
                  <a:pt x="4532241" y="6858000"/>
                </a:lnTo>
                <a:lnTo>
                  <a:pt x="1208596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4" name="Google Shape;1035;p40">
            <a:extLst>
              <a:ext uri="{FF2B5EF4-FFF2-40B4-BE49-F238E27FC236}">
                <a16:creationId xmlns:a16="http://schemas.microsoft.com/office/drawing/2014/main" id="{7C614D9A-8529-AA45-0C1E-9AEB4718CDCB}"/>
              </a:ext>
            </a:extLst>
          </p:cNvPr>
          <p:cNvSpPr txBox="1">
            <a:spLocks/>
          </p:cNvSpPr>
          <p:nvPr/>
        </p:nvSpPr>
        <p:spPr>
          <a:xfrm>
            <a:off x="6692590" y="2023505"/>
            <a:ext cx="5384042" cy="3908586"/>
          </a:xfrm>
          <a:prstGeom prst="rect">
            <a:avLst/>
          </a:prstGeom>
        </p:spPr>
        <p:txBody>
          <a:bodyPr spcFirstLastPara="1" vert="horz" lIns="91440" tIns="45720" rIns="91440" bIns="45720" rtlCol="0" anchorCtr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Associate Professor at University Gustave Eiffel (Paris)</a:t>
            </a:r>
          </a:p>
          <a:p>
            <a:pPr marL="285750"/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github.com/</a:t>
            </a:r>
            <a:r>
              <a:rPr lang="en-US" sz="2400" dirty="0" err="1">
                <a:latin typeface="Fira Sans Condensed SemiBold" panose="020B0603050000020004" pitchFamily="34" charset="0"/>
              </a:rPr>
              <a:t>forax</a:t>
            </a:r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Java ☕ specs for </a:t>
            </a:r>
            <a:r>
              <a:rPr lang="en-US" sz="2400" dirty="0" err="1">
                <a:latin typeface="Fira Sans Condensed SemiBold" panose="020B0603050000020004" pitchFamily="34" charset="0"/>
              </a:rPr>
              <a:t>invokedynamic</a:t>
            </a:r>
            <a:r>
              <a:rPr lang="en-US" sz="2400" dirty="0">
                <a:latin typeface="Fira Sans Condensed SemiBold" panose="020B0603050000020004" pitchFamily="34" charset="0"/>
              </a:rPr>
              <a:t>, lambda, module, record, pattern-matching, value-type</a:t>
            </a:r>
            <a:br>
              <a:rPr lang="en-US" sz="2400" dirty="0">
                <a:latin typeface="Fira Sans Condensed SemiBold" panose="020B0603050000020004" pitchFamily="34" charset="0"/>
              </a:rPr>
            </a:br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I maintain several open-source projects nobody use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7D0DF8-3C59-4ED5-E268-98A12868ADEA}"/>
              </a:ext>
            </a:extLst>
          </p:cNvPr>
          <p:cNvSpPr txBox="1"/>
          <p:nvPr/>
        </p:nvSpPr>
        <p:spPr>
          <a:xfrm>
            <a:off x="7219559" y="431632"/>
            <a:ext cx="4330104" cy="13308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>
                <a:latin typeface="Fira Sans Condensed SemiBold" panose="020B0603050000020004" pitchFamily="34" charset="0"/>
                <a:ea typeface="+mj-ea"/>
                <a:cs typeface="+mj-cs"/>
              </a:rPr>
              <a:t>Rémi Forax</a:t>
            </a:r>
          </a:p>
        </p:txBody>
      </p:sp>
    </p:spTree>
    <p:extLst>
      <p:ext uri="{BB962C8B-B14F-4D97-AF65-F5344CB8AC3E}">
        <p14:creationId xmlns:p14="http://schemas.microsoft.com/office/powerpoint/2010/main" val="34677079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4A3B17-267A-FAD7-72F3-A4512D0E3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AC7E62C-3FFC-E229-3320-764578DBCBAA}"/>
              </a:ext>
            </a:extLst>
          </p:cNvPr>
          <p:cNvSpPr txBox="1"/>
          <p:nvPr/>
        </p:nvSpPr>
        <p:spPr>
          <a:xfrm>
            <a:off x="4995379" y="490008"/>
            <a:ext cx="22012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Disclaimer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71ADED-9E38-8974-F7BE-D6B74297ECF0}"/>
              </a:ext>
            </a:extLst>
          </p:cNvPr>
          <p:cNvSpPr txBox="1"/>
          <p:nvPr/>
        </p:nvSpPr>
        <p:spPr>
          <a:xfrm>
            <a:off x="2751174" y="3167390"/>
            <a:ext cx="66896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>
                <a:latin typeface="Fira Sans Condensed SemiBold" panose="020B0603050000020004" pitchFamily="34" charset="0"/>
              </a:rPr>
              <a:t>These are </a:t>
            </a:r>
            <a:r>
              <a:rPr lang="en-US" sz="28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preview</a:t>
            </a:r>
            <a:r>
              <a:rPr lang="en-US" sz="2800">
                <a:latin typeface="Fira Sans Condensed SemiBold" panose="020B0603050000020004" pitchFamily="34" charset="0"/>
              </a:rPr>
              <a:t> or experimental features</a:t>
            </a:r>
            <a:endParaRPr lang="fr-FR" sz="2800" dirty="0">
              <a:latin typeface="Fira Sans Condensed SemiBold" panose="020B06030500000200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CDE535F-78F2-59DE-96E8-D62481E3E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11</a:t>
            </a:fld>
            <a:endParaRPr lang="fr-FR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1E61677-B91B-280C-8D4A-65FB599F5A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9844" y="2471495"/>
            <a:ext cx="2554967" cy="4203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78707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12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3D16D2B-FB67-AE6A-DC83-2F1D6AC1182F}"/>
              </a:ext>
            </a:extLst>
          </p:cNvPr>
          <p:cNvSpPr txBox="1"/>
          <p:nvPr/>
        </p:nvSpPr>
        <p:spPr>
          <a:xfrm>
            <a:off x="3758331" y="490008"/>
            <a:ext cx="44807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What is a </a:t>
            </a:r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Class</a:t>
            </a:r>
            <a:r>
              <a:rPr lang="en-US" sz="3600">
                <a:latin typeface="Fira Sans Condensed SemiBold" panose="020B0603050000020004" pitchFamily="34" charset="0"/>
              </a:rPr>
              <a:t> </a:t>
            </a:r>
            <a:r>
              <a:rPr lang="en-US" sz="3600" dirty="0">
                <a:latin typeface="Fira Sans Condensed SemiBold" panose="020B0603050000020004" pitchFamily="34" charset="0"/>
              </a:rPr>
              <a:t>?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BE1EB4B-4E15-B83A-C55F-424CC4899B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55228" y="3898909"/>
            <a:ext cx="7286920" cy="40011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value record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Vec3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{}</a:t>
            </a:r>
            <a:endParaRPr kumimoji="0" lang="fr-FR" altLang="fr-FR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E59D21A7-E586-E5CB-8DB4-2157497BDD20}"/>
              </a:ext>
            </a:extLst>
          </p:cNvPr>
          <p:cNvSpPr txBox="1"/>
          <p:nvPr/>
        </p:nvSpPr>
        <p:spPr>
          <a:xfrm>
            <a:off x="1965980" y="1980996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I</a:t>
            </a:r>
            <a:r>
              <a:rPr lang="en-US" sz="2400">
                <a:latin typeface="Fira Sans Condensed SemiBold" panose="020B0603050000020004" pitchFamily="34" charset="0"/>
              </a:rPr>
              <a:t>nstances </a:t>
            </a:r>
            <a:r>
              <a:rPr lang="en-US" sz="2400" dirty="0">
                <a:latin typeface="Fira Sans Condensed SemiBold" panose="020B0603050000020004" pitchFamily="34" charset="0"/>
              </a:rPr>
              <a:t>/ references / objects are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values</a:t>
            </a:r>
            <a:r>
              <a:rPr lang="en-US" sz="2400" dirty="0">
                <a:latin typeface="Fira Sans Condensed SemiBold" panose="020B0603050000020004" pitchFamily="34" charset="0"/>
              </a:rPr>
              <a:t>, not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pointers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7BAE77C4-60D8-1E86-FA86-9C0CA19B9FEA}"/>
              </a:ext>
            </a:extLst>
          </p:cNvPr>
          <p:cNvSpPr txBox="1"/>
          <p:nvPr/>
        </p:nvSpPr>
        <p:spPr>
          <a:xfrm>
            <a:off x="1965980" y="3061447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New keyword : </a:t>
            </a: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2334BB68-0AC0-81DB-DB1E-0D176854D5BB}"/>
              </a:ext>
            </a:extLst>
          </p:cNvPr>
          <p:cNvSpPr txBox="1"/>
          <p:nvPr/>
        </p:nvSpPr>
        <p:spPr>
          <a:xfrm>
            <a:off x="4967778" y="4827424"/>
            <a:ext cx="20618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/>
              <a:t>🎬</a:t>
            </a:r>
            <a:r>
              <a:rPr lang="en-US" sz="2400">
                <a:latin typeface="Fira Sans Condensed SemiBold" panose="020B0603050000020004" pitchFamily="34" charset="0"/>
              </a:rPr>
              <a:t>Demo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75121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/>
      <p:bldP spid="9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F521E-D226-599D-0321-A5277AA48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33E0E9D-3E94-2985-BE42-562122D635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13</a:t>
            </a:fld>
            <a:endParaRPr lang="fr-FR"/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1B633D86-26D3-FEB8-1ECF-106E4A9DB5DA}"/>
              </a:ext>
            </a:extLst>
          </p:cNvPr>
          <p:cNvSpPr txBox="1"/>
          <p:nvPr/>
        </p:nvSpPr>
        <p:spPr>
          <a:xfrm>
            <a:off x="1779355" y="337824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A value class instance is passed “</a:t>
            </a: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by value</a:t>
            </a:r>
            <a:r>
              <a:rPr lang="en-US" sz="2400">
                <a:latin typeface="Fira Sans Condensed SemiBold" panose="020B0603050000020004" pitchFamily="34" charset="0"/>
              </a:rPr>
              <a:t>”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6" name="Rectangle 1">
            <a:extLst>
              <a:ext uri="{FF2B5EF4-FFF2-40B4-BE49-F238E27FC236}">
                <a16:creationId xmlns:a16="http://schemas.microsoft.com/office/drawing/2014/main" id="{F1DCD4FB-30F5-955A-C171-089AEAE22D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34406" y="998962"/>
            <a:ext cx="9355315" cy="1631216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buNone/>
            </a:pPr>
            <a:r>
              <a:rPr lang="fr-FR" sz="2000">
                <a:solidFill>
                  <a:srgbClr val="0033B3"/>
                </a:solidFill>
                <a:latin typeface="Consolas" panose="020B0609020204030204" pitchFamily="49" charset="0"/>
              </a:rPr>
              <a:t>static </a:t>
            </a:r>
            <a:r>
              <a:rPr lang="fr-FR" sz="2000">
                <a:solidFill>
                  <a:srgbClr val="000000"/>
                </a:solidFill>
                <a:latin typeface="Consolas" panose="020B0609020204030204" pitchFamily="49" charset="0"/>
              </a:rPr>
              <a:t>Vec3 </a:t>
            </a:r>
            <a:r>
              <a:rPr lang="fr-FR" sz="2000">
                <a:solidFill>
                  <a:srgbClr val="00627A"/>
                </a:solidFill>
                <a:latin typeface="Consolas" panose="020B0609020204030204" pitchFamily="49" charset="0"/>
              </a:rPr>
              <a:t>translate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(</a:t>
            </a:r>
          </a:p>
          <a:p>
            <a:pPr>
              <a:buNone/>
            </a:pP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  </a:t>
            </a:r>
            <a:r>
              <a:rPr lang="fr-FR" sz="2000">
                <a:solidFill>
                  <a:srgbClr val="000000"/>
                </a:solidFill>
                <a:latin typeface="Consolas" panose="020B0609020204030204" pitchFamily="49" charset="0"/>
              </a:rPr>
              <a:t>Vec3 v,</a:t>
            </a:r>
          </a:p>
          <a:p>
            <a:pPr>
              <a:buNone/>
            </a:pPr>
            <a:r>
              <a:rPr lang="fr-FR" altLang="fr-FR" sz="200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fr-FR" altLang="fr-FR" sz="2000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200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2000">
                <a:solidFill>
                  <a:srgbClr val="871094"/>
                </a:solidFill>
                <a:latin typeface="Consolas" panose="020B0609020204030204" pitchFamily="49" charset="0"/>
              </a:rPr>
              <a:t>dx</a:t>
            </a:r>
            <a:r>
              <a:rPr lang="fr-FR" sz="200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 sz="2000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200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2000">
                <a:solidFill>
                  <a:srgbClr val="871094"/>
                </a:solidFill>
                <a:latin typeface="Consolas" panose="020B0609020204030204" pitchFamily="49" charset="0"/>
              </a:rPr>
              <a:t>dy</a:t>
            </a:r>
            <a:r>
              <a:rPr lang="fr-FR" sz="200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 sz="2000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200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2000">
                <a:solidFill>
                  <a:srgbClr val="871094"/>
                </a:solidFill>
                <a:latin typeface="Consolas" panose="020B0609020204030204" pitchFamily="49" charset="0"/>
              </a:rPr>
              <a:t>dz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) {</a:t>
            </a:r>
            <a:b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</a:b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  </a:t>
            </a:r>
            <a:r>
              <a:rPr lang="fr-FR" sz="2000">
                <a:solidFill>
                  <a:srgbClr val="0033B3"/>
                </a:solidFill>
                <a:latin typeface="Consolas" panose="020B0609020204030204" pitchFamily="49" charset="0"/>
              </a:rPr>
              <a:t>return new 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Vec3(v.</a:t>
            </a:r>
            <a:r>
              <a:rPr lang="fr-FR" sz="2000">
                <a:solidFill>
                  <a:srgbClr val="871094"/>
                </a:solidFill>
                <a:latin typeface="Consolas" panose="020B0609020204030204" pitchFamily="49" charset="0"/>
              </a:rPr>
              <a:t>x 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+ </a:t>
            </a:r>
            <a:r>
              <a:rPr lang="fr-FR" sz="2000">
                <a:solidFill>
                  <a:srgbClr val="871094"/>
                </a:solidFill>
                <a:latin typeface="Consolas" panose="020B0609020204030204" pitchFamily="49" charset="0"/>
              </a:rPr>
              <a:t>dx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, v.</a:t>
            </a:r>
            <a:r>
              <a:rPr lang="fr-FR" sz="2000">
                <a:solidFill>
                  <a:srgbClr val="871094"/>
                </a:solidFill>
                <a:latin typeface="Consolas" panose="020B0609020204030204" pitchFamily="49" charset="0"/>
              </a:rPr>
              <a:t>y 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+ </a:t>
            </a:r>
            <a:r>
              <a:rPr lang="fr-FR" sz="2000">
                <a:solidFill>
                  <a:srgbClr val="871094"/>
                </a:solidFill>
                <a:latin typeface="Consolas" panose="020B0609020204030204" pitchFamily="49" charset="0"/>
              </a:rPr>
              <a:t>dy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, v.</a:t>
            </a:r>
            <a:r>
              <a:rPr lang="fr-FR" sz="2000">
                <a:solidFill>
                  <a:srgbClr val="871094"/>
                </a:solidFill>
                <a:latin typeface="Consolas" panose="020B0609020204030204" pitchFamily="49" charset="0"/>
              </a:rPr>
              <a:t>z 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+ </a:t>
            </a:r>
            <a:r>
              <a:rPr lang="fr-FR" sz="2000">
                <a:solidFill>
                  <a:srgbClr val="871094"/>
                </a:solidFill>
                <a:latin typeface="Consolas" panose="020B0609020204030204" pitchFamily="49" charset="0"/>
              </a:rPr>
              <a:t>dz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);</a:t>
            </a:r>
            <a:b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</a:b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05EC6A63-888D-9DE2-C0C2-1F0E0EB75269}"/>
              </a:ext>
            </a:extLst>
          </p:cNvPr>
          <p:cNvSpPr txBox="1"/>
          <p:nvPr/>
        </p:nvSpPr>
        <p:spPr>
          <a:xfrm>
            <a:off x="2063292" y="3490054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At runtime, in pseudo Java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9" name="Rectangle 1">
            <a:extLst>
              <a:ext uri="{FF2B5EF4-FFF2-40B4-BE49-F238E27FC236}">
                <a16:creationId xmlns:a16="http://schemas.microsoft.com/office/drawing/2014/main" id="{DC2F91FB-60D9-CD97-A419-5A68ED376B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34406" y="4155062"/>
            <a:ext cx="9355315" cy="1477328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buNone/>
            </a:pPr>
            <a:r>
              <a:rPr lang="fr-FR">
                <a:solidFill>
                  <a:srgbClr val="0033B3"/>
                </a:solidFill>
                <a:latin typeface="Consolas" panose="020B0609020204030204" pitchFamily="49" charset="0"/>
              </a:rPr>
              <a:t>static 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fr-FR" altLang="fr-FR" sz="1400" i="1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 sz="1400" i="1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 sz="1400" i="1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>
                <a:solidFill>
                  <a:srgbClr val="00627A"/>
                </a:solidFill>
                <a:latin typeface="Consolas" panose="020B0609020204030204" pitchFamily="49" charset="0"/>
              </a:rPr>
              <a:t>translate</a:t>
            </a:r>
            <a: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  <a:t>(</a:t>
            </a:r>
          </a:p>
          <a:p>
            <a:pPr>
              <a:buNone/>
            </a:pPr>
            <a:r>
              <a:rPr lang="fr-FR" i="1">
                <a:solidFill>
                  <a:srgbClr val="080808"/>
                </a:solidFill>
                <a:latin typeface="Consolas" panose="020B0609020204030204" pitchFamily="49" charset="0"/>
              </a:rPr>
              <a:t>  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(</a:t>
            </a:r>
            <a:r>
              <a:rPr lang="fr-FR" altLang="fr-FR" sz="1400" i="1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x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 sz="1400" i="1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y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 sz="1400" i="1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z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)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fr-FR" altLang="fr-FR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fr-FR" altLang="fr-FR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>
                <a:solidFill>
                  <a:srgbClr val="871094"/>
                </a:solidFill>
                <a:latin typeface="Consolas" panose="020B0609020204030204" pitchFamily="49" charset="0"/>
              </a:rPr>
              <a:t>dx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>
                <a:solidFill>
                  <a:srgbClr val="871094"/>
                </a:solidFill>
                <a:latin typeface="Consolas" panose="020B0609020204030204" pitchFamily="49" charset="0"/>
              </a:rPr>
              <a:t>dy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>
                <a:solidFill>
                  <a:srgbClr val="871094"/>
                </a:solidFill>
                <a:latin typeface="Consolas" panose="020B0609020204030204" pitchFamily="49" charset="0"/>
              </a:rPr>
              <a:t>dz</a:t>
            </a:r>
            <a: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  <a:t>) {</a:t>
            </a:r>
            <a:b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</a:br>
            <a: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  <a:t>  </a:t>
            </a:r>
            <a:r>
              <a:rPr lang="fr-FR">
                <a:solidFill>
                  <a:srgbClr val="0033B3"/>
                </a:solidFill>
                <a:latin typeface="Consolas" panose="020B0609020204030204" pitchFamily="49" charset="0"/>
              </a:rPr>
              <a:t>return 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(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x 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+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dx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,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y 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+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dy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,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z 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+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dz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)</a:t>
            </a:r>
            <a: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  <a:t>;</a:t>
            </a:r>
            <a:b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</a:br>
            <a: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2" name="TextBox 9">
            <a:extLst>
              <a:ext uri="{FF2B5EF4-FFF2-40B4-BE49-F238E27FC236}">
                <a16:creationId xmlns:a16="http://schemas.microsoft.com/office/drawing/2014/main" id="{E0C08F18-1A06-F293-A7C8-CF8D28362611}"/>
              </a:ext>
            </a:extLst>
          </p:cNvPr>
          <p:cNvSpPr txBox="1"/>
          <p:nvPr/>
        </p:nvSpPr>
        <p:spPr>
          <a:xfrm>
            <a:off x="2063292" y="5831495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May eliminate allocation (scalarization)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9333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 animBg="1"/>
      <p:bldP spid="2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C56C0-A7D0-8DE3-EB28-B7A9D61BA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04F2FDB-C6A2-243D-6DD7-21C1FBA8E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14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B56E31CD-D051-83AB-F76F-7EB00CD0ADD6}"/>
              </a:ext>
            </a:extLst>
          </p:cNvPr>
          <p:cNvSpPr txBox="1"/>
          <p:nvPr/>
        </p:nvSpPr>
        <p:spPr>
          <a:xfrm>
            <a:off x="4131032" y="490008"/>
            <a:ext cx="37353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Objects</a:t>
            </a:r>
            <a:r>
              <a:rPr lang="en-US" sz="3600">
                <a:latin typeface="Fira Sans Condensed SemiBold" panose="020B0603050000020004" pitchFamily="34" charset="0"/>
              </a:rPr>
              <a:t> are :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FAB838EE-C6CF-D265-E24D-F5E5780FBE00}"/>
              </a:ext>
            </a:extLst>
          </p:cNvPr>
          <p:cNvSpPr txBox="1"/>
          <p:nvPr/>
        </p:nvSpPr>
        <p:spPr>
          <a:xfrm>
            <a:off x="1965980" y="1980996"/>
            <a:ext cx="806541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Identity-free</a:t>
            </a:r>
            <a:r>
              <a:rPr lang="en-US" sz="2400">
                <a:latin typeface="Fira Sans Condensed SemiBold" panose="020B0603050000020004" pitchFamily="34" charset="0"/>
              </a:rPr>
              <a:t> (no address in memory, no header)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Unmodifiable</a:t>
            </a:r>
            <a:r>
              <a:rPr lang="en-US" sz="2400">
                <a:latin typeface="Fira Sans Condensed SemiBold" panose="020B0603050000020004" pitchFamily="34" charset="0"/>
              </a:rPr>
              <a:t> (fields are final, class is final)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Stored and passed </a:t>
            </a: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by value</a:t>
            </a:r>
            <a:r>
              <a:rPr lang="en-US" sz="2400">
                <a:latin typeface="Fira Sans Condensed SemiBold" panose="020B0603050000020004" pitchFamily="34" charset="0"/>
              </a:rPr>
              <a:t> rather than by pointer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FEB393-9B8C-CABF-79B8-501F733ACAD3}"/>
              </a:ext>
            </a:extLst>
          </p:cNvPr>
          <p:cNvSpPr txBox="1"/>
          <p:nvPr/>
        </p:nvSpPr>
        <p:spPr>
          <a:xfrm>
            <a:off x="1965980" y="4025982"/>
            <a:ext cx="698175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>
                <a:latin typeface="Fira Sans Condensed SemiBold" panose="020B0603050000020004" pitchFamily="34" charset="0"/>
              </a:rPr>
              <a:t>Goals 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No pointer indirection</a:t>
            </a:r>
            <a:r>
              <a:rPr lang="en-US" sz="2400">
                <a:latin typeface="Fira Sans Condensed SemiBold" panose="020B0603050000020004" pitchFamily="34" charset="0"/>
              </a:rPr>
              <a:t> for small data structures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No overhead</a:t>
            </a:r>
            <a:r>
              <a:rPr lang="en-US" sz="2400">
                <a:latin typeface="Fira Sans Condensed SemiBold" panose="020B0603050000020004" pitchFamily="34" charset="0"/>
              </a:rPr>
              <a:t> for heap allocation</a:t>
            </a:r>
          </a:p>
        </p:txBody>
      </p:sp>
    </p:spTree>
    <p:extLst>
      <p:ext uri="{BB962C8B-B14F-4D97-AF65-F5344CB8AC3E}">
        <p14:creationId xmlns:p14="http://schemas.microsoft.com/office/powerpoint/2010/main" val="1607546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215D4-B452-9816-18B2-1E89033CD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A893284-0E96-7FDB-0038-E36D348D2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15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4F8C0A50-25E7-E8CD-3538-9A983A8D897F}"/>
              </a:ext>
            </a:extLst>
          </p:cNvPr>
          <p:cNvSpPr txBox="1"/>
          <p:nvPr/>
        </p:nvSpPr>
        <p:spPr>
          <a:xfrm>
            <a:off x="4386710" y="490008"/>
            <a:ext cx="32239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altLang="fr-FR" sz="3600">
                <a:solidFill>
                  <a:srgbClr val="0033B3"/>
                </a:solidFill>
                <a:latin typeface="Consolas" panose="020B0609020204030204" pitchFamily="49" charset="0"/>
              </a:rPr>
              <a:t>synchronized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A258573-AF68-2EED-2F1E-829578E92196}"/>
              </a:ext>
            </a:extLst>
          </p:cNvPr>
          <p:cNvSpPr txBox="1"/>
          <p:nvPr/>
        </p:nvSpPr>
        <p:spPr>
          <a:xfrm>
            <a:off x="5065090" y="4428663"/>
            <a:ext cx="20618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/>
              <a:t>🎬</a:t>
            </a:r>
            <a:r>
              <a:rPr lang="en-US" sz="2400">
                <a:latin typeface="Fira Sans Condensed SemiBold" panose="020B0603050000020004" pitchFamily="34" charset="0"/>
              </a:rPr>
              <a:t>Demo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583A4E09-7E81-20F4-CA26-64C5195B3645}"/>
              </a:ext>
            </a:extLst>
          </p:cNvPr>
          <p:cNvSpPr txBox="1"/>
          <p:nvPr/>
        </p:nvSpPr>
        <p:spPr>
          <a:xfrm>
            <a:off x="3067318" y="2558512"/>
            <a:ext cx="605736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altLang="fr-FR" sz="2400">
                <a:solidFill>
                  <a:srgbClr val="0033B3"/>
                </a:solidFill>
                <a:latin typeface="Consolas" panose="020B0609020204030204" pitchFamily="49" charset="0"/>
              </a:rPr>
              <a:t>synchronized</a:t>
            </a:r>
            <a:r>
              <a:rPr lang="en-US" sz="2400">
                <a:latin typeface="Fira Sans Condensed SemiBold" panose="020B0603050000020004" pitchFamily="34" charset="0"/>
              </a:rPr>
              <a:t> needs a bit in the header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A value class has no header</a:t>
            </a:r>
          </a:p>
        </p:txBody>
      </p:sp>
    </p:spTree>
    <p:extLst>
      <p:ext uri="{BB962C8B-B14F-4D97-AF65-F5344CB8AC3E}">
        <p14:creationId xmlns:p14="http://schemas.microsoft.com/office/powerpoint/2010/main" val="28374421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6463B2-6FCA-869F-0B3D-9405A3EDB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CE7F0B7-AF05-7B15-55C1-B3A6D23D0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16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4004A7F3-6834-0FF3-2F25-A8366CCB53E2}"/>
              </a:ext>
            </a:extLst>
          </p:cNvPr>
          <p:cNvSpPr txBox="1"/>
          <p:nvPr/>
        </p:nvSpPr>
        <p:spPr>
          <a:xfrm>
            <a:off x="4639985" y="490008"/>
            <a:ext cx="27174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altLang="fr-FR" sz="3600">
                <a:solidFill>
                  <a:srgbClr val="0033B3"/>
                </a:solidFill>
                <a:latin typeface="Consolas" panose="020B0609020204030204" pitchFamily="49" charset="0"/>
              </a:rPr>
              <a:t>hashCode()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EF87A58-7C49-2ED6-C4CC-80B56132C370}"/>
              </a:ext>
            </a:extLst>
          </p:cNvPr>
          <p:cNvSpPr txBox="1"/>
          <p:nvPr/>
        </p:nvSpPr>
        <p:spPr>
          <a:xfrm>
            <a:off x="5065090" y="4428663"/>
            <a:ext cx="20618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/>
              <a:t>🎬</a:t>
            </a:r>
            <a:r>
              <a:rPr lang="en-US" sz="2400">
                <a:latin typeface="Fira Sans Condensed SemiBold" panose="020B0603050000020004" pitchFamily="34" charset="0"/>
              </a:rPr>
              <a:t>Demo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70072132-0C2B-8D63-4B34-4D167EF44967}"/>
              </a:ext>
            </a:extLst>
          </p:cNvPr>
          <p:cNvSpPr txBox="1"/>
          <p:nvPr/>
        </p:nvSpPr>
        <p:spPr>
          <a:xfrm>
            <a:off x="1723219" y="2558512"/>
            <a:ext cx="874556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altLang="fr-FR" sz="2400">
                <a:solidFill>
                  <a:srgbClr val="0033B3"/>
                </a:solidFill>
                <a:latin typeface="Consolas" panose="020B0609020204030204" pitchFamily="49" charset="0"/>
              </a:rPr>
              <a:t>hashCode()</a:t>
            </a:r>
            <a:r>
              <a:rPr lang="en-US" sz="2400">
                <a:latin typeface="Fira Sans Condensed SemiBold" panose="020B0603050000020004" pitchFamily="34" charset="0"/>
              </a:rPr>
              <a:t> picks a random number and stores it in the header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A value class </a:t>
            </a:r>
            <a:r>
              <a:rPr lang="en-US" sz="2400" i="1">
                <a:latin typeface="Fira Sans Condensed SemiBold" panose="020B0603050000020004" pitchFamily="34" charset="0"/>
              </a:rPr>
              <a:t>still</a:t>
            </a:r>
            <a:r>
              <a:rPr lang="en-US" sz="2400">
                <a:latin typeface="Fira Sans Condensed SemiBold" panose="020B0603050000020004" pitchFamily="34" charset="0"/>
              </a:rPr>
              <a:t> has no header</a:t>
            </a:r>
          </a:p>
        </p:txBody>
      </p:sp>
    </p:spTree>
    <p:extLst>
      <p:ext uri="{BB962C8B-B14F-4D97-AF65-F5344CB8AC3E}">
        <p14:creationId xmlns:p14="http://schemas.microsoft.com/office/powerpoint/2010/main" val="3898038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4618A-E230-1BB1-7F4C-29C6E8DFB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6A5A61D-ADEB-8DE3-2532-4C97857EE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17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675D730B-BDA0-B09D-A480-6CA0CFD742BE}"/>
              </a:ext>
            </a:extLst>
          </p:cNvPr>
          <p:cNvSpPr txBox="1"/>
          <p:nvPr/>
        </p:nvSpPr>
        <p:spPr>
          <a:xfrm>
            <a:off x="4358185" y="490008"/>
            <a:ext cx="34756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altLang="fr-FR" sz="3600">
                <a:latin typeface="Fira Sans Condensed SemiBold" panose="020B0603050000020004" pitchFamily="34" charset="0"/>
              </a:rPr>
              <a:t>Weak References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D5B92562-2071-5613-5805-E6D14618999D}"/>
              </a:ext>
            </a:extLst>
          </p:cNvPr>
          <p:cNvSpPr txBox="1"/>
          <p:nvPr/>
        </p:nvSpPr>
        <p:spPr>
          <a:xfrm>
            <a:off x="1723219" y="3623139"/>
            <a:ext cx="874556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altLang="fr-FR" sz="2400">
                <a:solidFill>
                  <a:srgbClr val="0033B3"/>
                </a:solidFill>
                <a:latin typeface="Consolas" panose="020B0609020204030204" pitchFamily="49" charset="0"/>
              </a:rPr>
              <a:t>WeakReference</a:t>
            </a:r>
            <a:r>
              <a:rPr lang="en-US" sz="2400">
                <a:latin typeface="Fira Sans Condensed SemiBold" panose="020B0603050000020004" pitchFamily="34" charset="0"/>
              </a:rPr>
              <a:t> leaves B collectible by GC </a:t>
            </a:r>
            <a:r>
              <a:rPr lang="en-US" sz="2400" i="1">
                <a:latin typeface="Fira Sans Condensed SemiBold" panose="020B0603050000020004" pitchFamily="34" charset="0"/>
              </a:rPr>
              <a:t>(if only reference)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Can’t make a reference to a non-existing address in memory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Throws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(No)</a:t>
            </a:r>
            <a:r>
              <a:rPr lang="fr-FR" altLang="fr-FR" sz="2400">
                <a:solidFill>
                  <a:srgbClr val="0033B3"/>
                </a:solidFill>
                <a:latin typeface="Consolas" panose="020B0609020204030204" pitchFamily="49" charset="0"/>
              </a:rPr>
              <a:t>IdentityException</a:t>
            </a:r>
            <a:endParaRPr lang="en-US" sz="2400"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1B2C74E-B6CE-F16C-42B7-4455CE8ED643}"/>
              </a:ext>
            </a:extLst>
          </p:cNvPr>
          <p:cNvGrpSpPr/>
          <p:nvPr/>
        </p:nvGrpSpPr>
        <p:grpSpPr>
          <a:xfrm>
            <a:off x="1991030" y="2459103"/>
            <a:ext cx="8209937" cy="351185"/>
            <a:chOff x="550982" y="5485075"/>
            <a:chExt cx="8209937" cy="35118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DCBE930-3C8C-6440-2B1D-5BA2F67B33D9}"/>
                </a:ext>
              </a:extLst>
            </p:cNvPr>
            <p:cNvSpPr/>
            <p:nvPr/>
          </p:nvSpPr>
          <p:spPr>
            <a:xfrm>
              <a:off x="550982" y="5485075"/>
              <a:ext cx="1833743" cy="35118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Consolas" panose="020B0609020204030204" pitchFamily="49" charset="0"/>
                </a:rPr>
                <a:t>GC root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FC99179-370B-91CC-83D4-E57E51ECFC32}"/>
                </a:ext>
              </a:extLst>
            </p:cNvPr>
            <p:cNvSpPr/>
            <p:nvPr/>
          </p:nvSpPr>
          <p:spPr>
            <a:xfrm>
              <a:off x="2676380" y="5485077"/>
              <a:ext cx="1833743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Consolas" panose="020B0609020204030204" pitchFamily="49" charset="0"/>
                </a:rPr>
                <a:t>A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728D222-A506-250A-7200-1C215499926F}"/>
                </a:ext>
              </a:extLst>
            </p:cNvPr>
            <p:cNvSpPr/>
            <p:nvPr/>
          </p:nvSpPr>
          <p:spPr>
            <a:xfrm>
              <a:off x="4801778" y="5485076"/>
              <a:ext cx="1833743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Consolas" panose="020B0609020204030204" pitchFamily="49" charset="0"/>
                </a:rPr>
                <a:t>WeakReference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B759AEE-C22A-80E6-5B44-F91024C923E8}"/>
                </a:ext>
              </a:extLst>
            </p:cNvPr>
            <p:cNvSpPr/>
            <p:nvPr/>
          </p:nvSpPr>
          <p:spPr>
            <a:xfrm>
              <a:off x="6927176" y="5485075"/>
              <a:ext cx="1833743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Consolas" panose="020B0609020204030204" pitchFamily="49" charset="0"/>
                </a:rPr>
                <a:t>B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cxnSp>
          <p:nvCxnSpPr>
            <p:cNvPr id="14" name="Connecteur droit avec flèche 33">
              <a:extLst>
                <a:ext uri="{FF2B5EF4-FFF2-40B4-BE49-F238E27FC236}">
                  <a16:creationId xmlns:a16="http://schemas.microsoft.com/office/drawing/2014/main" id="{168BCAF3-EB51-05C1-5213-7D5361776462}"/>
                </a:ext>
              </a:extLst>
            </p:cNvPr>
            <p:cNvCxnSpPr>
              <a:cxnSpLocks/>
              <a:stCxn id="5" idx="3"/>
              <a:endCxn id="7" idx="1"/>
            </p:cNvCxnSpPr>
            <p:nvPr/>
          </p:nvCxnSpPr>
          <p:spPr>
            <a:xfrm>
              <a:off x="2384725" y="5660667"/>
              <a:ext cx="291655" cy="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eur droit avec flèche 33">
              <a:extLst>
                <a:ext uri="{FF2B5EF4-FFF2-40B4-BE49-F238E27FC236}">
                  <a16:creationId xmlns:a16="http://schemas.microsoft.com/office/drawing/2014/main" id="{4BC99D1E-A79A-E4C4-6D14-7F6A62E71E97}"/>
                </a:ext>
              </a:extLst>
            </p:cNvPr>
            <p:cNvCxnSpPr>
              <a:cxnSpLocks/>
              <a:stCxn id="7" idx="3"/>
              <a:endCxn id="10" idx="1"/>
            </p:cNvCxnSpPr>
            <p:nvPr/>
          </p:nvCxnSpPr>
          <p:spPr>
            <a:xfrm flipV="1">
              <a:off x="4510123" y="5660668"/>
              <a:ext cx="291655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avec flèche 33">
              <a:extLst>
                <a:ext uri="{FF2B5EF4-FFF2-40B4-BE49-F238E27FC236}">
                  <a16:creationId xmlns:a16="http://schemas.microsoft.com/office/drawing/2014/main" id="{06F505F7-53A4-D89C-8FFA-0F4B0E1691F1}"/>
                </a:ext>
              </a:extLst>
            </p:cNvPr>
            <p:cNvCxnSpPr>
              <a:cxnSpLocks/>
              <a:stCxn id="10" idx="3"/>
              <a:endCxn id="13" idx="1"/>
            </p:cNvCxnSpPr>
            <p:nvPr/>
          </p:nvCxnSpPr>
          <p:spPr>
            <a:xfrm flipV="1">
              <a:off x="6635521" y="5660667"/>
              <a:ext cx="291655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624597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C927B-A443-D269-A102-1CBFFF46D4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E2368F2-7903-DF12-5AE9-95D7135CF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18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76EB2B6B-D73A-2E94-EDA6-54D023F4D0FA}"/>
              </a:ext>
            </a:extLst>
          </p:cNvPr>
          <p:cNvSpPr txBox="1"/>
          <p:nvPr/>
        </p:nvSpPr>
        <p:spPr>
          <a:xfrm>
            <a:off x="2038639" y="490008"/>
            <a:ext cx="81147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Classes</a:t>
            </a:r>
            <a:r>
              <a:rPr lang="en-US" sz="3600">
                <a:latin typeface="Fira Sans Condensed SemiBold" panose="020B0603050000020004" pitchFamily="34" charset="0"/>
              </a:rPr>
              <a:t> require strict initialization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2312EA3B-DD98-8346-5715-9BB1B8BF43CF}"/>
              </a:ext>
            </a:extLst>
          </p:cNvPr>
          <p:cNvSpPr txBox="1"/>
          <p:nvPr/>
        </p:nvSpPr>
        <p:spPr>
          <a:xfrm>
            <a:off x="1626880" y="1980996"/>
            <a:ext cx="893824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a </a:t>
            </a: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object</a:t>
            </a:r>
            <a:r>
              <a:rPr lang="en-US" sz="2400">
                <a:latin typeface="Fira Sans Condensed SemiBold" panose="020B0603050000020004" pitchFamily="34" charset="0"/>
              </a:rPr>
              <a:t> must never have an observable state that changes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there’s a place we can mutate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final</a:t>
            </a:r>
            <a:r>
              <a:rPr lang="en-US" sz="2400">
                <a:latin typeface="Fira Sans Condensed SemiBold" panose="020B0603050000020004" pitchFamily="34" charset="0"/>
              </a:rPr>
              <a:t> fields : the constructor</a:t>
            </a: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19108516-9423-A3FC-BEF2-A332A7E1C488}"/>
              </a:ext>
            </a:extLst>
          </p:cNvPr>
          <p:cNvSpPr txBox="1"/>
          <p:nvPr/>
        </p:nvSpPr>
        <p:spPr>
          <a:xfrm>
            <a:off x="5065090" y="4428663"/>
            <a:ext cx="20618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/>
              <a:t>🎬</a:t>
            </a:r>
            <a:r>
              <a:rPr lang="en-US" sz="2400">
                <a:latin typeface="Fira Sans Condensed SemiBold" panose="020B0603050000020004" pitchFamily="34" charset="0"/>
              </a:rPr>
              <a:t>Demo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231C7C-94E3-1C3B-7515-71556E9C59E9}"/>
              </a:ext>
            </a:extLst>
          </p:cNvPr>
          <p:cNvSpPr txBox="1"/>
          <p:nvPr/>
        </p:nvSpPr>
        <p:spPr>
          <a:xfrm>
            <a:off x="1626880" y="3137464"/>
            <a:ext cx="893824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JEP 513 : Flexible Constructor Bodies </a:t>
            </a:r>
            <a:r>
              <a:rPr lang="en-US" sz="2400" i="1">
                <a:latin typeface="Fira Sans Condensed SemiBold" panose="020B0603050000020004" pitchFamily="34" charset="0"/>
              </a:rPr>
              <a:t>(Java 25)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all fields can - and must - be initialized before the call to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super()</a:t>
            </a:r>
          </a:p>
        </p:txBody>
      </p:sp>
    </p:spTree>
    <p:extLst>
      <p:ext uri="{BB962C8B-B14F-4D97-AF65-F5344CB8AC3E}">
        <p14:creationId xmlns:p14="http://schemas.microsoft.com/office/powerpoint/2010/main" val="985639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4" grpId="0"/>
      <p:bldP spid="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A7F15-9044-26C9-F637-4041CA12E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05F5041-518B-9DDA-542A-34F347FB78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19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19803458-973C-4EF8-3B93-2BA2BD7BAED5}"/>
              </a:ext>
            </a:extLst>
          </p:cNvPr>
          <p:cNvSpPr txBox="1"/>
          <p:nvPr/>
        </p:nvSpPr>
        <p:spPr>
          <a:xfrm>
            <a:off x="2681444" y="490008"/>
            <a:ext cx="68291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Are </a:t>
            </a:r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Class </a:t>
            </a:r>
            <a:r>
              <a:rPr lang="en-US" sz="3600">
                <a:latin typeface="Fira Sans Condensed SemiBold" panose="020B0603050000020004" pitchFamily="34" charset="0"/>
              </a:rPr>
              <a:t>instances objects ?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22E063BD-09FE-07F6-F3AA-8D4903C83DF9}"/>
              </a:ext>
            </a:extLst>
          </p:cNvPr>
          <p:cNvSpPr txBox="1"/>
          <p:nvPr/>
        </p:nvSpPr>
        <p:spPr>
          <a:xfrm>
            <a:off x="2681443" y="2429337"/>
            <a:ext cx="682911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Yes !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They can even implement interfaces…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… or extend an abstract class</a:t>
            </a: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93E47F34-ECFF-0020-9ED4-16B24B2631E3}"/>
              </a:ext>
            </a:extLst>
          </p:cNvPr>
          <p:cNvSpPr txBox="1"/>
          <p:nvPr/>
        </p:nvSpPr>
        <p:spPr>
          <a:xfrm>
            <a:off x="5065090" y="4428663"/>
            <a:ext cx="20618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/>
              <a:t>🎬</a:t>
            </a:r>
            <a:r>
              <a:rPr lang="en-US" sz="2400">
                <a:latin typeface="Fira Sans Condensed SemiBold" panose="020B0603050000020004" pitchFamily="34" charset="0"/>
              </a:rPr>
              <a:t>Demo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887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9473F-BEBD-6849-3874-92220E530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0794B28-9B68-CA78-CA93-860C2CABE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20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4036C476-2041-EA3E-BE32-21B6A74622FF}"/>
              </a:ext>
            </a:extLst>
          </p:cNvPr>
          <p:cNvSpPr txBox="1"/>
          <p:nvPr/>
        </p:nvSpPr>
        <p:spPr>
          <a:xfrm>
            <a:off x="1629874" y="490008"/>
            <a:ext cx="89322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Storing </a:t>
            </a:r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Class </a:t>
            </a:r>
            <a:r>
              <a:rPr lang="en-US" sz="3600">
                <a:latin typeface="Fira Sans Condensed SemiBold" panose="020B0603050000020004" pitchFamily="34" charset="0"/>
              </a:rPr>
              <a:t>instances in fields/array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2FBCB8AD-FD33-1FFF-1A95-A35F28DC0CB2}"/>
              </a:ext>
            </a:extLst>
          </p:cNvPr>
          <p:cNvSpPr txBox="1"/>
          <p:nvPr/>
        </p:nvSpPr>
        <p:spPr>
          <a:xfrm>
            <a:off x="2753543" y="1624940"/>
            <a:ext cx="66849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It works, but the JVM might not be able to optimize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61F403E-CE2C-11A1-EEDF-6BBEB33DE7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85415" y="2367923"/>
            <a:ext cx="4221170" cy="1323439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>
                <a:solidFill>
                  <a:srgbClr val="0033B3"/>
                </a:solidFill>
                <a:latin typeface="Consolas" panose="020B0609020204030204" pitchFamily="49" charset="0"/>
              </a:rPr>
              <a:t>class </a:t>
            </a:r>
            <a:r>
              <a:rPr lang="fr-FR" altLang="fr-FR" sz="2000">
                <a:solidFill>
                  <a:srgbClr val="000000"/>
                </a:solidFill>
                <a:latin typeface="Consolas" panose="020B0609020204030204" pitchFamily="49" charset="0"/>
              </a:rPr>
              <a:t>Ray {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>
                <a:solidFill>
                  <a:srgbClr val="000000"/>
                </a:solidFill>
                <a:latin typeface="Consolas" panose="020B0609020204030204" pitchFamily="49" charset="0"/>
              </a:rPr>
              <a:t>    Vec3 </a:t>
            </a:r>
            <a:r>
              <a:rPr lang="fr-FR" altLang="fr-FR" sz="2000">
                <a:solidFill>
                  <a:srgbClr val="871094"/>
                </a:solidFill>
                <a:latin typeface="Consolas" panose="020B0609020204030204" pitchFamily="49" charset="0"/>
              </a:rPr>
              <a:t>origin</a:t>
            </a:r>
            <a:r>
              <a:rPr lang="fr-FR" altLang="fr-FR" sz="200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>
                <a:solidFill>
                  <a:srgbClr val="000000"/>
                </a:solidFill>
                <a:latin typeface="Consolas" panose="020B0609020204030204" pitchFamily="49" charset="0"/>
              </a:rPr>
              <a:t>    Vec3 </a:t>
            </a:r>
            <a:r>
              <a:rPr lang="fr-FR" altLang="fr-FR" sz="2000">
                <a:solidFill>
                  <a:srgbClr val="871094"/>
                </a:solidFill>
                <a:latin typeface="Consolas" panose="020B0609020204030204" pitchFamily="49" charset="0"/>
              </a:rPr>
              <a:t>direction</a:t>
            </a:r>
            <a:r>
              <a:rPr lang="fr-FR" altLang="fr-FR" sz="200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133BBD7D-A1C2-CE9B-3151-A2EA44912A15}"/>
              </a:ext>
            </a:extLst>
          </p:cNvPr>
          <p:cNvSpPr txBox="1"/>
          <p:nvPr/>
        </p:nvSpPr>
        <p:spPr>
          <a:xfrm>
            <a:off x="1629874" y="4135529"/>
            <a:ext cx="893225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Reading/storing the value instance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origin</a:t>
            </a:r>
            <a:r>
              <a:rPr lang="en-US" sz="2400">
                <a:latin typeface="Fira Sans Condensed SemiBold" panose="020B0603050000020004" pitchFamily="34" charset="0"/>
              </a:rPr>
              <a:t>/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direction</a:t>
            </a:r>
            <a:r>
              <a:rPr lang="en-US" sz="2400">
                <a:latin typeface="Fira Sans Condensed SemiBold" panose="020B0603050000020004" pitchFamily="34" charset="0"/>
              </a:rPr>
              <a:t> requires </a:t>
            </a: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several reads/writes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The VM spec mandates reference reads/writes to be </a:t>
            </a: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atomic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64</a:t>
            </a:r>
            <a:r>
              <a:rPr lang="en-US" sz="2400">
                <a:latin typeface="Fira Sans Condensed SemiBold" panose="020B0603050000020004" pitchFamily="34" charset="0"/>
              </a:rPr>
              <a:t> bit CPU means a maximum of </a:t>
            </a: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8</a:t>
            </a:r>
            <a:r>
              <a:rPr lang="en-US" sz="2400">
                <a:latin typeface="Fira Sans Condensed SemiBold" panose="020B0603050000020004" pitchFamily="34" charset="0"/>
              </a:rPr>
              <a:t> bytes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null</a:t>
            </a:r>
            <a:r>
              <a:rPr lang="en-US" sz="2400">
                <a:latin typeface="Fira Sans Condensed SemiBold" panose="020B0603050000020004" pitchFamily="34" charset="0"/>
              </a:rPr>
              <a:t>  flag required : </a:t>
            </a: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7</a:t>
            </a:r>
            <a:r>
              <a:rPr lang="en-US" sz="2400">
                <a:latin typeface="Fira Sans Condensed SemiBold" panose="020B0603050000020004" pitchFamily="34" charset="0"/>
              </a:rPr>
              <a:t> bytes of useful payload (</a:t>
            </a: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56</a:t>
            </a:r>
            <a:r>
              <a:rPr lang="en-US" sz="2400">
                <a:latin typeface="Fira Sans Condensed SemiBold" panose="020B0603050000020004" pitchFamily="34" charset="0"/>
              </a:rPr>
              <a:t> bits)</a:t>
            </a:r>
          </a:p>
        </p:txBody>
      </p:sp>
    </p:spTree>
    <p:extLst>
      <p:ext uri="{BB962C8B-B14F-4D97-AF65-F5344CB8AC3E}">
        <p14:creationId xmlns:p14="http://schemas.microsoft.com/office/powerpoint/2010/main" val="1185174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7E332-B134-7554-2F12-E8DF14FCA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7E95868F-3048-77AB-E274-DBA1768EF13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90B0055-0FFA-B157-7C03-62A5BF656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21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706AC4D-FEF8-088C-C5C7-2BF2635AB28C}"/>
              </a:ext>
            </a:extLst>
          </p:cNvPr>
          <p:cNvSpPr txBox="1"/>
          <p:nvPr/>
        </p:nvSpPr>
        <p:spPr>
          <a:xfrm>
            <a:off x="2447405" y="5766532"/>
            <a:ext cx="72971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solidFill>
                  <a:schemeClr val="bg2"/>
                </a:solidFill>
                <a:latin typeface="Fira Sans Condensed SemiBold" panose="020B0603050000020004" pitchFamily="34" charset="0"/>
              </a:rPr>
              <a:t>Let’s generate a blackhole, shall we ?</a:t>
            </a:r>
            <a:endParaRPr lang="fr-FR" sz="3600" dirty="0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5" name="Slide Number Placeholder 1">
            <a:extLst>
              <a:ext uri="{FF2B5EF4-FFF2-40B4-BE49-F238E27FC236}">
                <a16:creationId xmlns:a16="http://schemas.microsoft.com/office/drawing/2014/main" id="{B9C46D8C-6F7B-6469-63DA-476129B0F557}"/>
              </a:ext>
            </a:extLst>
          </p:cNvPr>
          <p:cNvSpPr txBox="1">
            <a:spLocks/>
          </p:cNvSpPr>
          <p:nvPr/>
        </p:nvSpPr>
        <p:spPr>
          <a:xfrm>
            <a:off x="9449844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Fira Sans Condensed SemiBold" panose="020B06030500000200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3FBCAFE-9BA5-4F25-83BC-8351B4665D24}" type="slidenum">
              <a:rPr lang="fr-FR" smtClean="0">
                <a:solidFill>
                  <a:schemeClr val="bg2"/>
                </a:solidFill>
              </a:rPr>
              <a:pPr/>
              <a:t>21</a:t>
            </a:fld>
            <a:endParaRPr lang="fr-FR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34467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97A99-3222-AC27-12F7-F2CB58F31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85CCED2D-A115-D0DE-A2E3-3140078F2B4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C7A333F-1D41-4FA0-4BD3-9E3133482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>
                <a:solidFill>
                  <a:schemeClr val="bg2"/>
                </a:solidFill>
              </a:rPr>
              <a:t>22</a:t>
            </a:fld>
            <a:endParaRPr lang="fr-FR">
              <a:solidFill>
                <a:schemeClr val="bg2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304B39-9DF1-0958-4E9D-56B7378F4005}"/>
              </a:ext>
            </a:extLst>
          </p:cNvPr>
          <p:cNvSpPr txBox="1"/>
          <p:nvPr/>
        </p:nvSpPr>
        <p:spPr>
          <a:xfrm>
            <a:off x="543140" y="3994484"/>
            <a:ext cx="909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camera</a:t>
            </a:r>
            <a:endParaRPr lang="fr-FR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FCA29D-CE20-E014-3AED-68E50EB35EC1}"/>
              </a:ext>
            </a:extLst>
          </p:cNvPr>
          <p:cNvSpPr txBox="1"/>
          <p:nvPr/>
        </p:nvSpPr>
        <p:spPr>
          <a:xfrm>
            <a:off x="3012479" y="5405044"/>
            <a:ext cx="13147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image</a:t>
            </a:r>
            <a:b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</a:br>
            <a:r>
              <a:rPr lang="en-US" i="1">
                <a:solidFill>
                  <a:schemeClr val="bg2"/>
                </a:solidFill>
                <a:latin typeface="Fira Sans Condensed SemiBold" panose="020B0603050000020004" pitchFamily="34" charset="0"/>
              </a:rPr>
              <a:t>1 ray / pixel</a:t>
            </a:r>
            <a:endParaRPr lang="fr-FR" i="1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237E9D-C03F-C07F-D835-74F8148A2D57}"/>
              </a:ext>
            </a:extLst>
          </p:cNvPr>
          <p:cNvSpPr txBox="1"/>
          <p:nvPr/>
        </p:nvSpPr>
        <p:spPr>
          <a:xfrm>
            <a:off x="9069518" y="1273229"/>
            <a:ext cx="15905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photon sphere</a:t>
            </a:r>
            <a:endParaRPr lang="fr-FR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F94CD94-36E8-67E2-9E05-F01E11AB04A4}"/>
              </a:ext>
            </a:extLst>
          </p:cNvPr>
          <p:cNvCxnSpPr>
            <a:cxnSpLocks/>
            <a:stCxn id="12" idx="2"/>
          </p:cNvCxnSpPr>
          <p:nvPr/>
        </p:nvCxnSpPr>
        <p:spPr>
          <a:xfrm flipH="1">
            <a:off x="9563386" y="1642561"/>
            <a:ext cx="301382" cy="502498"/>
          </a:xfrm>
          <a:prstGeom prst="straightConnector1">
            <a:avLst/>
          </a:prstGeom>
          <a:ln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528539F-A4D8-D407-6200-B8E9BB39498B}"/>
              </a:ext>
            </a:extLst>
          </p:cNvPr>
          <p:cNvSpPr txBox="1"/>
          <p:nvPr/>
        </p:nvSpPr>
        <p:spPr>
          <a:xfrm>
            <a:off x="5410930" y="783478"/>
            <a:ext cx="1936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ray-marching step</a:t>
            </a:r>
            <a:endParaRPr lang="fr-FR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21" name="Right Brace 20">
            <a:extLst>
              <a:ext uri="{FF2B5EF4-FFF2-40B4-BE49-F238E27FC236}">
                <a16:creationId xmlns:a16="http://schemas.microsoft.com/office/drawing/2014/main" id="{AFFDA0C2-5B68-488C-8295-E98087B9B938}"/>
              </a:ext>
            </a:extLst>
          </p:cNvPr>
          <p:cNvSpPr/>
          <p:nvPr/>
        </p:nvSpPr>
        <p:spPr>
          <a:xfrm rot="16385211">
            <a:off x="6288867" y="955554"/>
            <a:ext cx="180876" cy="607859"/>
          </a:xfrm>
          <a:prstGeom prst="rightBrac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2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367073-E4E6-2EE8-6296-EC0DEA9DEF2F}"/>
              </a:ext>
            </a:extLst>
          </p:cNvPr>
          <p:cNvSpPr txBox="1"/>
          <p:nvPr/>
        </p:nvSpPr>
        <p:spPr>
          <a:xfrm>
            <a:off x="6070946" y="4574174"/>
            <a:ext cx="1531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accretion disk</a:t>
            </a:r>
            <a:endParaRPr lang="fr-FR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A8EA53A-0B01-2359-9EFC-B77F70FDA803}"/>
              </a:ext>
            </a:extLst>
          </p:cNvPr>
          <p:cNvCxnSpPr>
            <a:cxnSpLocks/>
            <a:stCxn id="23" idx="0"/>
          </p:cNvCxnSpPr>
          <p:nvPr/>
        </p:nvCxnSpPr>
        <p:spPr>
          <a:xfrm flipV="1">
            <a:off x="6836540" y="3667565"/>
            <a:ext cx="444284" cy="906609"/>
          </a:xfrm>
          <a:prstGeom prst="straightConnector1">
            <a:avLst/>
          </a:prstGeom>
          <a:ln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E2AAAE6A-A24B-2990-C09A-4C7CEF3F762D}"/>
              </a:ext>
            </a:extLst>
          </p:cNvPr>
          <p:cNvSpPr txBox="1"/>
          <p:nvPr/>
        </p:nvSpPr>
        <p:spPr>
          <a:xfrm>
            <a:off x="9894121" y="5215439"/>
            <a:ext cx="1492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event horizon</a:t>
            </a:r>
            <a:endParaRPr lang="fr-FR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2DEAA7B-E0E5-3C4F-2C00-F13C8CCCF1FB}"/>
              </a:ext>
            </a:extLst>
          </p:cNvPr>
          <p:cNvCxnSpPr>
            <a:cxnSpLocks/>
            <a:stCxn id="29" idx="0"/>
          </p:cNvCxnSpPr>
          <p:nvPr/>
        </p:nvCxnSpPr>
        <p:spPr>
          <a:xfrm flipH="1" flipV="1">
            <a:off x="9449844" y="4120869"/>
            <a:ext cx="1190635" cy="1094570"/>
          </a:xfrm>
          <a:prstGeom prst="straightConnector1">
            <a:avLst/>
          </a:prstGeom>
          <a:ln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53851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C78613-08E0-BD74-9A67-DB5B2D755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46EEC2D-2D02-B68C-DE54-C456414078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23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38C4249D-E540-B4B0-C3DC-535FDE9F9899}"/>
              </a:ext>
            </a:extLst>
          </p:cNvPr>
          <p:cNvSpPr txBox="1"/>
          <p:nvPr/>
        </p:nvSpPr>
        <p:spPr>
          <a:xfrm>
            <a:off x="3864460" y="490008"/>
            <a:ext cx="44630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Rendering a blackhole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EAF201C6-28DE-58EB-2DAD-6A4DEF48AC00}"/>
              </a:ext>
            </a:extLst>
          </p:cNvPr>
          <p:cNvSpPr txBox="1"/>
          <p:nvPr/>
        </p:nvSpPr>
        <p:spPr>
          <a:xfrm>
            <a:off x="1773828" y="1604314"/>
            <a:ext cx="864434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Trace thousands of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Ray</a:t>
            </a:r>
            <a:r>
              <a:rPr lang="en-US" sz="2400">
                <a:latin typeface="Fira Sans Condensed SemiBold" panose="020B0603050000020004" pitchFamily="34" charset="0"/>
              </a:rPr>
              <a:t> from the camera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Use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Vec3</a:t>
            </a:r>
            <a:r>
              <a:rPr lang="en-US" sz="2400">
                <a:latin typeface="Fira Sans Condensed SemiBold" panose="020B0603050000020004" pitchFamily="34" charset="0"/>
              </a:rPr>
              <a:t> to represent and update positions and directions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The black hole curves spacetime, bending each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Ray</a:t>
            </a:r>
            <a:r>
              <a:rPr lang="en-US" sz="2400">
                <a:latin typeface="Fira Sans Condensed SemiBold" panose="020B0603050000020004" pitchFamily="34" charset="0"/>
              </a:rPr>
              <a:t>’s trajectory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Advance each ray in small steps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Accumulate the light encountered along the path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Produce the pixel’s final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Color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161A580C-5E28-E439-3273-1AD4A8DCA3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52540" y="4380613"/>
            <a:ext cx="7286920" cy="40011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record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Vec3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{}</a:t>
            </a:r>
            <a:endParaRPr kumimoji="0" lang="fr-FR" altLang="fr-FR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7B9E3728-5C13-7F5B-9C72-4C6B88A9A6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52540" y="5002397"/>
            <a:ext cx="7286920" cy="40011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record </a:t>
            </a: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Ray</a:t>
            </a: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altLang="fr-FR" sz="2000">
                <a:solidFill>
                  <a:srgbClr val="000000"/>
                </a:solidFill>
                <a:latin typeface="Consolas" panose="020B0609020204030204" pitchFamily="49" charset="0"/>
              </a:rPr>
              <a:t>Vec3</a:t>
            </a: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origin</a:t>
            </a: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altLang="fr-FR" sz="2000">
                <a:solidFill>
                  <a:srgbClr val="000000"/>
                </a:solidFill>
                <a:latin typeface="Consolas" panose="020B0609020204030204" pitchFamily="49" charset="0"/>
              </a:rPr>
              <a:t>Vec3</a:t>
            </a: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direction</a:t>
            </a: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{}</a:t>
            </a:r>
            <a:endParaRPr kumimoji="0" lang="fr-FR" altLang="fr-FR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1CE785D7-A4B9-7FAD-D5DC-0D295C60F6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52540" y="5624181"/>
            <a:ext cx="7286920" cy="40011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record </a:t>
            </a: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Color</a:t>
            </a: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altLang="fr-FR" sz="2000">
                <a:solidFill>
                  <a:srgbClr val="0033B3"/>
                </a:solidFill>
                <a:latin typeface="Consolas" panose="020B0609020204030204" pitchFamily="49" charset="0"/>
              </a:rPr>
              <a:t>double </a:t>
            </a:r>
            <a:r>
              <a:rPr lang="fr-FR" altLang="fr-FR" sz="2000">
                <a:solidFill>
                  <a:srgbClr val="871094"/>
                </a:solidFill>
                <a:latin typeface="Consolas" panose="020B0609020204030204" pitchFamily="49" charset="0"/>
              </a:rPr>
              <a:t>r</a:t>
            </a:r>
            <a:r>
              <a:rPr lang="fr-FR" altLang="fr-FR" sz="2000">
                <a:solidFill>
                  <a:srgbClr val="080808"/>
                </a:solidFill>
                <a:latin typeface="Consolas" panose="020B0609020204030204" pitchFamily="49" charset="0"/>
              </a:rPr>
              <a:t>, </a:t>
            </a:r>
            <a:r>
              <a:rPr lang="fr-FR" altLang="fr-FR" sz="2000">
                <a:solidFill>
                  <a:srgbClr val="0033B3"/>
                </a:solidFill>
                <a:latin typeface="Consolas" panose="020B0609020204030204" pitchFamily="49" charset="0"/>
              </a:rPr>
              <a:t>double </a:t>
            </a:r>
            <a:r>
              <a:rPr lang="fr-FR" altLang="fr-FR" sz="2000">
                <a:solidFill>
                  <a:srgbClr val="871094"/>
                </a:solidFill>
                <a:latin typeface="Consolas" panose="020B0609020204030204" pitchFamily="49" charset="0"/>
              </a:rPr>
              <a:t>g</a:t>
            </a:r>
            <a:r>
              <a:rPr lang="fr-FR" altLang="fr-FR" sz="2000">
                <a:solidFill>
                  <a:srgbClr val="080808"/>
                </a:solidFill>
                <a:latin typeface="Consolas" panose="020B0609020204030204" pitchFamily="49" charset="0"/>
              </a:rPr>
              <a:t>, </a:t>
            </a:r>
            <a:r>
              <a:rPr lang="fr-FR" altLang="fr-FR" sz="2000">
                <a:solidFill>
                  <a:srgbClr val="0033B3"/>
                </a:solidFill>
                <a:latin typeface="Consolas" panose="020B0609020204030204" pitchFamily="49" charset="0"/>
              </a:rPr>
              <a:t>double </a:t>
            </a:r>
            <a:r>
              <a:rPr lang="fr-FR" altLang="fr-FR" sz="2000">
                <a:solidFill>
                  <a:srgbClr val="871094"/>
                </a:solidFill>
                <a:latin typeface="Consolas" panose="020B0609020204030204" pitchFamily="49" charset="0"/>
              </a:rPr>
              <a:t>b</a:t>
            </a: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{}</a:t>
            </a:r>
            <a:endParaRPr kumimoji="0" lang="fr-FR" altLang="fr-FR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883E9D0-CCD7-4B04-614B-0B52051506A2}"/>
              </a:ext>
            </a:extLst>
          </p:cNvPr>
          <p:cNvSpPr txBox="1"/>
          <p:nvPr/>
        </p:nvSpPr>
        <p:spPr>
          <a:xfrm>
            <a:off x="5065090" y="6213163"/>
            <a:ext cx="20618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/>
              <a:t>🎬</a:t>
            </a:r>
            <a:r>
              <a:rPr lang="en-US" sz="2400">
                <a:latin typeface="Fira Sans Condensed SemiBold" panose="020B0603050000020004" pitchFamily="34" charset="0"/>
              </a:rPr>
              <a:t>Demo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9985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807D6D-117F-B43E-4D41-47D363090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646F527-AC4A-0E38-4B45-594B359B99B6}"/>
              </a:ext>
            </a:extLst>
          </p:cNvPr>
          <p:cNvSpPr txBox="1"/>
          <p:nvPr/>
        </p:nvSpPr>
        <p:spPr>
          <a:xfrm>
            <a:off x="4940876" y="1508596"/>
            <a:ext cx="23102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Identity vs Value</a:t>
            </a:r>
            <a:endParaRPr lang="fr-FR" sz="2400">
              <a:latin typeface="Fira Sans Condensed SemiBold" panose="020B0603050000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5B3C1C-33AD-9FA6-E394-614F0D9B1EE3}"/>
              </a:ext>
            </a:extLst>
          </p:cNvPr>
          <p:cNvSpPr txBox="1"/>
          <p:nvPr/>
        </p:nvSpPr>
        <p:spPr>
          <a:xfrm>
            <a:off x="1196281" y="2378890"/>
            <a:ext cx="9799439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u="sng">
                <a:latin typeface="Consolas" panose="020B0609020204030204" pitchFamily="49" charset="0"/>
              </a:rPr>
              <a:t>Benchmark                 Mode  Cnt          Score    Error   Units</a:t>
            </a:r>
            <a:br>
              <a:rPr lang="fr-FR" sz="2000" u="sng">
                <a:latin typeface="Consolas" panose="020B0609020204030204" pitchFamily="49" charset="0"/>
              </a:rPr>
            </a:br>
            <a:endParaRPr lang="fr-FR" sz="2000" u="sng">
              <a:latin typeface="Consolas" panose="020B0609020204030204" pitchFamily="49" charset="0"/>
            </a:endParaRPr>
          </a:p>
          <a:p>
            <a:r>
              <a:rPr lang="fr-FR" sz="2000">
                <a:solidFill>
                  <a:schemeClr val="accent5">
                    <a:lumMod val="50000"/>
                  </a:schemeClr>
                </a:solidFill>
                <a:latin typeface="Consolas" panose="020B0609020204030204" pitchFamily="49" charset="0"/>
              </a:rPr>
              <a:t>renderWithIdentity        avgt    5         52,593 ±  1,389   ms/op</a:t>
            </a:r>
          </a:p>
          <a:p>
            <a:r>
              <a:rPr lang="fr-FR" sz="2000">
                <a:solidFill>
                  <a:schemeClr val="accent5">
                    <a:lumMod val="50000"/>
                  </a:schemeClr>
                </a:solidFill>
                <a:latin typeface="Consolas" panose="020B0609020204030204" pitchFamily="49" charset="0"/>
              </a:rPr>
              <a:t>gc.alloc.rate             avgt    5       2022,373 ± 53,553  MB/sec</a:t>
            </a:r>
          </a:p>
          <a:p>
            <a:r>
              <a:rPr lang="fr-FR" sz="2000">
                <a:solidFill>
                  <a:schemeClr val="accent5">
                    <a:lumMod val="50000"/>
                  </a:schemeClr>
                </a:solidFill>
                <a:latin typeface="Consolas" panose="020B0609020204030204" pitchFamily="49" charset="0"/>
              </a:rPr>
              <a:t>gc.alloc.rate.norm        avgt    5  111536309,830 ±  9,108    B/op</a:t>
            </a:r>
          </a:p>
          <a:p>
            <a:r>
              <a:rPr lang="fr-FR" sz="2000">
                <a:solidFill>
                  <a:schemeClr val="accent5">
                    <a:lumMod val="50000"/>
                  </a:schemeClr>
                </a:solidFill>
                <a:latin typeface="Consolas" panose="020B0609020204030204" pitchFamily="49" charset="0"/>
              </a:rPr>
              <a:t>gc.count                  avgt    5        128,000           counts</a:t>
            </a:r>
          </a:p>
          <a:p>
            <a:r>
              <a:rPr lang="fr-FR" sz="2000">
                <a:solidFill>
                  <a:schemeClr val="accent5">
                    <a:lumMod val="50000"/>
                  </a:schemeClr>
                </a:solidFill>
                <a:latin typeface="Consolas" panose="020B0609020204030204" pitchFamily="49" charset="0"/>
              </a:rPr>
              <a:t>gc.time                   avgt    5         51,000               ms</a:t>
            </a:r>
          </a:p>
          <a:p>
            <a:endParaRPr lang="fr-FR" sz="2000">
              <a:latin typeface="Consolas" panose="020B0609020204030204" pitchFamily="49" charset="0"/>
            </a:endParaRPr>
          </a:p>
          <a:p>
            <a:r>
              <a:rPr lang="fr-FR" sz="20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renderWithValue           avgt    5         48,566 ±  1,727   ms/op</a:t>
            </a:r>
          </a:p>
          <a:p>
            <a:r>
              <a:rPr lang="fr-FR" sz="20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gc.alloc.rate             avgt    5          4,151 ±  0,147  MB/sec</a:t>
            </a:r>
          </a:p>
          <a:p>
            <a:r>
              <a:rPr lang="fr-FR" sz="20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gc.alloc.rate.norm        avgt    5     211368,714 ±  7,780    B/op</a:t>
            </a:r>
          </a:p>
          <a:p>
            <a:r>
              <a:rPr lang="fr-FR" sz="20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gc.count                  avgt    5            ≈ 0           counts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3A3B12-534F-64E7-98A3-584C6A62F7B4}"/>
              </a:ext>
            </a:extLst>
          </p:cNvPr>
          <p:cNvSpPr txBox="1"/>
          <p:nvPr/>
        </p:nvSpPr>
        <p:spPr>
          <a:xfrm>
            <a:off x="4928048" y="463504"/>
            <a:ext cx="23358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Benchmark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33583F3-3EB9-FAB3-4F35-E7CFA3DC9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175545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5D85D-5E8C-D4CC-A4F8-9A89FABF9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1BE3330-0952-87D5-7C09-C7A19BF216AD}"/>
              </a:ext>
            </a:extLst>
          </p:cNvPr>
          <p:cNvSpPr txBox="1"/>
          <p:nvPr/>
        </p:nvSpPr>
        <p:spPr>
          <a:xfrm>
            <a:off x="5251858" y="359770"/>
            <a:ext cx="16882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Identity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101F543-7508-E795-3099-BB3A16CFC1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25</a:t>
            </a:fld>
            <a:endParaRPr lang="fr-FR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D88249-B58B-19C0-5777-891AD8350E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06101"/>
            <a:ext cx="12192000" cy="5388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1788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4C116-8761-0BA1-5D8C-3B4F4CA1C1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5DA9582-5CE7-27C9-1D6F-0A70A686BE9F}"/>
              </a:ext>
            </a:extLst>
          </p:cNvPr>
          <p:cNvSpPr txBox="1"/>
          <p:nvPr/>
        </p:nvSpPr>
        <p:spPr>
          <a:xfrm>
            <a:off x="5469867" y="359770"/>
            <a:ext cx="12522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Value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D644CE8-5284-3BB7-0102-1E625B9AAF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26</a:t>
            </a:fld>
            <a:endParaRPr lang="fr-FR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11AC5E7-0899-9B8A-F910-161B65F8BC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21131"/>
            <a:ext cx="12192000" cy="5416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882808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35D2B-C30E-7AC6-AE6B-F118DC7BD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9">
            <a:extLst>
              <a:ext uri="{FF2B5EF4-FFF2-40B4-BE49-F238E27FC236}">
                <a16:creationId xmlns:a16="http://schemas.microsoft.com/office/drawing/2014/main" id="{A35402DB-77AE-FD8E-387D-76BA8F479D90}"/>
              </a:ext>
            </a:extLst>
          </p:cNvPr>
          <p:cNvSpPr txBox="1"/>
          <p:nvPr/>
        </p:nvSpPr>
        <p:spPr>
          <a:xfrm>
            <a:off x="1668379" y="3105835"/>
            <a:ext cx="88552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This is not </a:t>
            </a:r>
            <a:r>
              <a:rPr lang="en-US" sz="3600" i="1">
                <a:latin typeface="Fira Sans Condensed SemiBold" panose="020B0603050000020004" pitchFamily="34" charset="0"/>
              </a:rPr>
              <a:t>“just”</a:t>
            </a:r>
            <a:r>
              <a:rPr lang="en-US" sz="3600">
                <a:latin typeface="Fira Sans Condensed SemiBold" panose="020B0603050000020004" pitchFamily="34" charset="0"/>
              </a:rPr>
              <a:t> a performance improvement</a:t>
            </a:r>
            <a:endParaRPr lang="fr-FR" sz="3600" b="1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FA954F8-6912-5C1E-770E-CDEE3872D2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232022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7B811-C1EC-1F1B-C202-B237CD1AF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3150643-66FF-05EB-6913-E9B69BE52258}"/>
              </a:ext>
            </a:extLst>
          </p:cNvPr>
          <p:cNvSpPr txBox="1"/>
          <p:nvPr/>
        </p:nvSpPr>
        <p:spPr>
          <a:xfrm>
            <a:off x="4216319" y="463504"/>
            <a:ext cx="37593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Changes in the JDK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2" name="ZoneTexte 9">
            <a:extLst>
              <a:ext uri="{FF2B5EF4-FFF2-40B4-BE49-F238E27FC236}">
                <a16:creationId xmlns:a16="http://schemas.microsoft.com/office/drawing/2014/main" id="{84FBF85E-2FF7-B9B1-D2BF-83C849C5DD75}"/>
              </a:ext>
            </a:extLst>
          </p:cNvPr>
          <p:cNvSpPr txBox="1"/>
          <p:nvPr/>
        </p:nvSpPr>
        <p:spPr>
          <a:xfrm>
            <a:off x="1206690" y="1966419"/>
            <a:ext cx="9778621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@ValueBased</a:t>
            </a:r>
            <a:r>
              <a:rPr lang="en-US" sz="2400" b="1">
                <a:latin typeface="Consolas" panose="020B0609020204030204" pitchFamily="49" charset="0"/>
              </a:rPr>
              <a:t> -&gt; </a:t>
            </a:r>
            <a:r>
              <a:rPr lang="en-US" sz="2400" b="1">
                <a:latin typeface="Fira Sans Condensed SemiBold" panose="020B0603050000020004" pitchFamily="34" charset="0"/>
              </a:rPr>
              <a:t>Value Types</a:t>
            </a: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sz="2400">
              <a:latin typeface="Fira Sans Condensed SemiBold" panose="020B06030500000200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Consolas" panose="020B0609020204030204" pitchFamily="49" charset="0"/>
              </a:rPr>
              <a:t>java.lang :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Integer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Long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Float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en-US" sz="2400">
                <a:latin typeface="Consolas" panose="020B0609020204030204" pitchFamily="49" charset="0"/>
              </a:rPr>
              <a:t> 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Consolas" panose="020B0609020204030204" pitchFamily="49" charset="0"/>
              </a:rPr>
              <a:t>java.util :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Optional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OptionalInt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OptionalLong</a:t>
            </a:r>
            <a:r>
              <a:rPr lang="en-US" sz="2400">
                <a:latin typeface="Consolas" panose="020B0609020204030204" pitchFamily="49" charset="0"/>
              </a:rPr>
              <a:t> …</a:t>
            </a:r>
            <a:endParaRPr lang="en-US" sz="2400" i="1">
              <a:latin typeface="Consolas" panose="020B0609020204030204" pitchFamily="49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Consolas" panose="020B0609020204030204" pitchFamily="49" charset="0"/>
              </a:rPr>
              <a:t>java.time :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LocalDate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LocalTime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Duration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Instant</a:t>
            </a:r>
            <a:r>
              <a:rPr lang="en-US" sz="2400">
                <a:latin typeface="Consolas" panose="020B0609020204030204" pitchFamily="49" charset="0"/>
              </a:rPr>
              <a:t> …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US" sz="2400" b="1">
              <a:solidFill>
                <a:schemeClr val="accent1"/>
              </a:solidFill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JEP 390: Warnings for Value-Based Classes </a:t>
            </a:r>
            <a:r>
              <a:rPr lang="en-US" sz="2400" i="1">
                <a:latin typeface="Fira Sans Condensed SemiBold" panose="020B0603050000020004" pitchFamily="34" charset="0"/>
              </a:rPr>
              <a:t>(JDK 16)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82AF909-34C6-55C3-6372-462009729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28</a:t>
            </a:fld>
            <a:endParaRPr lang="fr-FR"/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ED71D6A6-CE90-BEDE-E8C5-2D9D0EB8A5C3}"/>
              </a:ext>
            </a:extLst>
          </p:cNvPr>
          <p:cNvSpPr txBox="1"/>
          <p:nvPr/>
        </p:nvSpPr>
        <p:spPr>
          <a:xfrm>
            <a:off x="5065090" y="5415294"/>
            <a:ext cx="20618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/>
              <a:t>🎬</a:t>
            </a:r>
            <a:r>
              <a:rPr lang="en-US" sz="2400">
                <a:latin typeface="Fira Sans Condensed SemiBold" panose="020B0603050000020004" pitchFamily="34" charset="0"/>
              </a:rPr>
              <a:t>Demo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99805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7643B-9BEB-1189-D79E-CA73D26E0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5093943-F75F-8912-14EE-7665FAF591C1}"/>
              </a:ext>
            </a:extLst>
          </p:cNvPr>
          <p:cNvSpPr txBox="1"/>
          <p:nvPr/>
        </p:nvSpPr>
        <p:spPr>
          <a:xfrm>
            <a:off x="3085406" y="463504"/>
            <a:ext cx="60212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Java compiler and VM </a:t>
            </a:r>
            <a:r>
              <a:rPr lang="en-US" sz="3600" i="1">
                <a:latin typeface="Fira Sans Condensed SemiBold" panose="020B0603050000020004" pitchFamily="34" charset="0"/>
              </a:rPr>
              <a:t>(JEP 539)</a:t>
            </a:r>
            <a:endParaRPr lang="fr-FR" sz="3600" i="1">
              <a:latin typeface="Fira Sans Condensed SemiBold" panose="020B0603050000020004" pitchFamily="34" charset="0"/>
            </a:endParaRPr>
          </a:p>
        </p:txBody>
      </p:sp>
      <p:sp>
        <p:nvSpPr>
          <p:cNvPr id="2" name="ZoneTexte 9">
            <a:extLst>
              <a:ext uri="{FF2B5EF4-FFF2-40B4-BE49-F238E27FC236}">
                <a16:creationId xmlns:a16="http://schemas.microsoft.com/office/drawing/2014/main" id="{A01DD33D-04C9-8028-DE32-1A24EF864AE1}"/>
              </a:ext>
            </a:extLst>
          </p:cNvPr>
          <p:cNvSpPr txBox="1"/>
          <p:nvPr/>
        </p:nvSpPr>
        <p:spPr>
          <a:xfrm>
            <a:off x="2034530" y="1980169"/>
            <a:ext cx="812294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chemeClr val="tx1"/>
              </a:buClr>
            </a:pPr>
            <a:r>
              <a:rPr lang="en-US" sz="2400" b="1">
                <a:latin typeface="Fira Sans Condensed SemiBold" panose="020B0603050000020004" pitchFamily="34" charset="0"/>
              </a:rPr>
              <a:t>When compiling a value class, the compiler :</a:t>
            </a: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2400" b="1">
                <a:latin typeface="Fira Sans Condensed SemiBold" panose="020B0603050000020004" pitchFamily="34" charset="0"/>
              </a:rPr>
              <a:t>removes the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ACC_IDENTITY</a:t>
            </a:r>
            <a:r>
              <a:rPr lang="en-US" sz="2400" b="1">
                <a:latin typeface="Fira Sans Condensed SemiBold" panose="020B0603050000020004" pitchFamily="34" charset="0"/>
              </a:rPr>
              <a:t> modifier bit of the class file</a:t>
            </a: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2400" b="1">
                <a:latin typeface="Fira Sans Condensed SemiBold" panose="020B0603050000020004" pitchFamily="34" charset="0"/>
              </a:rPr>
              <a:t>adds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ACC_STRICT_INIT</a:t>
            </a:r>
            <a:r>
              <a:rPr lang="en-US" sz="2400" b="1">
                <a:latin typeface="Fira Sans Condensed SemiBold" panose="020B0603050000020004" pitchFamily="34" charset="0"/>
              </a:rPr>
              <a:t> on all fields</a:t>
            </a: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sz="2400">
              <a:latin typeface="Fira Sans Condensed SemiBold" panose="020B06030500000200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no need to recompile old external code using value class…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… but this would help :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LoadableDescriptors</a:t>
            </a:r>
            <a:r>
              <a:rPr lang="en-US" sz="2400">
                <a:latin typeface="Fira Sans Condensed SemiBold" panose="020B0603050000020004" pitchFamily="34" charset="0"/>
              </a:rPr>
              <a:t> is added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these classes are early loaded by VM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US" sz="2400">
              <a:latin typeface="Fira Sans Condensed SemiBold" panose="020B06030500000200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ABFAF50-ACA9-3925-7157-135D7665CB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8052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176105-3297-3F5D-7BCA-ED9424546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DE63819-9762-2A64-7B02-C61D471D62B0}"/>
              </a:ext>
            </a:extLst>
          </p:cNvPr>
          <p:cNvSpPr txBox="1"/>
          <p:nvPr/>
        </p:nvSpPr>
        <p:spPr>
          <a:xfrm>
            <a:off x="4200301" y="463504"/>
            <a:ext cx="37914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Structure mémoire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B24A58D-2D83-95F8-9C15-0DE0D6C6C5A3}"/>
              </a:ext>
            </a:extLst>
          </p:cNvPr>
          <p:cNvSpPr/>
          <p:nvPr/>
        </p:nvSpPr>
        <p:spPr>
          <a:xfrm>
            <a:off x="607325" y="1944811"/>
            <a:ext cx="1603612" cy="51179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Header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18D1786-DD6C-8756-D6C1-5D67B9E42C6C}"/>
              </a:ext>
            </a:extLst>
          </p:cNvPr>
          <p:cNvSpPr/>
          <p:nvPr/>
        </p:nvSpPr>
        <p:spPr>
          <a:xfrm>
            <a:off x="607325" y="2456602"/>
            <a:ext cx="1603612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Orbit@1a2b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C0FA58F-23CD-11AA-7AFC-BF61E6ED2FAD}"/>
              </a:ext>
            </a:extLst>
          </p:cNvPr>
          <p:cNvSpPr/>
          <p:nvPr/>
        </p:nvSpPr>
        <p:spPr>
          <a:xfrm>
            <a:off x="607325" y="2968393"/>
            <a:ext cx="1603612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Orbit@1a2c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90733A-2FAE-651D-7431-8B8C7521AA1C}"/>
              </a:ext>
            </a:extLst>
          </p:cNvPr>
          <p:cNvSpPr/>
          <p:nvPr/>
        </p:nvSpPr>
        <p:spPr>
          <a:xfrm>
            <a:off x="607325" y="3480184"/>
            <a:ext cx="1603612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Orbit@3d4e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D7A8FA-8372-7766-8465-13C30C7119B3}"/>
              </a:ext>
            </a:extLst>
          </p:cNvPr>
          <p:cNvSpPr/>
          <p:nvPr/>
        </p:nvSpPr>
        <p:spPr>
          <a:xfrm>
            <a:off x="607325" y="3991975"/>
            <a:ext cx="1603612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Orbit@5f6a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23EB17E6-86A4-3038-7AC4-A94D792545E6}"/>
              </a:ext>
            </a:extLst>
          </p:cNvPr>
          <p:cNvSpPr txBox="1"/>
          <p:nvPr/>
        </p:nvSpPr>
        <p:spPr>
          <a:xfrm>
            <a:off x="531752" y="1376286"/>
            <a:ext cx="17547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tx1"/>
              </a:buClr>
            </a:pPr>
            <a:r>
              <a:rPr lang="en-US" sz="2400" b="1">
                <a:latin typeface="Consolas" panose="020B0609020204030204" pitchFamily="49" charset="0"/>
              </a:rPr>
              <a:t>Orbit[]</a:t>
            </a:r>
            <a:endParaRPr lang="en-US" sz="2400">
              <a:latin typeface="Fira Sans Condensed SemiBold" panose="020B06030500000200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5F97FDD-5A39-183D-3029-2AACAC124EA6}"/>
              </a:ext>
            </a:extLst>
          </p:cNvPr>
          <p:cNvSpPr/>
          <p:nvPr/>
        </p:nvSpPr>
        <p:spPr>
          <a:xfrm>
            <a:off x="607325" y="4503766"/>
            <a:ext cx="1603612" cy="18424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646C5904-B5C4-3AFC-249D-C6B116A2C157}"/>
              </a:ext>
            </a:extLst>
          </p:cNvPr>
          <p:cNvGrpSpPr/>
          <p:nvPr/>
        </p:nvGrpSpPr>
        <p:grpSpPr>
          <a:xfrm>
            <a:off x="2210937" y="2452417"/>
            <a:ext cx="9610300" cy="3249263"/>
            <a:chOff x="2210937" y="2452417"/>
            <a:chExt cx="9610300" cy="3249263"/>
          </a:xfrm>
        </p:grpSpPr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CCC08E9D-D595-EB2B-0AF0-19113738FA2F}"/>
                </a:ext>
              </a:extLst>
            </p:cNvPr>
            <p:cNvCxnSpPr>
              <a:cxnSpLocks/>
              <a:stCxn id="8" idx="3"/>
              <a:endCxn id="31" idx="1"/>
            </p:cNvCxnSpPr>
            <p:nvPr/>
          </p:nvCxnSpPr>
          <p:spPr>
            <a:xfrm flipV="1">
              <a:off x="2210937" y="3731896"/>
              <a:ext cx="5606956" cy="1100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37C85FF1-360E-4BBC-E5FB-C3AE25164F02}"/>
                </a:ext>
              </a:extLst>
            </p:cNvPr>
            <p:cNvCxnSpPr>
              <a:cxnSpLocks/>
              <a:stCxn id="9" idx="3"/>
              <a:endCxn id="35" idx="1"/>
            </p:cNvCxnSpPr>
            <p:nvPr/>
          </p:nvCxnSpPr>
          <p:spPr>
            <a:xfrm flipV="1">
              <a:off x="2210937" y="4242142"/>
              <a:ext cx="8006688" cy="1255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F7726F29-ABC1-E1A4-F1C8-BEE61971C671}"/>
                </a:ext>
              </a:extLst>
            </p:cNvPr>
            <p:cNvCxnSpPr>
              <a:cxnSpLocks/>
              <a:stCxn id="7" idx="3"/>
              <a:endCxn id="19" idx="1"/>
            </p:cNvCxnSpPr>
            <p:nvPr/>
          </p:nvCxnSpPr>
          <p:spPr>
            <a:xfrm flipV="1">
              <a:off x="2210937" y="3222197"/>
              <a:ext cx="3207224" cy="891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31AAE71-EAC9-F324-3054-C4E5148D62B4}"/>
                </a:ext>
              </a:extLst>
            </p:cNvPr>
            <p:cNvSpPr/>
            <p:nvPr/>
          </p:nvSpPr>
          <p:spPr>
            <a:xfrm>
              <a:off x="3012743" y="2452417"/>
              <a:ext cx="1603612" cy="511791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  <a:latin typeface="Consolas" panose="020B0609020204030204" pitchFamily="49" charset="0"/>
                </a:rPr>
                <a:t>Header</a:t>
              </a:r>
              <a:endParaRPr lang="fr-FR" sz="16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88A2A2A-2CAB-84CB-F6BE-11EB8905E1ED}"/>
                </a:ext>
              </a:extLst>
            </p:cNvPr>
            <p:cNvSpPr/>
            <p:nvPr/>
          </p:nvSpPr>
          <p:spPr>
            <a:xfrm>
              <a:off x="3012743" y="2964209"/>
              <a:ext cx="1603612" cy="511791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  <a:latin typeface="Consolas" panose="020B0609020204030204" pitchFamily="49" charset="0"/>
                </a:rPr>
                <a:t>2.0f</a:t>
              </a:r>
              <a:endParaRPr lang="fr-FR" sz="16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369797E7-54EC-BBE7-142F-90311802B9C6}"/>
                </a:ext>
              </a:extLst>
            </p:cNvPr>
            <p:cNvSpPr/>
            <p:nvPr/>
          </p:nvSpPr>
          <p:spPr>
            <a:xfrm>
              <a:off x="3012743" y="3476000"/>
              <a:ext cx="1603612" cy="511791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  <a:latin typeface="Consolas" panose="020B0609020204030204" pitchFamily="49" charset="0"/>
                </a:rPr>
                <a:t>-1.0f</a:t>
              </a:r>
              <a:endParaRPr lang="fr-FR" sz="16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91BEDEB-D956-1103-E60B-A5681B9B27EE}"/>
                </a:ext>
              </a:extLst>
            </p:cNvPr>
            <p:cNvSpPr/>
            <p:nvPr/>
          </p:nvSpPr>
          <p:spPr>
            <a:xfrm>
              <a:off x="3012743" y="3985699"/>
              <a:ext cx="1603612" cy="18424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6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466B9594-1012-5AD2-BD17-84E10F5D6580}"/>
                </a:ext>
              </a:extLst>
            </p:cNvPr>
            <p:cNvCxnSpPr>
              <a:cxnSpLocks/>
              <a:stCxn id="5" idx="3"/>
              <a:endCxn id="12" idx="1"/>
            </p:cNvCxnSpPr>
            <p:nvPr/>
          </p:nvCxnSpPr>
          <p:spPr>
            <a:xfrm flipV="1">
              <a:off x="2210937" y="2708313"/>
              <a:ext cx="801806" cy="418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259BD998-3ABC-8F06-57ED-7694B95E4634}"/>
                </a:ext>
              </a:extLst>
            </p:cNvPr>
            <p:cNvSpPr/>
            <p:nvPr/>
          </p:nvSpPr>
          <p:spPr>
            <a:xfrm>
              <a:off x="5418161" y="2966301"/>
              <a:ext cx="1603612" cy="511791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  <a:latin typeface="Consolas" panose="020B0609020204030204" pitchFamily="49" charset="0"/>
                </a:rPr>
                <a:t>Header</a:t>
              </a:r>
              <a:endParaRPr lang="fr-FR" sz="16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C13F137-A94C-2287-6508-5D7F7370E755}"/>
                </a:ext>
              </a:extLst>
            </p:cNvPr>
            <p:cNvSpPr/>
            <p:nvPr/>
          </p:nvSpPr>
          <p:spPr>
            <a:xfrm>
              <a:off x="5418161" y="3476000"/>
              <a:ext cx="1603612" cy="511791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  <a:latin typeface="Consolas" panose="020B0609020204030204" pitchFamily="49" charset="0"/>
                </a:rPr>
                <a:t>3.0f</a:t>
              </a:r>
              <a:endParaRPr lang="fr-FR" sz="16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C08F2E62-1C95-0132-BEC2-E22FF2D91F05}"/>
                </a:ext>
              </a:extLst>
            </p:cNvPr>
            <p:cNvSpPr/>
            <p:nvPr/>
          </p:nvSpPr>
          <p:spPr>
            <a:xfrm>
              <a:off x="5418161" y="3987791"/>
              <a:ext cx="1603612" cy="511791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  <a:latin typeface="Consolas" panose="020B0609020204030204" pitchFamily="49" charset="0"/>
                </a:rPr>
                <a:t>0.5f</a:t>
              </a:r>
              <a:endParaRPr lang="fr-FR" sz="16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264A79EF-EC16-7CE3-5B47-1ADB2F09EF63}"/>
                </a:ext>
              </a:extLst>
            </p:cNvPr>
            <p:cNvSpPr/>
            <p:nvPr/>
          </p:nvSpPr>
          <p:spPr>
            <a:xfrm>
              <a:off x="5418161" y="4497490"/>
              <a:ext cx="1603612" cy="18424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6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9F338BEB-1193-B8C1-6A70-CF2D48C00278}"/>
                </a:ext>
              </a:extLst>
            </p:cNvPr>
            <p:cNvSpPr/>
            <p:nvPr/>
          </p:nvSpPr>
          <p:spPr>
            <a:xfrm>
              <a:off x="7817893" y="3476000"/>
              <a:ext cx="1603612" cy="511791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  <a:latin typeface="Consolas" panose="020B0609020204030204" pitchFamily="49" charset="0"/>
                </a:rPr>
                <a:t>Header</a:t>
              </a:r>
              <a:endParaRPr lang="fr-FR" sz="16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32109749-8E8E-EC96-DBB1-C6B6F8DEEDF9}"/>
                </a:ext>
              </a:extLst>
            </p:cNvPr>
            <p:cNvSpPr/>
            <p:nvPr/>
          </p:nvSpPr>
          <p:spPr>
            <a:xfrm>
              <a:off x="7817893" y="3985699"/>
              <a:ext cx="1603612" cy="511791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  <a:latin typeface="Consolas" panose="020B0609020204030204" pitchFamily="49" charset="0"/>
                </a:rPr>
                <a:t>-1.0f</a:t>
              </a:r>
              <a:endParaRPr lang="fr-FR" sz="16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A14D4A4B-E83A-D58B-2447-C687CD46F6CF}"/>
                </a:ext>
              </a:extLst>
            </p:cNvPr>
            <p:cNvSpPr/>
            <p:nvPr/>
          </p:nvSpPr>
          <p:spPr>
            <a:xfrm>
              <a:off x="7817893" y="4497490"/>
              <a:ext cx="1603612" cy="511791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  <a:latin typeface="Consolas" panose="020B0609020204030204" pitchFamily="49" charset="0"/>
                </a:rPr>
                <a:t>2.5f</a:t>
              </a:r>
              <a:endParaRPr lang="fr-FR" sz="16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A313D6E-2567-1233-BCD9-65E7A117E2CA}"/>
                </a:ext>
              </a:extLst>
            </p:cNvPr>
            <p:cNvSpPr/>
            <p:nvPr/>
          </p:nvSpPr>
          <p:spPr>
            <a:xfrm>
              <a:off x="7817893" y="5007189"/>
              <a:ext cx="1603612" cy="18424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6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6A14444A-167F-191D-1481-0058739FFE3E}"/>
                </a:ext>
              </a:extLst>
            </p:cNvPr>
            <p:cNvSpPr/>
            <p:nvPr/>
          </p:nvSpPr>
          <p:spPr>
            <a:xfrm>
              <a:off x="10217625" y="3986246"/>
              <a:ext cx="1603612" cy="511791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  <a:latin typeface="Consolas" panose="020B0609020204030204" pitchFamily="49" charset="0"/>
                </a:rPr>
                <a:t>Header</a:t>
              </a:r>
              <a:endParaRPr lang="fr-FR" sz="16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961158C7-3955-DBD5-4A89-0403C0F93824}"/>
                </a:ext>
              </a:extLst>
            </p:cNvPr>
            <p:cNvSpPr/>
            <p:nvPr/>
          </p:nvSpPr>
          <p:spPr>
            <a:xfrm>
              <a:off x="10217625" y="4495945"/>
              <a:ext cx="1603612" cy="511791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  <a:latin typeface="Consolas" panose="020B0609020204030204" pitchFamily="49" charset="0"/>
                </a:rPr>
                <a:t>-7.0f</a:t>
              </a:r>
              <a:endParaRPr lang="fr-FR" sz="16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8C4BB809-F658-EFDE-2248-A8A6E09E27E2}"/>
                </a:ext>
              </a:extLst>
            </p:cNvPr>
            <p:cNvSpPr/>
            <p:nvPr/>
          </p:nvSpPr>
          <p:spPr>
            <a:xfrm>
              <a:off x="10217625" y="5007736"/>
              <a:ext cx="1603612" cy="511791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  <a:latin typeface="Consolas" panose="020B0609020204030204" pitchFamily="49" charset="0"/>
                </a:rPr>
                <a:t>5.5f</a:t>
              </a:r>
              <a:endParaRPr lang="fr-FR" sz="16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247743C3-C373-099C-D98D-DAA15C6DC26D}"/>
                </a:ext>
              </a:extLst>
            </p:cNvPr>
            <p:cNvSpPr/>
            <p:nvPr/>
          </p:nvSpPr>
          <p:spPr>
            <a:xfrm>
              <a:off x="10217625" y="5517435"/>
              <a:ext cx="1603612" cy="18424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6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</p:grpSp>
      <p:sp>
        <p:nvSpPr>
          <p:cNvPr id="54" name="TextBox 53">
            <a:extLst>
              <a:ext uri="{FF2B5EF4-FFF2-40B4-BE49-F238E27FC236}">
                <a16:creationId xmlns:a16="http://schemas.microsoft.com/office/drawing/2014/main" id="{0E6481D8-174A-658D-058C-0881F179FB29}"/>
              </a:ext>
            </a:extLst>
          </p:cNvPr>
          <p:cNvSpPr txBox="1"/>
          <p:nvPr/>
        </p:nvSpPr>
        <p:spPr>
          <a:xfrm>
            <a:off x="1849984" y="5253009"/>
            <a:ext cx="480452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>
                <a:latin typeface="Fira Sans Condensed SemiBold" panose="020B0603050000020004" pitchFamily="34" charset="0"/>
              </a:rPr>
              <a:t>Problèmes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Surcoût mémoire </a:t>
            </a:r>
            <a:r>
              <a:rPr lang="en-US" sz="2000" i="1">
                <a:latin typeface="Fira Sans Condensed SemiBold" panose="020B0603050000020004" pitchFamily="34" charset="0"/>
              </a:rPr>
              <a:t>(header + padding)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Indirections </a:t>
            </a:r>
            <a:r>
              <a:rPr lang="en-US" sz="2000" i="1">
                <a:latin typeface="Fira Sans Condensed SemiBold" panose="020B0603050000020004" pitchFamily="34" charset="0"/>
              </a:rPr>
              <a:t>(pointer chasing)</a:t>
            </a:r>
            <a:endParaRPr lang="fr-FR" sz="2000" i="1">
              <a:latin typeface="Fira Sans Condensed SemiBold" panose="020B06030500000200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A26821A-403F-0E0B-9759-F6E6E22D5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06673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D0224A-7404-160C-A49C-69FD47D5F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3029E7E-7DA9-E7D3-E5EC-259E0A151F3E}"/>
              </a:ext>
            </a:extLst>
          </p:cNvPr>
          <p:cNvSpPr txBox="1"/>
          <p:nvPr/>
        </p:nvSpPr>
        <p:spPr>
          <a:xfrm>
            <a:off x="2297546" y="463504"/>
            <a:ext cx="75969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Aplatissement </a:t>
            </a:r>
            <a:r>
              <a:rPr lang="en-US" sz="3600" i="1">
                <a:latin typeface="Fira Sans Condensed SemiBold" panose="020B0603050000020004" pitchFamily="34" charset="0"/>
              </a:rPr>
              <a:t>(flattening) ?</a:t>
            </a:r>
            <a:r>
              <a:rPr lang="en-US" sz="3600">
                <a:latin typeface="Fira Sans Condensed SemiBold" panose="020B0603050000020004" pitchFamily="34" charset="0"/>
              </a:rPr>
              <a:t> - Tableaux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23C7C4F-7639-8232-8512-003501A3461D}"/>
              </a:ext>
            </a:extLst>
          </p:cNvPr>
          <p:cNvSpPr/>
          <p:nvPr/>
        </p:nvSpPr>
        <p:spPr>
          <a:xfrm>
            <a:off x="5127012" y="2681790"/>
            <a:ext cx="1733265" cy="51179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Header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117A288-CE1F-37D9-A856-B31E2847C8D4}"/>
              </a:ext>
            </a:extLst>
          </p:cNvPr>
          <p:cNvSpPr/>
          <p:nvPr/>
        </p:nvSpPr>
        <p:spPr>
          <a:xfrm>
            <a:off x="5127012" y="3705372"/>
            <a:ext cx="1733263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 3.0f |  0.5f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689A4E-D2EA-97DE-D453-437D84CCC961}"/>
              </a:ext>
            </a:extLst>
          </p:cNvPr>
          <p:cNvSpPr/>
          <p:nvPr/>
        </p:nvSpPr>
        <p:spPr>
          <a:xfrm>
            <a:off x="5127013" y="4217163"/>
            <a:ext cx="1733262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-1.0f |  2.5f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7073DC-8911-2335-90B9-FA12F165081D}"/>
              </a:ext>
            </a:extLst>
          </p:cNvPr>
          <p:cNvSpPr/>
          <p:nvPr/>
        </p:nvSpPr>
        <p:spPr>
          <a:xfrm>
            <a:off x="5127012" y="4728954"/>
            <a:ext cx="1733261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-7.0f |  5.5f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FF4294A3-D7AE-1BDF-59DF-B18EE116AEBD}"/>
              </a:ext>
            </a:extLst>
          </p:cNvPr>
          <p:cNvSpPr txBox="1"/>
          <p:nvPr/>
        </p:nvSpPr>
        <p:spPr>
          <a:xfrm>
            <a:off x="4724145" y="2056356"/>
            <a:ext cx="25389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tx1"/>
              </a:buClr>
            </a:pPr>
            <a:r>
              <a:rPr lang="en-US" sz="2400" b="1" dirty="0">
                <a:latin typeface="Consolas" panose="020B0609020204030204" pitchFamily="49" charset="0"/>
              </a:rPr>
              <a:t>ValueOrbit[]</a:t>
            </a:r>
            <a:endParaRPr lang="en-US" sz="2400" dirty="0">
              <a:latin typeface="Fira Sans Condensed SemiBold" panose="020B06030500000200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4DBFA38-245B-CC19-5612-59EF1FDAA0A3}"/>
              </a:ext>
            </a:extLst>
          </p:cNvPr>
          <p:cNvSpPr/>
          <p:nvPr/>
        </p:nvSpPr>
        <p:spPr>
          <a:xfrm>
            <a:off x="5127013" y="5240745"/>
            <a:ext cx="1733260" cy="16376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22E6123-3FC4-BC0F-D443-C9E0541CFBFD}"/>
              </a:ext>
            </a:extLst>
          </p:cNvPr>
          <p:cNvSpPr/>
          <p:nvPr/>
        </p:nvSpPr>
        <p:spPr>
          <a:xfrm>
            <a:off x="5127013" y="3193581"/>
            <a:ext cx="1733264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 2.0f | -1.0f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F8AA97A-B8A3-6C3C-C98F-98A44A957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5760145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C7442-CA89-0902-95D0-8EEB4BC97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1A23D62-9B0A-3230-77E5-F19E1D038DA8}"/>
              </a:ext>
            </a:extLst>
          </p:cNvPr>
          <p:cNvSpPr txBox="1"/>
          <p:nvPr/>
        </p:nvSpPr>
        <p:spPr>
          <a:xfrm>
            <a:off x="3570328" y="463504"/>
            <a:ext cx="50513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Aplatissement - Tableaux</a:t>
            </a:r>
            <a:endParaRPr lang="fr-FR" sz="3600" i="1">
              <a:latin typeface="Fira Sans Condensed SemiBold" panose="020B06030500000200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03EC363-3AAA-6797-483C-781D00AF32A7}"/>
              </a:ext>
            </a:extLst>
          </p:cNvPr>
          <p:cNvSpPr/>
          <p:nvPr/>
        </p:nvSpPr>
        <p:spPr>
          <a:xfrm>
            <a:off x="5127012" y="2681789"/>
            <a:ext cx="1733265" cy="51179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Header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C9B8D22-DDC4-165B-10ED-E4F312F3726C}"/>
              </a:ext>
            </a:extLst>
          </p:cNvPr>
          <p:cNvSpPr/>
          <p:nvPr/>
        </p:nvSpPr>
        <p:spPr>
          <a:xfrm>
            <a:off x="5127012" y="3705371"/>
            <a:ext cx="1733263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 3.0f |  0.5f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1F13839-3E95-D6CC-5B78-2098585CB625}"/>
              </a:ext>
            </a:extLst>
          </p:cNvPr>
          <p:cNvSpPr/>
          <p:nvPr/>
        </p:nvSpPr>
        <p:spPr>
          <a:xfrm>
            <a:off x="5127013" y="4217162"/>
            <a:ext cx="1733262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>
                <a:solidFill>
                  <a:schemeClr val="accent1"/>
                </a:solidFill>
                <a:latin typeface="Consolas" panose="020B0609020204030204" pitchFamily="49" charset="0"/>
              </a:rPr>
              <a:t>null</a:t>
            </a:r>
            <a:endParaRPr lang="fr-FR" sz="1600" b="1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9E7A87-2BA8-6660-CCE0-85F64AD22391}"/>
              </a:ext>
            </a:extLst>
          </p:cNvPr>
          <p:cNvSpPr/>
          <p:nvPr/>
        </p:nvSpPr>
        <p:spPr>
          <a:xfrm>
            <a:off x="5127012" y="4728953"/>
            <a:ext cx="1733261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-7.0f |  5.5f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A67A86C7-FD57-5208-75DF-A8DA44BA2E46}"/>
              </a:ext>
            </a:extLst>
          </p:cNvPr>
          <p:cNvSpPr txBox="1"/>
          <p:nvPr/>
        </p:nvSpPr>
        <p:spPr>
          <a:xfrm>
            <a:off x="4724145" y="2056355"/>
            <a:ext cx="25389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tx1"/>
              </a:buClr>
            </a:pPr>
            <a:r>
              <a:rPr lang="en-US" sz="2400" b="1" dirty="0">
                <a:latin typeface="Consolas" panose="020B0609020204030204" pitchFamily="49" charset="0"/>
              </a:rPr>
              <a:t>ValueOrbit[]</a:t>
            </a:r>
            <a:endParaRPr lang="en-US" sz="2400" dirty="0">
              <a:latin typeface="Fira Sans Condensed SemiBold" panose="020B06030500000200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829B4B7-B881-8285-BB28-EA6FFD376107}"/>
              </a:ext>
            </a:extLst>
          </p:cNvPr>
          <p:cNvSpPr/>
          <p:nvPr/>
        </p:nvSpPr>
        <p:spPr>
          <a:xfrm>
            <a:off x="5127013" y="5240744"/>
            <a:ext cx="1733260" cy="16376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B90D6B2-F9C7-5385-2786-55975D69A392}"/>
              </a:ext>
            </a:extLst>
          </p:cNvPr>
          <p:cNvSpPr/>
          <p:nvPr/>
        </p:nvSpPr>
        <p:spPr>
          <a:xfrm>
            <a:off x="5127013" y="3193580"/>
            <a:ext cx="1733264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 2.0f | -1.0f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874D545-B709-F92E-8084-09CF08F9A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60064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28177-3605-EAA2-C0EA-2A02403EC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AB61688-4439-C325-3511-AEAE8BE75222}"/>
              </a:ext>
            </a:extLst>
          </p:cNvPr>
          <p:cNvSpPr txBox="1"/>
          <p:nvPr/>
        </p:nvSpPr>
        <p:spPr>
          <a:xfrm>
            <a:off x="3502199" y="463504"/>
            <a:ext cx="5187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Aplatissement - Tableaux</a:t>
            </a:r>
            <a:endParaRPr lang="fr-FR" sz="3600" i="1">
              <a:latin typeface="Fira Sans Condensed SemiBold" panose="020B06030500000200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0ED3C73-E94C-DBF7-7B34-10656E8EABF5}"/>
              </a:ext>
            </a:extLst>
          </p:cNvPr>
          <p:cNvSpPr/>
          <p:nvPr/>
        </p:nvSpPr>
        <p:spPr>
          <a:xfrm>
            <a:off x="2581932" y="2692593"/>
            <a:ext cx="2235954" cy="51179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Header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59079B-FD74-ACFF-BBE5-D06236841F08}"/>
              </a:ext>
            </a:extLst>
          </p:cNvPr>
          <p:cNvSpPr/>
          <p:nvPr/>
        </p:nvSpPr>
        <p:spPr>
          <a:xfrm>
            <a:off x="2581932" y="3716175"/>
            <a:ext cx="2235954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 3.0f |  0.5f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07661D9-99C2-F284-D413-8125F1BFBF80}"/>
              </a:ext>
            </a:extLst>
          </p:cNvPr>
          <p:cNvSpPr/>
          <p:nvPr/>
        </p:nvSpPr>
        <p:spPr>
          <a:xfrm>
            <a:off x="2581932" y="4227966"/>
            <a:ext cx="2235953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>
                <a:solidFill>
                  <a:schemeClr val="accent1"/>
                </a:solidFill>
                <a:latin typeface="Consolas" panose="020B0609020204030204" pitchFamily="49" charset="0"/>
              </a:rPr>
              <a:t>null</a:t>
            </a:r>
            <a:endParaRPr lang="fr-FR" sz="1600" b="1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2352F93-4ABA-49D4-F749-39270263B902}"/>
              </a:ext>
            </a:extLst>
          </p:cNvPr>
          <p:cNvSpPr/>
          <p:nvPr/>
        </p:nvSpPr>
        <p:spPr>
          <a:xfrm>
            <a:off x="2581932" y="4739757"/>
            <a:ext cx="2235953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-7.0f |  5.5f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E6882BB9-0E83-5ED2-9FB1-200490DA4A1F}"/>
              </a:ext>
            </a:extLst>
          </p:cNvPr>
          <p:cNvSpPr txBox="1"/>
          <p:nvPr/>
        </p:nvSpPr>
        <p:spPr>
          <a:xfrm>
            <a:off x="4817885" y="1926277"/>
            <a:ext cx="25389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tx1"/>
              </a:buClr>
            </a:pPr>
            <a:r>
              <a:rPr lang="en-US" sz="2400" b="1" dirty="0">
                <a:latin typeface="Consolas" panose="020B0609020204030204" pitchFamily="49" charset="0"/>
              </a:rPr>
              <a:t>ValueOrbit[]</a:t>
            </a:r>
            <a:endParaRPr lang="en-US" sz="2400" dirty="0">
              <a:latin typeface="Fira Sans Condensed SemiBold" panose="020B06030500000200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559CC5D-37D2-353B-FE8D-6FD3C36798C8}"/>
              </a:ext>
            </a:extLst>
          </p:cNvPr>
          <p:cNvSpPr/>
          <p:nvPr/>
        </p:nvSpPr>
        <p:spPr>
          <a:xfrm>
            <a:off x="2581933" y="5251548"/>
            <a:ext cx="2235952" cy="16376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946D168-587E-7255-55C7-632D8B4A6FFC}"/>
              </a:ext>
            </a:extLst>
          </p:cNvPr>
          <p:cNvSpPr/>
          <p:nvPr/>
        </p:nvSpPr>
        <p:spPr>
          <a:xfrm>
            <a:off x="2581933" y="3204384"/>
            <a:ext cx="2235954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 2.0f | -1.0f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789F979-7A2C-2B99-9B21-DEA6F05B5BDB}"/>
              </a:ext>
            </a:extLst>
          </p:cNvPr>
          <p:cNvSpPr/>
          <p:nvPr/>
        </p:nvSpPr>
        <p:spPr>
          <a:xfrm>
            <a:off x="7382532" y="2692593"/>
            <a:ext cx="2235954" cy="51179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Header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9A62BCD-9E28-34BE-8459-AFDADB78E7C1}"/>
              </a:ext>
            </a:extLst>
          </p:cNvPr>
          <p:cNvSpPr/>
          <p:nvPr/>
        </p:nvSpPr>
        <p:spPr>
          <a:xfrm>
            <a:off x="7382532" y="3716175"/>
            <a:ext cx="2235954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 |  3.0f |  0.5f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58D1F76-18C7-C4EF-C6CE-94C7BE777E51}"/>
              </a:ext>
            </a:extLst>
          </p:cNvPr>
          <p:cNvSpPr/>
          <p:nvPr/>
        </p:nvSpPr>
        <p:spPr>
          <a:xfrm>
            <a:off x="7382532" y="4227966"/>
            <a:ext cx="2235953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>
                <a:solidFill>
                  <a:schemeClr val="accent1"/>
                </a:solidFill>
                <a:latin typeface="Consolas" panose="020B0609020204030204" pitchFamily="49" charset="0"/>
              </a:rPr>
              <a:t>1</a:t>
            </a:r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 |  0.0f |  0.0f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C073F34-DDD6-37EB-5FA5-AF3C4C14B2EC}"/>
              </a:ext>
            </a:extLst>
          </p:cNvPr>
          <p:cNvSpPr/>
          <p:nvPr/>
        </p:nvSpPr>
        <p:spPr>
          <a:xfrm>
            <a:off x="7382532" y="4739757"/>
            <a:ext cx="2235953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 | -7.0f |  5.5f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AD5A22E-83FC-0AE4-3A8E-E2BE40C116DF}"/>
              </a:ext>
            </a:extLst>
          </p:cNvPr>
          <p:cNvSpPr/>
          <p:nvPr/>
        </p:nvSpPr>
        <p:spPr>
          <a:xfrm>
            <a:off x="7382533" y="5251548"/>
            <a:ext cx="2235952" cy="16376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88FA3D2-558B-3DE4-F0B8-03A6CDFD4CEE}"/>
              </a:ext>
            </a:extLst>
          </p:cNvPr>
          <p:cNvSpPr/>
          <p:nvPr/>
        </p:nvSpPr>
        <p:spPr>
          <a:xfrm>
            <a:off x="7382533" y="3204384"/>
            <a:ext cx="2235954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 |  2.0f | -1.0f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CE712A0C-E4E7-26DA-E39D-E00238EB76AD}"/>
              </a:ext>
            </a:extLst>
          </p:cNvPr>
          <p:cNvCxnSpPr/>
          <p:nvPr/>
        </p:nvCxnSpPr>
        <p:spPr>
          <a:xfrm>
            <a:off x="5219700" y="4227966"/>
            <a:ext cx="17526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108BD77-67C2-7D54-0F39-5BFF229E1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862919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47DCFB-E2F2-4ADE-69C1-A2BE920DF6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7430FA9-C121-5156-E063-7A40C5A0256C}"/>
              </a:ext>
            </a:extLst>
          </p:cNvPr>
          <p:cNvSpPr txBox="1"/>
          <p:nvPr/>
        </p:nvSpPr>
        <p:spPr>
          <a:xfrm>
            <a:off x="3502199" y="463504"/>
            <a:ext cx="5187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Aplatissement - Tableaux</a:t>
            </a:r>
            <a:endParaRPr lang="fr-FR" sz="3600" i="1">
              <a:latin typeface="Fira Sans Condensed SemiBold" panose="020B0603050000020004" pitchFamily="34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3227566-5AED-A56D-05FD-3B4D55271F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5592183"/>
              </p:ext>
            </p:extLst>
          </p:nvPr>
        </p:nvGraphicFramePr>
        <p:xfrm>
          <a:off x="2032000" y="2525896"/>
          <a:ext cx="7555554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9506">
                  <a:extLst>
                    <a:ext uri="{9D8B030D-6E8A-4147-A177-3AD203B41FA5}">
                      <a16:colId xmlns:a16="http://schemas.microsoft.com/office/drawing/2014/main" val="1933054623"/>
                    </a:ext>
                  </a:extLst>
                </a:gridCol>
                <a:gridCol w="839506">
                  <a:extLst>
                    <a:ext uri="{9D8B030D-6E8A-4147-A177-3AD203B41FA5}">
                      <a16:colId xmlns:a16="http://schemas.microsoft.com/office/drawing/2014/main" val="246744505"/>
                    </a:ext>
                  </a:extLst>
                </a:gridCol>
                <a:gridCol w="839506">
                  <a:extLst>
                    <a:ext uri="{9D8B030D-6E8A-4147-A177-3AD203B41FA5}">
                      <a16:colId xmlns:a16="http://schemas.microsoft.com/office/drawing/2014/main" val="1769713917"/>
                    </a:ext>
                  </a:extLst>
                </a:gridCol>
                <a:gridCol w="839506">
                  <a:extLst>
                    <a:ext uri="{9D8B030D-6E8A-4147-A177-3AD203B41FA5}">
                      <a16:colId xmlns:a16="http://schemas.microsoft.com/office/drawing/2014/main" val="1301563240"/>
                    </a:ext>
                  </a:extLst>
                </a:gridCol>
                <a:gridCol w="839506">
                  <a:extLst>
                    <a:ext uri="{9D8B030D-6E8A-4147-A177-3AD203B41FA5}">
                      <a16:colId xmlns:a16="http://schemas.microsoft.com/office/drawing/2014/main" val="2248198205"/>
                    </a:ext>
                  </a:extLst>
                </a:gridCol>
                <a:gridCol w="839506">
                  <a:extLst>
                    <a:ext uri="{9D8B030D-6E8A-4147-A177-3AD203B41FA5}">
                      <a16:colId xmlns:a16="http://schemas.microsoft.com/office/drawing/2014/main" val="3131347464"/>
                    </a:ext>
                  </a:extLst>
                </a:gridCol>
                <a:gridCol w="839506">
                  <a:extLst>
                    <a:ext uri="{9D8B030D-6E8A-4147-A177-3AD203B41FA5}">
                      <a16:colId xmlns:a16="http://schemas.microsoft.com/office/drawing/2014/main" val="2002911743"/>
                    </a:ext>
                  </a:extLst>
                </a:gridCol>
                <a:gridCol w="839506">
                  <a:extLst>
                    <a:ext uri="{9D8B030D-6E8A-4147-A177-3AD203B41FA5}">
                      <a16:colId xmlns:a16="http://schemas.microsoft.com/office/drawing/2014/main" val="2189932981"/>
                    </a:ext>
                  </a:extLst>
                </a:gridCol>
                <a:gridCol w="839506">
                  <a:extLst>
                    <a:ext uri="{9D8B030D-6E8A-4147-A177-3AD203B41FA5}">
                      <a16:colId xmlns:a16="http://schemas.microsoft.com/office/drawing/2014/main" val="32933710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b0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b1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b2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b3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b4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b5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b6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b7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b8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1581640"/>
                  </a:ext>
                </a:extLst>
              </a:tr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float</a:t>
                      </a:r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 (re)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float</a:t>
                      </a:r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 (im)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bit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2320996"/>
                  </a:ext>
                </a:extLst>
              </a:tr>
            </a:tbl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1C86DD04-A446-94CC-FB8D-CFA604AE33C0}"/>
              </a:ext>
            </a:extLst>
          </p:cNvPr>
          <p:cNvSpPr txBox="1"/>
          <p:nvPr/>
        </p:nvSpPr>
        <p:spPr>
          <a:xfrm>
            <a:off x="8002544" y="3750895"/>
            <a:ext cx="23374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latin typeface="Consolas" panose="020B0609020204030204" pitchFamily="49" charset="0"/>
              </a:rPr>
              <a:t>null flag = 1 bit</a:t>
            </a:r>
            <a:br>
              <a:rPr lang="en-US">
                <a:latin typeface="Consolas" panose="020B0609020204030204" pitchFamily="49" charset="0"/>
              </a:rPr>
            </a:br>
            <a:r>
              <a:rPr lang="en-US">
                <a:latin typeface="Consolas" panose="020B0609020204030204" pitchFamily="49" charset="0"/>
              </a:rPr>
              <a:t>(8 en pratique)</a:t>
            </a:r>
            <a:endParaRPr lang="fr-FR">
              <a:latin typeface="Consolas" panose="020B0609020204030204" pitchFamily="49" charset="0"/>
            </a:endParaRPr>
          </a:p>
        </p:txBody>
      </p:sp>
      <p:sp>
        <p:nvSpPr>
          <p:cNvPr id="22" name="Left Brace 21">
            <a:extLst>
              <a:ext uri="{FF2B5EF4-FFF2-40B4-BE49-F238E27FC236}">
                <a16:creationId xmlns:a16="http://schemas.microsoft.com/office/drawing/2014/main" id="{C4D012B4-80E4-2B2A-79F5-E9E1405FF8AE}"/>
              </a:ext>
            </a:extLst>
          </p:cNvPr>
          <p:cNvSpPr/>
          <p:nvPr/>
        </p:nvSpPr>
        <p:spPr>
          <a:xfrm rot="16200000">
            <a:off x="5189378" y="202666"/>
            <a:ext cx="406020" cy="6690439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Left Brace 22">
            <a:extLst>
              <a:ext uri="{FF2B5EF4-FFF2-40B4-BE49-F238E27FC236}">
                <a16:creationId xmlns:a16="http://schemas.microsoft.com/office/drawing/2014/main" id="{98AAD23F-58B5-C948-4672-B9DBB0AF880B}"/>
              </a:ext>
            </a:extLst>
          </p:cNvPr>
          <p:cNvSpPr/>
          <p:nvPr/>
        </p:nvSpPr>
        <p:spPr>
          <a:xfrm rot="16200000">
            <a:off x="8968281" y="3161194"/>
            <a:ext cx="406020" cy="773383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FB26B7E-4DF2-1833-0633-9F3E6F83414C}"/>
              </a:ext>
            </a:extLst>
          </p:cNvPr>
          <p:cNvSpPr txBox="1"/>
          <p:nvPr/>
        </p:nvSpPr>
        <p:spPr>
          <a:xfrm>
            <a:off x="4856824" y="3750895"/>
            <a:ext cx="1071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latin typeface="Consolas" panose="020B0609020204030204" pitchFamily="49" charset="0"/>
              </a:rPr>
              <a:t>64 bits</a:t>
            </a:r>
            <a:endParaRPr lang="fr-FR"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163106F-4273-DEC5-9C95-5D2A1024E215}"/>
              </a:ext>
            </a:extLst>
          </p:cNvPr>
          <p:cNvSpPr txBox="1"/>
          <p:nvPr/>
        </p:nvSpPr>
        <p:spPr>
          <a:xfrm>
            <a:off x="4186663" y="5056495"/>
            <a:ext cx="38186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>
                <a:latin typeface="Fira Sans Condensed SemiBold" panose="020B0603050000020004" pitchFamily="34" charset="0"/>
              </a:rPr>
              <a:t>65 bits vs processeur 64 bits</a:t>
            </a:r>
            <a:endParaRPr lang="fr-FR" sz="2400">
              <a:latin typeface="Fira Sans Condensed SemiBold" panose="020B0603050000020004" pitchFamily="34" charset="0"/>
            </a:endParaRPr>
          </a:p>
        </p:txBody>
      </p:sp>
      <p:sp>
        <p:nvSpPr>
          <p:cNvPr id="29" name="ZoneTexte 9">
            <a:extLst>
              <a:ext uri="{FF2B5EF4-FFF2-40B4-BE49-F238E27FC236}">
                <a16:creationId xmlns:a16="http://schemas.microsoft.com/office/drawing/2014/main" id="{5E1EBF3E-8057-C6D6-FB26-CEA1E77C21E8}"/>
              </a:ext>
            </a:extLst>
          </p:cNvPr>
          <p:cNvSpPr txBox="1"/>
          <p:nvPr/>
        </p:nvSpPr>
        <p:spPr>
          <a:xfrm>
            <a:off x="1746663" y="1747032"/>
            <a:ext cx="25389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tx1"/>
              </a:buClr>
            </a:pPr>
            <a:r>
              <a:rPr lang="en-US" sz="2400" b="1" dirty="0">
                <a:latin typeface="Consolas" panose="020B0609020204030204" pitchFamily="49" charset="0"/>
              </a:rPr>
              <a:t>ValueOrbit[]</a:t>
            </a:r>
            <a:endParaRPr lang="en-US" sz="2400" dirty="0">
              <a:latin typeface="Fira Sans Condensed SemiBold" panose="020B06030500000200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662FFBC-25BC-0645-C8DF-F7679675F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0285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2" grpId="0" animBg="1"/>
      <p:bldP spid="23" grpId="0" animBg="1"/>
      <p:bldP spid="25" grpId="0"/>
      <p:bldP spid="28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1B0CB-877A-AAFB-610D-0EA324AB7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9214AC2-9BA0-B384-9FA5-AD3A66C6E31B}"/>
              </a:ext>
            </a:extLst>
          </p:cNvPr>
          <p:cNvSpPr txBox="1"/>
          <p:nvPr/>
        </p:nvSpPr>
        <p:spPr>
          <a:xfrm>
            <a:off x="3502199" y="463504"/>
            <a:ext cx="5187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Aplatissement - Tableaux</a:t>
            </a:r>
            <a:endParaRPr lang="fr-FR" sz="3600" i="1">
              <a:latin typeface="Fira Sans Condensed SemiBold" panose="020B0603050000020004" pitchFamily="34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35252E4-9B36-98C7-38B8-FB23C0075F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6312238"/>
              </p:ext>
            </p:extLst>
          </p:nvPr>
        </p:nvGraphicFramePr>
        <p:xfrm>
          <a:off x="3263462" y="2061872"/>
          <a:ext cx="2369404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4702">
                  <a:extLst>
                    <a:ext uri="{9D8B030D-6E8A-4147-A177-3AD203B41FA5}">
                      <a16:colId xmlns:a16="http://schemas.microsoft.com/office/drawing/2014/main" val="3807068609"/>
                    </a:ext>
                  </a:extLst>
                </a:gridCol>
                <a:gridCol w="1184702">
                  <a:extLst>
                    <a:ext uri="{9D8B030D-6E8A-4147-A177-3AD203B41FA5}">
                      <a16:colId xmlns:a16="http://schemas.microsoft.com/office/drawing/2014/main" val="19330546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b0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b1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15816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boolean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byte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2320996"/>
                  </a:ext>
                </a:extLst>
              </a:tr>
            </a:tbl>
          </a:graphicData>
        </a:graphic>
      </p:graphicFrame>
      <p:sp>
        <p:nvSpPr>
          <p:cNvPr id="2" name="ZoneTexte 9">
            <a:extLst>
              <a:ext uri="{FF2B5EF4-FFF2-40B4-BE49-F238E27FC236}">
                <a16:creationId xmlns:a16="http://schemas.microsoft.com/office/drawing/2014/main" id="{FB33263E-42C3-5E32-7180-7012A0AB9DB6}"/>
              </a:ext>
            </a:extLst>
          </p:cNvPr>
          <p:cNvSpPr txBox="1"/>
          <p:nvPr/>
        </p:nvSpPr>
        <p:spPr>
          <a:xfrm>
            <a:off x="724468" y="2201879"/>
            <a:ext cx="25389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tx1"/>
              </a:buClr>
            </a:pPr>
            <a:r>
              <a:rPr lang="en-US" sz="2400" b="1">
                <a:latin typeface="Consolas" panose="020B0609020204030204" pitchFamily="49" charset="0"/>
              </a:rPr>
              <a:t>Boolean[]</a:t>
            </a:r>
            <a:endParaRPr lang="en-US" sz="2400">
              <a:latin typeface="Fira Sans Condensed SemiBold" panose="020B0603050000020004" pitchFamily="34" charset="0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FF5BB8B-DECA-5CD4-C3AF-1DE8D8717B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6785322"/>
              </p:ext>
            </p:extLst>
          </p:nvPr>
        </p:nvGraphicFramePr>
        <p:xfrm>
          <a:off x="3263459" y="3834905"/>
          <a:ext cx="4304224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6056">
                  <a:extLst>
                    <a:ext uri="{9D8B030D-6E8A-4147-A177-3AD203B41FA5}">
                      <a16:colId xmlns:a16="http://schemas.microsoft.com/office/drawing/2014/main" val="3807068609"/>
                    </a:ext>
                  </a:extLst>
                </a:gridCol>
                <a:gridCol w="1076056">
                  <a:extLst>
                    <a:ext uri="{9D8B030D-6E8A-4147-A177-3AD203B41FA5}">
                      <a16:colId xmlns:a16="http://schemas.microsoft.com/office/drawing/2014/main" val="1933054623"/>
                    </a:ext>
                  </a:extLst>
                </a:gridCol>
                <a:gridCol w="1076056">
                  <a:extLst>
                    <a:ext uri="{9D8B030D-6E8A-4147-A177-3AD203B41FA5}">
                      <a16:colId xmlns:a16="http://schemas.microsoft.com/office/drawing/2014/main" val="1378869600"/>
                    </a:ext>
                  </a:extLst>
                </a:gridCol>
                <a:gridCol w="1076056">
                  <a:extLst>
                    <a:ext uri="{9D8B030D-6E8A-4147-A177-3AD203B41FA5}">
                      <a16:colId xmlns:a16="http://schemas.microsoft.com/office/drawing/2014/main" val="13784921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b0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b1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b2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b3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1581640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char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padding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byte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2320996"/>
                  </a:ext>
                </a:extLst>
              </a:tr>
            </a:tbl>
          </a:graphicData>
        </a:graphic>
      </p:graphicFrame>
      <p:sp>
        <p:nvSpPr>
          <p:cNvPr id="4" name="ZoneTexte 9">
            <a:extLst>
              <a:ext uri="{FF2B5EF4-FFF2-40B4-BE49-F238E27FC236}">
                <a16:creationId xmlns:a16="http://schemas.microsoft.com/office/drawing/2014/main" id="{7622AB49-FA44-427D-EC80-FBF5C2A456D4}"/>
              </a:ext>
            </a:extLst>
          </p:cNvPr>
          <p:cNvSpPr txBox="1"/>
          <p:nvPr/>
        </p:nvSpPr>
        <p:spPr>
          <a:xfrm>
            <a:off x="724468" y="3974912"/>
            <a:ext cx="25389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tx1"/>
              </a:buClr>
            </a:pPr>
            <a:r>
              <a:rPr lang="en-US" sz="2400" b="1">
                <a:latin typeface="Consolas" panose="020B0609020204030204" pitchFamily="49" charset="0"/>
              </a:rPr>
              <a:t>Character[]</a:t>
            </a:r>
            <a:endParaRPr lang="en-US" sz="2400">
              <a:latin typeface="Fira Sans Condensed SemiBold" panose="020B0603050000020004" pitchFamily="34" charset="0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310D512-2541-7925-7E8A-AECF8E572D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2087002"/>
              </p:ext>
            </p:extLst>
          </p:nvPr>
        </p:nvGraphicFramePr>
        <p:xfrm>
          <a:off x="3263459" y="5062025"/>
          <a:ext cx="7054248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1781">
                  <a:extLst>
                    <a:ext uri="{9D8B030D-6E8A-4147-A177-3AD203B41FA5}">
                      <a16:colId xmlns:a16="http://schemas.microsoft.com/office/drawing/2014/main" val="3807068609"/>
                    </a:ext>
                  </a:extLst>
                </a:gridCol>
                <a:gridCol w="881781">
                  <a:extLst>
                    <a:ext uri="{9D8B030D-6E8A-4147-A177-3AD203B41FA5}">
                      <a16:colId xmlns:a16="http://schemas.microsoft.com/office/drawing/2014/main" val="1933054623"/>
                    </a:ext>
                  </a:extLst>
                </a:gridCol>
                <a:gridCol w="881781">
                  <a:extLst>
                    <a:ext uri="{9D8B030D-6E8A-4147-A177-3AD203B41FA5}">
                      <a16:colId xmlns:a16="http://schemas.microsoft.com/office/drawing/2014/main" val="1378869600"/>
                    </a:ext>
                  </a:extLst>
                </a:gridCol>
                <a:gridCol w="881781">
                  <a:extLst>
                    <a:ext uri="{9D8B030D-6E8A-4147-A177-3AD203B41FA5}">
                      <a16:colId xmlns:a16="http://schemas.microsoft.com/office/drawing/2014/main" val="137849213"/>
                    </a:ext>
                  </a:extLst>
                </a:gridCol>
                <a:gridCol w="881781">
                  <a:extLst>
                    <a:ext uri="{9D8B030D-6E8A-4147-A177-3AD203B41FA5}">
                      <a16:colId xmlns:a16="http://schemas.microsoft.com/office/drawing/2014/main" val="2104601821"/>
                    </a:ext>
                  </a:extLst>
                </a:gridCol>
                <a:gridCol w="881781">
                  <a:extLst>
                    <a:ext uri="{9D8B030D-6E8A-4147-A177-3AD203B41FA5}">
                      <a16:colId xmlns:a16="http://schemas.microsoft.com/office/drawing/2014/main" val="3737428437"/>
                    </a:ext>
                  </a:extLst>
                </a:gridCol>
                <a:gridCol w="881781">
                  <a:extLst>
                    <a:ext uri="{9D8B030D-6E8A-4147-A177-3AD203B41FA5}">
                      <a16:colId xmlns:a16="http://schemas.microsoft.com/office/drawing/2014/main" val="3787841540"/>
                    </a:ext>
                  </a:extLst>
                </a:gridCol>
                <a:gridCol w="881781">
                  <a:extLst>
                    <a:ext uri="{9D8B030D-6E8A-4147-A177-3AD203B41FA5}">
                      <a16:colId xmlns:a16="http://schemas.microsoft.com/office/drawing/2014/main" val="41611765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b0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b1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b2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b3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b4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b5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b6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b7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1581640"/>
                  </a:ext>
                </a:extLst>
              </a:tr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int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padding</a:t>
                      </a:r>
                      <a:endParaRPr lang="fr-FR" b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byte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2320996"/>
                  </a:ext>
                </a:extLst>
              </a:tr>
            </a:tbl>
          </a:graphicData>
        </a:graphic>
      </p:graphicFrame>
      <p:sp>
        <p:nvSpPr>
          <p:cNvPr id="8" name="ZoneTexte 9">
            <a:extLst>
              <a:ext uri="{FF2B5EF4-FFF2-40B4-BE49-F238E27FC236}">
                <a16:creationId xmlns:a16="http://schemas.microsoft.com/office/drawing/2014/main" id="{A2719EBA-669B-6EC2-DCCF-DD8E75959B02}"/>
              </a:ext>
            </a:extLst>
          </p:cNvPr>
          <p:cNvSpPr txBox="1"/>
          <p:nvPr/>
        </p:nvSpPr>
        <p:spPr>
          <a:xfrm>
            <a:off x="724468" y="5202032"/>
            <a:ext cx="25389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tx1"/>
              </a:buClr>
            </a:pPr>
            <a:r>
              <a:rPr lang="en-US" sz="2400" b="1">
                <a:latin typeface="Consolas" panose="020B0609020204030204" pitchFamily="49" charset="0"/>
              </a:rPr>
              <a:t>Integer[]</a:t>
            </a:r>
            <a:endParaRPr lang="en-US" sz="2400">
              <a:latin typeface="Fira Sans Condensed SemiBold" panose="020B0603050000020004" pitchFamily="34" charset="0"/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01F7EF2-31CD-6807-2A41-93E89561D7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35</a:t>
            </a:fld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445A9E-F848-DDCB-6756-2FA388BD89FC}"/>
              </a:ext>
            </a:extLst>
          </p:cNvPr>
          <p:cNvSpPr txBox="1"/>
          <p:nvPr/>
        </p:nvSpPr>
        <p:spPr>
          <a:xfrm>
            <a:off x="4371783" y="3288992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latin typeface="Consolas" panose="020B0609020204030204" pitchFamily="49" charset="0"/>
              </a:rPr>
              <a:t>null flag</a:t>
            </a:r>
            <a:endParaRPr lang="fr-FR">
              <a:latin typeface="Consolas" panose="020B0609020204030204" pitchFamily="49" charset="0"/>
            </a:endParaRPr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56417872-FEA7-97F4-2C55-513D6F856560}"/>
              </a:ext>
            </a:extLst>
          </p:cNvPr>
          <p:cNvSpPr/>
          <p:nvPr/>
        </p:nvSpPr>
        <p:spPr>
          <a:xfrm rot="16200000">
            <a:off x="4826192" y="2519716"/>
            <a:ext cx="406020" cy="1078177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02422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C168A7-5A52-26DC-97F8-109FD9850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4FB6C81-EDF0-E549-1633-AF37E4597B5F}"/>
              </a:ext>
            </a:extLst>
          </p:cNvPr>
          <p:cNvSpPr txBox="1"/>
          <p:nvPr/>
        </p:nvSpPr>
        <p:spPr>
          <a:xfrm>
            <a:off x="4010357" y="463504"/>
            <a:ext cx="41713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Null-restricted types</a:t>
            </a:r>
            <a:endParaRPr lang="fr-FR" sz="3600" i="1">
              <a:latin typeface="Fira Sans Condensed SemiBold" panose="020B0603050000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B56E1F-2D72-C0A5-F04D-38B53D9CAA06}"/>
              </a:ext>
            </a:extLst>
          </p:cNvPr>
          <p:cNvSpPr txBox="1"/>
          <p:nvPr/>
        </p:nvSpPr>
        <p:spPr>
          <a:xfrm>
            <a:off x="3202297" y="1882453"/>
            <a:ext cx="6097136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i="1" dirty="0">
                <a:latin typeface="Fira Sans SemiBold" panose="020B0603050000020004" pitchFamily="34" charset="0"/>
              </a:rPr>
              <a:t>JDK-8303099 </a:t>
            </a:r>
            <a:r>
              <a:rPr lang="en-US" sz="2000" i="1" dirty="0">
                <a:latin typeface="Fira Sans SemiBold" panose="020B0603050000020004" pitchFamily="34" charset="0"/>
              </a:rPr>
              <a:t>: Null-Restricted and Nullable Types</a:t>
            </a:r>
          </a:p>
          <a:p>
            <a:endParaRPr lang="en-US" dirty="0">
              <a:latin typeface="Fira Sans SemiBold" panose="020B0603050000020004" pitchFamily="34" charset="0"/>
            </a:endParaRPr>
          </a:p>
          <a:p>
            <a:r>
              <a:rPr lang="en-US" dirty="0" err="1">
                <a:latin typeface="Fira Sans SemiBold" panose="020B0603050000020004" pitchFamily="34" charset="0"/>
              </a:rPr>
              <a:t>Définir</a:t>
            </a:r>
            <a:r>
              <a:rPr lang="en-US" dirty="0">
                <a:latin typeface="Fira Sans SemiBold" panose="020B0603050000020004" pitchFamily="34" charset="0"/>
              </a:rPr>
              <a:t> </a:t>
            </a:r>
            <a:r>
              <a:rPr lang="en-US" dirty="0" err="1">
                <a:latin typeface="Fira Sans SemiBold" panose="020B0603050000020004" pitchFamily="34" charset="0"/>
              </a:rPr>
              <a:t>qu’un</a:t>
            </a:r>
            <a:r>
              <a:rPr lang="en-US" dirty="0">
                <a:latin typeface="Fira Sans SemiBold" panose="020B0603050000020004" pitchFamily="34" charset="0"/>
              </a:rPr>
              <a:t> type </a:t>
            </a:r>
            <a:r>
              <a:rPr lang="en-US" dirty="0" err="1">
                <a:latin typeface="Fira Sans SemiBold" panose="020B0603050000020004" pitchFamily="34" charset="0"/>
              </a:rPr>
              <a:t>n’accepte</a:t>
            </a:r>
            <a:r>
              <a:rPr lang="en-US" dirty="0">
                <a:latin typeface="Fira Sans SemiBold" panose="020B0603050000020004" pitchFamily="34" charset="0"/>
              </a:rPr>
              <a:t> pas </a:t>
            </a:r>
            <a:r>
              <a:rPr lang="en-US" b="1" dirty="0">
                <a:solidFill>
                  <a:schemeClr val="accent1"/>
                </a:solidFill>
                <a:latin typeface="Consolas" panose="020B0609020204030204" pitchFamily="49" charset="0"/>
              </a:rPr>
              <a:t>null</a:t>
            </a:r>
          </a:p>
          <a:p>
            <a:r>
              <a:rPr lang="en-US" dirty="0">
                <a:latin typeface="Fira Sans SemiBold" panose="020B0603050000020004" pitchFamily="34" charset="0"/>
              </a:rPr>
              <a:t>A la compilation et au runtime</a:t>
            </a:r>
          </a:p>
          <a:p>
            <a:endParaRPr lang="en-US" dirty="0">
              <a:latin typeface="Fira Sans SemiBold" panose="020B0603050000020004" pitchFamily="34" charset="0"/>
            </a:endParaRPr>
          </a:p>
          <a:p>
            <a:r>
              <a:rPr lang="en-US" dirty="0" err="1">
                <a:latin typeface="Fira Sans SemiBold" panose="020B0603050000020004" pitchFamily="34" charset="0"/>
              </a:rPr>
              <a:t>Syntaxe</a:t>
            </a:r>
            <a:r>
              <a:rPr lang="en-US" dirty="0">
                <a:latin typeface="Fira Sans SemiBold" panose="020B0603050000020004" pitchFamily="34" charset="0"/>
              </a:rPr>
              <a:t> </a:t>
            </a:r>
            <a:r>
              <a:rPr lang="en-US" dirty="0" err="1">
                <a:latin typeface="Fira Sans SemiBold" panose="020B0603050000020004" pitchFamily="34" charset="0"/>
              </a:rPr>
              <a:t>préssentie</a:t>
            </a:r>
            <a:r>
              <a:rPr lang="en-US" dirty="0">
                <a:latin typeface="Fira Sans SemiBold" panose="020B0603050000020004" pitchFamily="34" charset="0"/>
              </a:rPr>
              <a:t> : </a:t>
            </a:r>
            <a:r>
              <a:rPr lang="en-US" b="1" dirty="0">
                <a:solidFill>
                  <a:schemeClr val="accent1"/>
                </a:solidFill>
                <a:latin typeface="Consolas" panose="020B0609020204030204" pitchFamily="49" charset="0"/>
              </a:rPr>
              <a:t>!</a:t>
            </a:r>
            <a:r>
              <a:rPr lang="en-US" dirty="0">
                <a:latin typeface="Fira Sans SemiBold" panose="020B0603050000020004" pitchFamily="34" charset="0"/>
              </a:rPr>
              <a:t> (bang)</a:t>
            </a:r>
            <a:endParaRPr lang="fr-FR" dirty="0">
              <a:latin typeface="Fira Sans SemiBold" panose="020B06030500000200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209B0E-8153-42A0-CE1D-8406FE0406E3}"/>
              </a:ext>
            </a:extLst>
          </p:cNvPr>
          <p:cNvSpPr txBox="1"/>
          <p:nvPr/>
        </p:nvSpPr>
        <p:spPr>
          <a:xfrm>
            <a:off x="3202297" y="4409398"/>
            <a:ext cx="609713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i="1">
                <a:latin typeface="Fira Sans SemiBold" panose="020B0603050000020004" pitchFamily="34" charset="0"/>
              </a:rPr>
              <a:t>JDK-8316779 </a:t>
            </a:r>
            <a:r>
              <a:rPr lang="en-US" sz="2000" i="1">
                <a:latin typeface="Fira Sans SemiBold" panose="020B0603050000020004" pitchFamily="34" charset="0"/>
              </a:rPr>
              <a:t>: Null-Restricted Value Class Types</a:t>
            </a:r>
          </a:p>
          <a:p>
            <a:endParaRPr lang="en-US">
              <a:latin typeface="Fira Sans SemiBold" panose="020B0603050000020004" pitchFamily="34" charset="0"/>
            </a:endParaRPr>
          </a:p>
          <a:p>
            <a:r>
              <a:rPr lang="en-US">
                <a:latin typeface="Fira Sans SemiBold" panose="020B0603050000020004" pitchFamily="34" charset="0"/>
              </a:rPr>
              <a:t>Optimisations pour les value types </a:t>
            </a:r>
            <a:endParaRPr lang="fr-FR">
              <a:latin typeface="Fira Sans SemiBold" panose="020B06030500000200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941FF06-D7FB-138E-0DA4-1ECFB6AF2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898791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48A7B-AFBA-E48B-61D7-B3DDCCCCC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F25CE9F-CF58-1557-BBF0-08BB6E3E71A8}"/>
              </a:ext>
            </a:extLst>
          </p:cNvPr>
          <p:cNvSpPr txBox="1"/>
          <p:nvPr/>
        </p:nvSpPr>
        <p:spPr>
          <a:xfrm>
            <a:off x="4010357" y="463504"/>
            <a:ext cx="41713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Null-restricted types</a:t>
            </a:r>
            <a:endParaRPr lang="fr-FR" sz="3600" i="1">
              <a:latin typeface="Fira Sans Condensed SemiBold" panose="020B06030500000200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E5518EF-144B-CA29-3AC0-0E0118A03546}"/>
              </a:ext>
            </a:extLst>
          </p:cNvPr>
          <p:cNvSpPr/>
          <p:nvPr/>
        </p:nvSpPr>
        <p:spPr>
          <a:xfrm>
            <a:off x="3405692" y="1491973"/>
            <a:ext cx="5216301" cy="481378"/>
          </a:xfrm>
          <a:prstGeom prst="rect">
            <a:avLst/>
          </a:prstGeom>
          <a:ln w="12700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lnSpc>
                <a:spcPts val="1425"/>
              </a:lnSpc>
              <a:buNone/>
            </a:pP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value record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267F99"/>
                </a:solidFill>
                <a:latin typeface="Consolas" panose="020B0609020204030204" pitchFamily="49" charset="0"/>
              </a:rPr>
              <a:t>ValueOrbit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267F99"/>
                </a:solidFill>
                <a:latin typeface="Consolas" panose="020B0609020204030204" pitchFamily="49" charset="0"/>
              </a:rPr>
              <a:t>float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 x, </a:t>
            </a:r>
            <a:r>
              <a:rPr lang="en-US" sz="1600" dirty="0">
                <a:solidFill>
                  <a:srgbClr val="267F99"/>
                </a:solidFill>
                <a:latin typeface="Consolas" panose="020B0609020204030204" pitchFamily="49" charset="0"/>
              </a:rPr>
              <a:t>float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 y) {}</a:t>
            </a:r>
          </a:p>
        </p:txBody>
      </p:sp>
      <p:sp>
        <p:nvSpPr>
          <p:cNvPr id="20" name="ZoneTexte 9">
            <a:extLst>
              <a:ext uri="{FF2B5EF4-FFF2-40B4-BE49-F238E27FC236}">
                <a16:creationId xmlns:a16="http://schemas.microsoft.com/office/drawing/2014/main" id="{275DCF56-5817-0EC8-599D-51E307F0EA4C}"/>
              </a:ext>
            </a:extLst>
          </p:cNvPr>
          <p:cNvSpPr txBox="1"/>
          <p:nvPr/>
        </p:nvSpPr>
        <p:spPr>
          <a:xfrm>
            <a:off x="7138836" y="2571405"/>
            <a:ext cx="25389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tx1"/>
              </a:buClr>
            </a:pPr>
            <a:r>
              <a:rPr lang="en-US" sz="2400" b="1">
                <a:latin typeface="Consolas" panose="020B0609020204030204" pitchFamily="49" charset="0"/>
              </a:rPr>
              <a:t>float+float[]</a:t>
            </a:r>
            <a:endParaRPr lang="en-US" sz="2400">
              <a:latin typeface="Fira Sans Condensed SemiBold" panose="020B0603050000020004" pitchFamily="34" charset="0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93C39B8-C824-0E78-D83E-5AA17B684B5C}"/>
              </a:ext>
            </a:extLst>
          </p:cNvPr>
          <p:cNvCxnSpPr/>
          <p:nvPr/>
        </p:nvCxnSpPr>
        <p:spPr>
          <a:xfrm>
            <a:off x="5375810" y="4514883"/>
            <a:ext cx="127606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73245F-C470-F0F5-DD36-77629DE32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37</a:t>
            </a:fld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03D8004-6ED4-0369-83A5-D12565CE5CC7}"/>
              </a:ext>
            </a:extLst>
          </p:cNvPr>
          <p:cNvSpPr/>
          <p:nvPr/>
        </p:nvSpPr>
        <p:spPr>
          <a:xfrm>
            <a:off x="2768170" y="3088920"/>
            <a:ext cx="1733265" cy="51179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Header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582C89D-4FA0-32B3-2EC0-039AE17CAFED}"/>
              </a:ext>
            </a:extLst>
          </p:cNvPr>
          <p:cNvSpPr/>
          <p:nvPr/>
        </p:nvSpPr>
        <p:spPr>
          <a:xfrm>
            <a:off x="2768170" y="4112502"/>
            <a:ext cx="1733263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 3.0f |  0.5f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ED6DE79-E4B1-7F99-C1A7-0AA010E826C5}"/>
              </a:ext>
            </a:extLst>
          </p:cNvPr>
          <p:cNvSpPr/>
          <p:nvPr/>
        </p:nvSpPr>
        <p:spPr>
          <a:xfrm>
            <a:off x="2768171" y="4624293"/>
            <a:ext cx="1733262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-1.0f |  2.5f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BCF01BA-D28D-C108-94EF-7795318982D9}"/>
              </a:ext>
            </a:extLst>
          </p:cNvPr>
          <p:cNvSpPr/>
          <p:nvPr/>
        </p:nvSpPr>
        <p:spPr>
          <a:xfrm>
            <a:off x="2768170" y="5136084"/>
            <a:ext cx="1733261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-7.0f |  5.5f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24" name="ZoneTexte 9">
            <a:extLst>
              <a:ext uri="{FF2B5EF4-FFF2-40B4-BE49-F238E27FC236}">
                <a16:creationId xmlns:a16="http://schemas.microsoft.com/office/drawing/2014/main" id="{CBF640BD-C534-CED2-1D58-236E78A1D771}"/>
              </a:ext>
            </a:extLst>
          </p:cNvPr>
          <p:cNvSpPr txBox="1"/>
          <p:nvPr/>
        </p:nvSpPr>
        <p:spPr>
          <a:xfrm>
            <a:off x="2365303" y="2463486"/>
            <a:ext cx="2538994" cy="58477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buClr>
                <a:schemeClr val="tx1"/>
              </a:buClr>
            </a:pPr>
            <a:r>
              <a:rPr lang="en-US" sz="2400" b="1" dirty="0">
                <a:latin typeface="Consolas" panose="020B0609020204030204" pitchFamily="49" charset="0"/>
              </a:rPr>
              <a:t>ValueOrbit</a:t>
            </a:r>
            <a:r>
              <a:rPr lang="en-US" sz="3200" b="1" dirty="0">
                <a:solidFill>
                  <a:srgbClr val="C00000"/>
                </a:solidFill>
                <a:latin typeface="Consolas" panose="020B0609020204030204" pitchFamily="49" charset="0"/>
              </a:rPr>
              <a:t>!</a:t>
            </a:r>
            <a:r>
              <a:rPr lang="en-US" sz="2400" b="1" dirty="0">
                <a:latin typeface="Consolas" panose="020B0609020204030204" pitchFamily="49" charset="0"/>
              </a:rPr>
              <a:t>[]</a:t>
            </a:r>
            <a:endParaRPr lang="en-US" sz="2400" dirty="0">
              <a:latin typeface="Fira Sans Condensed SemiBold" panose="020B06030500000200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9BEE453-582B-B06F-9855-B22860C0D2C5}"/>
              </a:ext>
            </a:extLst>
          </p:cNvPr>
          <p:cNvSpPr/>
          <p:nvPr/>
        </p:nvSpPr>
        <p:spPr>
          <a:xfrm>
            <a:off x="2768171" y="5647875"/>
            <a:ext cx="1733260" cy="16376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AB00848-0543-D288-422C-B5944A50870C}"/>
              </a:ext>
            </a:extLst>
          </p:cNvPr>
          <p:cNvSpPr/>
          <p:nvPr/>
        </p:nvSpPr>
        <p:spPr>
          <a:xfrm>
            <a:off x="2768171" y="3600711"/>
            <a:ext cx="1733264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 2.0f | -1.0f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4649FD2-BE31-7F75-A967-1A3531FFC71D}"/>
              </a:ext>
            </a:extLst>
          </p:cNvPr>
          <p:cNvSpPr/>
          <p:nvPr/>
        </p:nvSpPr>
        <p:spPr>
          <a:xfrm>
            <a:off x="7499394" y="3088920"/>
            <a:ext cx="1733265" cy="51179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Header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69D01FF-0BA5-2C90-F480-66D711854F5F}"/>
              </a:ext>
            </a:extLst>
          </p:cNvPr>
          <p:cNvSpPr/>
          <p:nvPr/>
        </p:nvSpPr>
        <p:spPr>
          <a:xfrm>
            <a:off x="7499394" y="4112502"/>
            <a:ext cx="1733263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 3.0f |  0.5f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2257250-5F7E-1637-695C-3A8884C15CB7}"/>
              </a:ext>
            </a:extLst>
          </p:cNvPr>
          <p:cNvSpPr/>
          <p:nvPr/>
        </p:nvSpPr>
        <p:spPr>
          <a:xfrm>
            <a:off x="7499395" y="4624293"/>
            <a:ext cx="1733262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-1.0f |  2.5f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236C144-B0C1-9BD7-C5CB-32F024A92257}"/>
              </a:ext>
            </a:extLst>
          </p:cNvPr>
          <p:cNvSpPr/>
          <p:nvPr/>
        </p:nvSpPr>
        <p:spPr>
          <a:xfrm>
            <a:off x="7499394" y="5136084"/>
            <a:ext cx="1733261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-7.0f |  5.5f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B8CD10F-8DED-CDF8-BBBD-B3D2F19A14BE}"/>
              </a:ext>
            </a:extLst>
          </p:cNvPr>
          <p:cNvSpPr/>
          <p:nvPr/>
        </p:nvSpPr>
        <p:spPr>
          <a:xfrm>
            <a:off x="7499395" y="5647875"/>
            <a:ext cx="1733260" cy="16376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C249A94-9E87-0367-9122-A40286AD37D7}"/>
              </a:ext>
            </a:extLst>
          </p:cNvPr>
          <p:cNvSpPr/>
          <p:nvPr/>
        </p:nvSpPr>
        <p:spPr>
          <a:xfrm>
            <a:off x="7499395" y="3600711"/>
            <a:ext cx="1733264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 2.0f | -1.0f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881411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2F061-DFB1-AD1A-EF19-15BE2DD19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9C49B70-95EC-23D0-CCA2-03ED7F7D16A0}"/>
              </a:ext>
            </a:extLst>
          </p:cNvPr>
          <p:cNvSpPr txBox="1"/>
          <p:nvPr/>
        </p:nvSpPr>
        <p:spPr>
          <a:xfrm>
            <a:off x="3691354" y="463504"/>
            <a:ext cx="48093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Aplatissement - Champs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10A02EA-1567-EA96-79FD-6B877C9570BA}"/>
              </a:ext>
            </a:extLst>
          </p:cNvPr>
          <p:cNvSpPr/>
          <p:nvPr/>
        </p:nvSpPr>
        <p:spPr>
          <a:xfrm>
            <a:off x="2641221" y="1568426"/>
            <a:ext cx="6909556" cy="481378"/>
          </a:xfrm>
          <a:prstGeom prst="rect">
            <a:avLst/>
          </a:prstGeom>
          <a:ln w="12700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lnSpc>
                <a:spcPts val="1425"/>
              </a:lnSpc>
              <a:buNone/>
            </a:pPr>
            <a:r>
              <a:rPr lang="en-US" sz="1600">
                <a:solidFill>
                  <a:srgbClr val="0000FF"/>
                </a:solidFill>
                <a:latin typeface="Consolas" panose="020B0609020204030204" pitchFamily="49" charset="0"/>
              </a:rPr>
              <a:t>record</a:t>
            </a:r>
            <a:r>
              <a:rPr lang="en-US" sz="160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1600">
                <a:solidFill>
                  <a:srgbClr val="267F99"/>
                </a:solidFill>
                <a:latin typeface="Consolas" panose="020B0609020204030204" pitchFamily="49" charset="0"/>
              </a:rPr>
              <a:t>Data</a:t>
            </a:r>
            <a:r>
              <a:rPr lang="en-US" sz="160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en-US" sz="1600">
                <a:solidFill>
                  <a:srgbClr val="267F99"/>
                </a:solidFill>
                <a:latin typeface="Consolas" panose="020B0609020204030204" pitchFamily="49" charset="0"/>
              </a:rPr>
              <a:t>Boolean</a:t>
            </a:r>
            <a:r>
              <a:rPr lang="en-US" sz="1600">
                <a:solidFill>
                  <a:srgbClr val="3B3B3B"/>
                </a:solidFill>
                <a:latin typeface="Consolas" panose="020B0609020204030204" pitchFamily="49" charset="0"/>
              </a:rPr>
              <a:t> bool1, </a:t>
            </a:r>
            <a:r>
              <a:rPr lang="en-US" sz="1600">
                <a:solidFill>
                  <a:srgbClr val="267F99"/>
                </a:solidFill>
                <a:latin typeface="Consolas" panose="020B0609020204030204" pitchFamily="49" charset="0"/>
              </a:rPr>
              <a:t>Boolean</a:t>
            </a:r>
            <a:r>
              <a:rPr lang="en-US" sz="1600">
                <a:solidFill>
                  <a:srgbClr val="3B3B3B"/>
                </a:solidFill>
                <a:latin typeface="Consolas" panose="020B0609020204030204" pitchFamily="49" charset="0"/>
              </a:rPr>
              <a:t> bool2, </a:t>
            </a:r>
            <a:r>
              <a:rPr lang="en-US" sz="1600">
                <a:solidFill>
                  <a:srgbClr val="267F99"/>
                </a:solidFill>
                <a:latin typeface="Consolas" panose="020B0609020204030204" pitchFamily="49" charset="0"/>
              </a:rPr>
              <a:t>Integer</a:t>
            </a:r>
            <a:r>
              <a:rPr lang="en-US" sz="1600">
                <a:solidFill>
                  <a:srgbClr val="3B3B3B"/>
                </a:solidFill>
                <a:latin typeface="Consolas" panose="020B0609020204030204" pitchFamily="49" charset="0"/>
              </a:rPr>
              <a:t> i) {}</a:t>
            </a: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9521C82D-17FD-BAF9-C19A-DC95CBB1EE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9846617"/>
              </p:ext>
            </p:extLst>
          </p:nvPr>
        </p:nvGraphicFramePr>
        <p:xfrm>
          <a:off x="2477067" y="4973090"/>
          <a:ext cx="7349319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6591">
                  <a:extLst>
                    <a:ext uri="{9D8B030D-6E8A-4147-A177-3AD203B41FA5}">
                      <a16:colId xmlns:a16="http://schemas.microsoft.com/office/drawing/2014/main" val="2104601821"/>
                    </a:ext>
                  </a:extLst>
                </a:gridCol>
                <a:gridCol w="816591">
                  <a:extLst>
                    <a:ext uri="{9D8B030D-6E8A-4147-A177-3AD203B41FA5}">
                      <a16:colId xmlns:a16="http://schemas.microsoft.com/office/drawing/2014/main" val="3737428437"/>
                    </a:ext>
                  </a:extLst>
                </a:gridCol>
                <a:gridCol w="816591">
                  <a:extLst>
                    <a:ext uri="{9D8B030D-6E8A-4147-A177-3AD203B41FA5}">
                      <a16:colId xmlns:a16="http://schemas.microsoft.com/office/drawing/2014/main" val="3787841540"/>
                    </a:ext>
                  </a:extLst>
                </a:gridCol>
                <a:gridCol w="816591">
                  <a:extLst>
                    <a:ext uri="{9D8B030D-6E8A-4147-A177-3AD203B41FA5}">
                      <a16:colId xmlns:a16="http://schemas.microsoft.com/office/drawing/2014/main" val="4161176503"/>
                    </a:ext>
                  </a:extLst>
                </a:gridCol>
                <a:gridCol w="816591">
                  <a:extLst>
                    <a:ext uri="{9D8B030D-6E8A-4147-A177-3AD203B41FA5}">
                      <a16:colId xmlns:a16="http://schemas.microsoft.com/office/drawing/2014/main" val="3728933632"/>
                    </a:ext>
                  </a:extLst>
                </a:gridCol>
                <a:gridCol w="816591">
                  <a:extLst>
                    <a:ext uri="{9D8B030D-6E8A-4147-A177-3AD203B41FA5}">
                      <a16:colId xmlns:a16="http://schemas.microsoft.com/office/drawing/2014/main" val="719675949"/>
                    </a:ext>
                  </a:extLst>
                </a:gridCol>
                <a:gridCol w="816591">
                  <a:extLst>
                    <a:ext uri="{9D8B030D-6E8A-4147-A177-3AD203B41FA5}">
                      <a16:colId xmlns:a16="http://schemas.microsoft.com/office/drawing/2014/main" val="2160535770"/>
                    </a:ext>
                  </a:extLst>
                </a:gridCol>
                <a:gridCol w="816591">
                  <a:extLst>
                    <a:ext uri="{9D8B030D-6E8A-4147-A177-3AD203B41FA5}">
                      <a16:colId xmlns:a16="http://schemas.microsoft.com/office/drawing/2014/main" val="1788390203"/>
                    </a:ext>
                  </a:extLst>
                </a:gridCol>
                <a:gridCol w="816591">
                  <a:extLst>
                    <a:ext uri="{9D8B030D-6E8A-4147-A177-3AD203B41FA5}">
                      <a16:colId xmlns:a16="http://schemas.microsoft.com/office/drawing/2014/main" val="23573009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b0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b1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b2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b3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b4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b5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b6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b7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b8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1581640"/>
                  </a:ext>
                </a:extLst>
              </a:tr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i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byte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bool1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byte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bool2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byte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2320996"/>
                  </a:ext>
                </a:extLst>
              </a:tr>
            </a:tbl>
          </a:graphicData>
        </a:graphic>
      </p:graphicFrame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8AD6B9C-9A22-B14D-115C-011C6FB168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2270976"/>
              </p:ext>
            </p:extLst>
          </p:nvPr>
        </p:nvGraphicFramePr>
        <p:xfrm>
          <a:off x="2568875" y="2445427"/>
          <a:ext cx="7054248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7854">
                  <a:extLst>
                    <a:ext uri="{9D8B030D-6E8A-4147-A177-3AD203B41FA5}">
                      <a16:colId xmlns:a16="http://schemas.microsoft.com/office/drawing/2014/main" val="3807068609"/>
                    </a:ext>
                  </a:extLst>
                </a:gridCol>
                <a:gridCol w="587854">
                  <a:extLst>
                    <a:ext uri="{9D8B030D-6E8A-4147-A177-3AD203B41FA5}">
                      <a16:colId xmlns:a16="http://schemas.microsoft.com/office/drawing/2014/main" val="1933054623"/>
                    </a:ext>
                  </a:extLst>
                </a:gridCol>
                <a:gridCol w="587854">
                  <a:extLst>
                    <a:ext uri="{9D8B030D-6E8A-4147-A177-3AD203B41FA5}">
                      <a16:colId xmlns:a16="http://schemas.microsoft.com/office/drawing/2014/main" val="2900427110"/>
                    </a:ext>
                  </a:extLst>
                </a:gridCol>
                <a:gridCol w="587854">
                  <a:extLst>
                    <a:ext uri="{9D8B030D-6E8A-4147-A177-3AD203B41FA5}">
                      <a16:colId xmlns:a16="http://schemas.microsoft.com/office/drawing/2014/main" val="884860705"/>
                    </a:ext>
                  </a:extLst>
                </a:gridCol>
                <a:gridCol w="587854">
                  <a:extLst>
                    <a:ext uri="{9D8B030D-6E8A-4147-A177-3AD203B41FA5}">
                      <a16:colId xmlns:a16="http://schemas.microsoft.com/office/drawing/2014/main" val="1378869600"/>
                    </a:ext>
                  </a:extLst>
                </a:gridCol>
                <a:gridCol w="587854">
                  <a:extLst>
                    <a:ext uri="{9D8B030D-6E8A-4147-A177-3AD203B41FA5}">
                      <a16:colId xmlns:a16="http://schemas.microsoft.com/office/drawing/2014/main" val="137849213"/>
                    </a:ext>
                  </a:extLst>
                </a:gridCol>
                <a:gridCol w="587854">
                  <a:extLst>
                    <a:ext uri="{9D8B030D-6E8A-4147-A177-3AD203B41FA5}">
                      <a16:colId xmlns:a16="http://schemas.microsoft.com/office/drawing/2014/main" val="1576319880"/>
                    </a:ext>
                  </a:extLst>
                </a:gridCol>
                <a:gridCol w="587854">
                  <a:extLst>
                    <a:ext uri="{9D8B030D-6E8A-4147-A177-3AD203B41FA5}">
                      <a16:colId xmlns:a16="http://schemas.microsoft.com/office/drawing/2014/main" val="1465953682"/>
                    </a:ext>
                  </a:extLst>
                </a:gridCol>
                <a:gridCol w="587854">
                  <a:extLst>
                    <a:ext uri="{9D8B030D-6E8A-4147-A177-3AD203B41FA5}">
                      <a16:colId xmlns:a16="http://schemas.microsoft.com/office/drawing/2014/main" val="2104601821"/>
                    </a:ext>
                  </a:extLst>
                </a:gridCol>
                <a:gridCol w="587854">
                  <a:extLst>
                    <a:ext uri="{9D8B030D-6E8A-4147-A177-3AD203B41FA5}">
                      <a16:colId xmlns:a16="http://schemas.microsoft.com/office/drawing/2014/main" val="3737428437"/>
                    </a:ext>
                  </a:extLst>
                </a:gridCol>
                <a:gridCol w="587854">
                  <a:extLst>
                    <a:ext uri="{9D8B030D-6E8A-4147-A177-3AD203B41FA5}">
                      <a16:colId xmlns:a16="http://schemas.microsoft.com/office/drawing/2014/main" val="3787841540"/>
                    </a:ext>
                  </a:extLst>
                </a:gridCol>
                <a:gridCol w="587854">
                  <a:extLst>
                    <a:ext uri="{9D8B030D-6E8A-4147-A177-3AD203B41FA5}">
                      <a16:colId xmlns:a16="http://schemas.microsoft.com/office/drawing/2014/main" val="41611765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b0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b1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b2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b3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b4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b5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b6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b7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b8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b9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b10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b11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1581640"/>
                  </a:ext>
                </a:extLst>
              </a:tr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*bool1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*bool2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*i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2320996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3ED95FBC-FB55-A077-8694-097D12583EE8}"/>
              </a:ext>
            </a:extLst>
          </p:cNvPr>
          <p:cNvSpPr/>
          <p:nvPr/>
        </p:nvSpPr>
        <p:spPr>
          <a:xfrm>
            <a:off x="2641221" y="4113676"/>
            <a:ext cx="6909556" cy="481378"/>
          </a:xfrm>
          <a:prstGeom prst="rect">
            <a:avLst/>
          </a:prstGeom>
          <a:ln w="12700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lnSpc>
                <a:spcPts val="1425"/>
              </a:lnSpc>
              <a:buNone/>
            </a:pPr>
            <a:r>
              <a:rPr lang="en-US" sz="1600">
                <a:solidFill>
                  <a:srgbClr val="0000FF"/>
                </a:solidFill>
                <a:latin typeface="Consolas" panose="020B0609020204030204" pitchFamily="49" charset="0"/>
              </a:rPr>
              <a:t>record</a:t>
            </a:r>
            <a:r>
              <a:rPr lang="en-US" sz="160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1600">
                <a:solidFill>
                  <a:srgbClr val="267F99"/>
                </a:solidFill>
                <a:latin typeface="Consolas" panose="020B0609020204030204" pitchFamily="49" charset="0"/>
              </a:rPr>
              <a:t>Data</a:t>
            </a:r>
            <a:r>
              <a:rPr lang="en-US" sz="160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en-US" sz="1600">
                <a:solidFill>
                  <a:srgbClr val="267F99"/>
                </a:solidFill>
                <a:latin typeface="Consolas" panose="020B0609020204030204" pitchFamily="49" charset="0"/>
              </a:rPr>
              <a:t>Boolean</a:t>
            </a:r>
            <a:r>
              <a:rPr lang="en-US" sz="1600">
                <a:solidFill>
                  <a:srgbClr val="3B3B3B"/>
                </a:solidFill>
                <a:latin typeface="Consolas" panose="020B0609020204030204" pitchFamily="49" charset="0"/>
              </a:rPr>
              <a:t> bool1, </a:t>
            </a:r>
            <a:r>
              <a:rPr lang="en-US" sz="1600">
                <a:solidFill>
                  <a:srgbClr val="267F99"/>
                </a:solidFill>
                <a:latin typeface="Consolas" panose="020B0609020204030204" pitchFamily="49" charset="0"/>
              </a:rPr>
              <a:t>Boolean</a:t>
            </a:r>
            <a:r>
              <a:rPr lang="en-US" sz="1600">
                <a:solidFill>
                  <a:srgbClr val="3B3B3B"/>
                </a:solidFill>
                <a:latin typeface="Consolas" panose="020B0609020204030204" pitchFamily="49" charset="0"/>
              </a:rPr>
              <a:t> bool2, </a:t>
            </a:r>
            <a:r>
              <a:rPr lang="en-US" sz="1600">
                <a:solidFill>
                  <a:srgbClr val="267F99"/>
                </a:solidFill>
                <a:latin typeface="Consolas" panose="020B0609020204030204" pitchFamily="49" charset="0"/>
              </a:rPr>
              <a:t>Integer</a:t>
            </a:r>
            <a:r>
              <a:rPr lang="en-US" sz="1600">
                <a:solidFill>
                  <a:srgbClr val="3B3B3B"/>
                </a:solidFill>
                <a:latin typeface="Consolas" panose="020B0609020204030204" pitchFamily="49" charset="0"/>
              </a:rPr>
              <a:t> i) {}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D94975-924F-BD73-A018-F0CA681D79D0}"/>
              </a:ext>
            </a:extLst>
          </p:cNvPr>
          <p:cNvSpPr txBox="1"/>
          <p:nvPr/>
        </p:nvSpPr>
        <p:spPr>
          <a:xfrm>
            <a:off x="7049645" y="6209830"/>
            <a:ext cx="1451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latin typeface="Consolas" panose="020B0609020204030204" pitchFamily="49" charset="0"/>
              </a:rPr>
              <a:t>null flags</a:t>
            </a:r>
            <a:endParaRPr lang="fr-FR">
              <a:latin typeface="Consolas" panose="020B0609020204030204" pitchFamily="49" charset="0"/>
            </a:endParaRPr>
          </a:p>
        </p:txBody>
      </p:sp>
      <p:sp>
        <p:nvSpPr>
          <p:cNvPr id="5" name="Left Brace 4">
            <a:extLst>
              <a:ext uri="{FF2B5EF4-FFF2-40B4-BE49-F238E27FC236}">
                <a16:creationId xmlns:a16="http://schemas.microsoft.com/office/drawing/2014/main" id="{B07D1485-98ED-A99B-26AF-EB8BD1D49B16}"/>
              </a:ext>
            </a:extLst>
          </p:cNvPr>
          <p:cNvSpPr/>
          <p:nvPr/>
        </p:nvSpPr>
        <p:spPr>
          <a:xfrm rot="16200000">
            <a:off x="5961223" y="5628985"/>
            <a:ext cx="406020" cy="710051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61623E-F3AD-806C-20E6-CA7C7DB84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38</a:t>
            </a:fld>
            <a:endParaRPr lang="fr-FR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6295FC4-EB26-989D-E4EA-4650F8C94F58}"/>
              </a:ext>
            </a:extLst>
          </p:cNvPr>
          <p:cNvGrpSpPr/>
          <p:nvPr/>
        </p:nvGrpSpPr>
        <p:grpSpPr>
          <a:xfrm>
            <a:off x="380020" y="3709733"/>
            <a:ext cx="2097049" cy="684846"/>
            <a:chOff x="380020" y="3709733"/>
            <a:chExt cx="2097049" cy="684846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504ABD2B-E164-B0F5-2313-1539B9FE3E4D}"/>
                </a:ext>
              </a:extLst>
            </p:cNvPr>
            <p:cNvCxnSpPr/>
            <p:nvPr/>
          </p:nvCxnSpPr>
          <p:spPr>
            <a:xfrm>
              <a:off x="1453487" y="4394579"/>
              <a:ext cx="102358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4CE9600-A213-A562-CC6E-49D708BFF782}"/>
                </a:ext>
              </a:extLst>
            </p:cNvPr>
            <p:cNvSpPr txBox="1"/>
            <p:nvPr/>
          </p:nvSpPr>
          <p:spPr>
            <a:xfrm>
              <a:off x="380020" y="3709733"/>
              <a:ext cx="209704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>
                  <a:latin typeface="Fira Sans Condensed SemiBold" panose="020B0603050000020004" pitchFamily="34" charset="0"/>
                </a:rPr>
                <a:t>Pas nécessairement</a:t>
              </a:r>
            </a:p>
            <a:p>
              <a:pPr algn="ctr"/>
              <a:r>
                <a:rPr lang="en-US">
                  <a:latin typeface="Consolas" panose="020B0609020204030204" pitchFamily="49" charset="0"/>
                </a:rPr>
                <a:t>value type</a:t>
              </a:r>
              <a:endParaRPr lang="fr-FR">
                <a:latin typeface="Consolas" panose="020B0609020204030204" pitchFamily="49" charset="0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69214DC0-1B7A-3419-9F38-F3EE86893EDA}"/>
              </a:ext>
            </a:extLst>
          </p:cNvPr>
          <p:cNvSpPr txBox="1"/>
          <p:nvPr/>
        </p:nvSpPr>
        <p:spPr>
          <a:xfrm>
            <a:off x="724762" y="1624449"/>
            <a:ext cx="1457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Fira Sans Condensed SemiBold" panose="020B0603050000020004" pitchFamily="34" charset="0"/>
              </a:rPr>
              <a:t>Sans Valhalla</a:t>
            </a:r>
            <a:endParaRPr lang="fr-FR">
              <a:latin typeface="Fira Sans Condensed SemiBold" panose="020B0603050000020004" pitchFamily="34" charset="0"/>
            </a:endParaRPr>
          </a:p>
        </p:txBody>
      </p:sp>
      <p:sp>
        <p:nvSpPr>
          <p:cNvPr id="17" name="Left Brace 16">
            <a:extLst>
              <a:ext uri="{FF2B5EF4-FFF2-40B4-BE49-F238E27FC236}">
                <a16:creationId xmlns:a16="http://schemas.microsoft.com/office/drawing/2014/main" id="{F09C4C0E-BBC7-711C-694D-0E0D59F0B52C}"/>
              </a:ext>
            </a:extLst>
          </p:cNvPr>
          <p:cNvSpPr/>
          <p:nvPr/>
        </p:nvSpPr>
        <p:spPr>
          <a:xfrm rot="16200000">
            <a:off x="7569207" y="5628985"/>
            <a:ext cx="406020" cy="710051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FD31E9E4-D1DC-797D-A406-1A6D82BEC107}"/>
              </a:ext>
            </a:extLst>
          </p:cNvPr>
          <p:cNvSpPr/>
          <p:nvPr/>
        </p:nvSpPr>
        <p:spPr>
          <a:xfrm rot="16200000">
            <a:off x="9177192" y="5630044"/>
            <a:ext cx="406020" cy="710051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62005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  <p:bldP spid="5" grpId="0" animBg="1"/>
      <p:bldP spid="17" grpId="0" animBg="1"/>
      <p:bldP spid="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64EDF0-74BE-0DA3-F624-5C3A30AD2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08FE20A-4DF3-FDD0-ABB4-BC222D46F13F}"/>
              </a:ext>
            </a:extLst>
          </p:cNvPr>
          <p:cNvGrpSpPr/>
          <p:nvPr/>
        </p:nvGrpSpPr>
        <p:grpSpPr>
          <a:xfrm>
            <a:off x="3274443" y="2474893"/>
            <a:ext cx="5643114" cy="1908214"/>
            <a:chOff x="3274443" y="2767280"/>
            <a:chExt cx="5643114" cy="1908214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89974A76-5F90-D6AF-9C72-BC757EEA6E1A}"/>
                </a:ext>
              </a:extLst>
            </p:cNvPr>
            <p:cNvSpPr txBox="1"/>
            <p:nvPr/>
          </p:nvSpPr>
          <p:spPr>
            <a:xfrm>
              <a:off x="4774965" y="2767280"/>
              <a:ext cx="2642070" cy="13234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000">
                  <a:latin typeface="Fira Sans Condensed SemiBold" panose="020B0603050000020004" pitchFamily="34" charset="0"/>
                </a:rPr>
                <a:t>Démo</a:t>
              </a:r>
              <a:endParaRPr lang="fr-FR" sz="8000">
                <a:latin typeface="Fira Sans Condensed SemiBold" panose="020B0603050000020004" pitchFamily="34" charset="0"/>
              </a:endParaRPr>
            </a:p>
          </p:txBody>
        </p:sp>
        <p:sp>
          <p:nvSpPr>
            <p:cNvPr id="2" name="ZoneTexte 9">
              <a:extLst>
                <a:ext uri="{FF2B5EF4-FFF2-40B4-BE49-F238E27FC236}">
                  <a16:creationId xmlns:a16="http://schemas.microsoft.com/office/drawing/2014/main" id="{C9B18F4F-7FB8-3F4B-32D4-528C2D9ECB79}"/>
                </a:ext>
              </a:extLst>
            </p:cNvPr>
            <p:cNvSpPr txBox="1"/>
            <p:nvPr/>
          </p:nvSpPr>
          <p:spPr>
            <a:xfrm>
              <a:off x="3274443" y="4090719"/>
              <a:ext cx="564311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>
                  <a:latin typeface="Fira Sans Condensed SemiBold" panose="020B0603050000020004" pitchFamily="34" charset="0"/>
                </a:rPr>
                <a:t>06. Null-Restricted / Layout</a:t>
              </a:r>
              <a:endParaRPr lang="fr-FR" sz="3200" b="1" i="1">
                <a:solidFill>
                  <a:schemeClr val="accent1"/>
                </a:solidFill>
                <a:latin typeface="Consolas" panose="020B0609020204030204" pitchFamily="49" charset="0"/>
              </a:endParaRPr>
            </a:p>
          </p:txBody>
        </p:sp>
      </p:grp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36D58C-FC0E-1177-3936-D8AEE286C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857942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E0001-678D-E701-506A-EBEB094BD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62C4CB0-7159-F8F0-D2A8-2CED99AFAF01}"/>
              </a:ext>
            </a:extLst>
          </p:cNvPr>
          <p:cNvSpPr txBox="1"/>
          <p:nvPr/>
        </p:nvSpPr>
        <p:spPr>
          <a:xfrm>
            <a:off x="3691354" y="463504"/>
            <a:ext cx="48093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Aplatissement - Champs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F507FF-0C7D-4EF1-4230-DA3FD52550CD}"/>
              </a:ext>
            </a:extLst>
          </p:cNvPr>
          <p:cNvSpPr/>
          <p:nvPr/>
        </p:nvSpPr>
        <p:spPr>
          <a:xfrm>
            <a:off x="2674204" y="2776252"/>
            <a:ext cx="7718566" cy="481378"/>
          </a:xfrm>
          <a:prstGeom prst="rect">
            <a:avLst/>
          </a:prstGeom>
          <a:ln w="12700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lnSpc>
                <a:spcPts val="1425"/>
              </a:lnSpc>
              <a:buNone/>
            </a:pPr>
            <a:r>
              <a:rPr lang="en-US">
                <a:solidFill>
                  <a:srgbClr val="0000FF"/>
                </a:solidFill>
                <a:latin typeface="Consolas" panose="020B0609020204030204" pitchFamily="49" charset="0"/>
              </a:rPr>
              <a:t>record</a:t>
            </a:r>
            <a:r>
              <a:rPr lang="en-US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>
                <a:solidFill>
                  <a:srgbClr val="267F99"/>
                </a:solidFill>
                <a:latin typeface="Consolas" panose="020B0609020204030204" pitchFamily="49" charset="0"/>
              </a:rPr>
              <a:t>Data</a:t>
            </a:r>
            <a:r>
              <a:rPr lang="en-US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en-US">
                <a:solidFill>
                  <a:srgbClr val="267F99"/>
                </a:solidFill>
                <a:latin typeface="Consolas" panose="020B0609020204030204" pitchFamily="49" charset="0"/>
              </a:rPr>
              <a:t>Boolean!</a:t>
            </a:r>
            <a:r>
              <a:rPr lang="en-US">
                <a:solidFill>
                  <a:srgbClr val="3B3B3B"/>
                </a:solidFill>
                <a:latin typeface="Consolas" panose="020B0609020204030204" pitchFamily="49" charset="0"/>
              </a:rPr>
              <a:t> bool1, </a:t>
            </a:r>
            <a:r>
              <a:rPr lang="en-US">
                <a:solidFill>
                  <a:srgbClr val="267F99"/>
                </a:solidFill>
                <a:latin typeface="Consolas" panose="020B0609020204030204" pitchFamily="49" charset="0"/>
              </a:rPr>
              <a:t>Boolean!</a:t>
            </a:r>
            <a:r>
              <a:rPr lang="en-US">
                <a:solidFill>
                  <a:srgbClr val="3B3B3B"/>
                </a:solidFill>
                <a:latin typeface="Consolas" panose="020B0609020204030204" pitchFamily="49" charset="0"/>
              </a:rPr>
              <a:t> bool2, </a:t>
            </a:r>
            <a:r>
              <a:rPr lang="en-US">
                <a:solidFill>
                  <a:srgbClr val="267F99"/>
                </a:solidFill>
                <a:latin typeface="Consolas" panose="020B0609020204030204" pitchFamily="49" charset="0"/>
              </a:rPr>
              <a:t>Integer!</a:t>
            </a:r>
            <a:r>
              <a:rPr lang="en-US">
                <a:solidFill>
                  <a:srgbClr val="3B3B3B"/>
                </a:solidFill>
                <a:latin typeface="Consolas" panose="020B0609020204030204" pitchFamily="49" charset="0"/>
              </a:rPr>
              <a:t> i) {}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8F0D05-2D6D-D99C-6FB9-F000915F91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40</a:t>
            </a:fld>
            <a:endParaRPr lang="fr-FR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55A8D97-DE7D-85C6-9B10-7D413DE1D8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2561495"/>
              </p:ext>
            </p:extLst>
          </p:nvPr>
        </p:nvGraphicFramePr>
        <p:xfrm>
          <a:off x="3739484" y="3762428"/>
          <a:ext cx="5473212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2202">
                  <a:extLst>
                    <a:ext uri="{9D8B030D-6E8A-4147-A177-3AD203B41FA5}">
                      <a16:colId xmlns:a16="http://schemas.microsoft.com/office/drawing/2014/main" val="2104601821"/>
                    </a:ext>
                  </a:extLst>
                </a:gridCol>
                <a:gridCol w="912202">
                  <a:extLst>
                    <a:ext uri="{9D8B030D-6E8A-4147-A177-3AD203B41FA5}">
                      <a16:colId xmlns:a16="http://schemas.microsoft.com/office/drawing/2014/main" val="3737428437"/>
                    </a:ext>
                  </a:extLst>
                </a:gridCol>
                <a:gridCol w="912202">
                  <a:extLst>
                    <a:ext uri="{9D8B030D-6E8A-4147-A177-3AD203B41FA5}">
                      <a16:colId xmlns:a16="http://schemas.microsoft.com/office/drawing/2014/main" val="3787841540"/>
                    </a:ext>
                  </a:extLst>
                </a:gridCol>
                <a:gridCol w="912202">
                  <a:extLst>
                    <a:ext uri="{9D8B030D-6E8A-4147-A177-3AD203B41FA5}">
                      <a16:colId xmlns:a16="http://schemas.microsoft.com/office/drawing/2014/main" val="4161176503"/>
                    </a:ext>
                  </a:extLst>
                </a:gridCol>
                <a:gridCol w="912202">
                  <a:extLst>
                    <a:ext uri="{9D8B030D-6E8A-4147-A177-3AD203B41FA5}">
                      <a16:colId xmlns:a16="http://schemas.microsoft.com/office/drawing/2014/main" val="719675949"/>
                    </a:ext>
                  </a:extLst>
                </a:gridCol>
                <a:gridCol w="912202">
                  <a:extLst>
                    <a:ext uri="{9D8B030D-6E8A-4147-A177-3AD203B41FA5}">
                      <a16:colId xmlns:a16="http://schemas.microsoft.com/office/drawing/2014/main" val="17883902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b0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b1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b2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b3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b5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b7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1581640"/>
                  </a:ext>
                </a:extLst>
              </a:tr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i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bool1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bool2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23209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31168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6A6129-4EEE-A07D-678D-0C2652D21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8EFA0662-9C3B-DAD8-A380-B6C4A5243D75}"/>
              </a:ext>
            </a:extLst>
          </p:cNvPr>
          <p:cNvGrpSpPr/>
          <p:nvPr/>
        </p:nvGrpSpPr>
        <p:grpSpPr>
          <a:xfrm>
            <a:off x="3274443" y="2474893"/>
            <a:ext cx="5643114" cy="1908214"/>
            <a:chOff x="3274443" y="2767280"/>
            <a:chExt cx="5643114" cy="1908214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5E39502-158A-B24A-3F16-FFF163431C1E}"/>
                </a:ext>
              </a:extLst>
            </p:cNvPr>
            <p:cNvSpPr txBox="1"/>
            <p:nvPr/>
          </p:nvSpPr>
          <p:spPr>
            <a:xfrm>
              <a:off x="4774965" y="2767280"/>
              <a:ext cx="2642070" cy="13234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000">
                  <a:latin typeface="Fira Sans Condensed SemiBold" panose="020B0603050000020004" pitchFamily="34" charset="0"/>
                </a:rPr>
                <a:t>Démo</a:t>
              </a:r>
              <a:endParaRPr lang="fr-FR" sz="8000">
                <a:latin typeface="Fira Sans Condensed SemiBold" panose="020B0603050000020004" pitchFamily="34" charset="0"/>
              </a:endParaRPr>
            </a:p>
          </p:txBody>
        </p:sp>
        <p:sp>
          <p:nvSpPr>
            <p:cNvPr id="2" name="ZoneTexte 9">
              <a:extLst>
                <a:ext uri="{FF2B5EF4-FFF2-40B4-BE49-F238E27FC236}">
                  <a16:creationId xmlns:a16="http://schemas.microsoft.com/office/drawing/2014/main" id="{0F2AB9B9-8535-08D7-7E30-4A8F838BD130}"/>
                </a:ext>
              </a:extLst>
            </p:cNvPr>
            <p:cNvSpPr txBox="1"/>
            <p:nvPr/>
          </p:nvSpPr>
          <p:spPr>
            <a:xfrm>
              <a:off x="3274443" y="4090719"/>
              <a:ext cx="564311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>
                  <a:latin typeface="Fira Sans Condensed SemiBold" panose="020B0603050000020004" pitchFamily="34" charset="0"/>
                </a:rPr>
                <a:t>07. Flattening</a:t>
              </a:r>
              <a:endParaRPr lang="fr-FR" sz="3200" b="1" i="1">
                <a:solidFill>
                  <a:schemeClr val="accent1"/>
                </a:solidFill>
                <a:latin typeface="Consolas" panose="020B0609020204030204" pitchFamily="49" charset="0"/>
              </a:endParaRPr>
            </a:p>
          </p:txBody>
        </p:sp>
      </p:grp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D3BC55-461B-2181-72BA-5005BB5F4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41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3330207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08808-CE46-D49A-7A0C-4761EFE0E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035A2F7-4B2E-F857-C071-32BA8D9BDDA4}"/>
              </a:ext>
            </a:extLst>
          </p:cNvPr>
          <p:cNvSpPr txBox="1"/>
          <p:nvPr/>
        </p:nvSpPr>
        <p:spPr>
          <a:xfrm>
            <a:off x="4273254" y="463504"/>
            <a:ext cx="36455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Roadmap Valhalla</a:t>
            </a:r>
            <a:endParaRPr lang="fr-FR" sz="3600" i="1">
              <a:latin typeface="Fira Sans Condensed SemiBold" panose="020B0603050000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EDF19C-560B-2605-01BC-3FD8D015F55B}"/>
              </a:ext>
            </a:extLst>
          </p:cNvPr>
          <p:cNvSpPr txBox="1"/>
          <p:nvPr/>
        </p:nvSpPr>
        <p:spPr>
          <a:xfrm>
            <a:off x="2882324" y="2037908"/>
            <a:ext cx="8314185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SemiBold" panose="020B0603050000020004" pitchFamily="34" charset="0"/>
              </a:rPr>
              <a:t>JEP 401 : Value Classes &amp; Objects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latin typeface="Fira Sans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SemiBold" panose="020B0603050000020004" pitchFamily="34" charset="0"/>
              </a:rPr>
              <a:t>Null-Restricted and Nullable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SemiBold" panose="020B0603050000020004" pitchFamily="34" charset="0"/>
              </a:rPr>
              <a:t>Null-Restricted Value Class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latin typeface="Fira Sans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SemiBold" panose="020B0603050000020004" pitchFamily="34" charset="0"/>
              </a:rPr>
              <a:t>JEP 402 : Enhanced Primitive Boxing (</a:t>
            </a:r>
            <a:r>
              <a:rPr lang="en-US" sz="2400" b="1" dirty="0">
                <a:solidFill>
                  <a:schemeClr val="accent1"/>
                </a:solidFill>
                <a:latin typeface="Consolas" panose="020B0609020204030204" pitchFamily="49" charset="0"/>
              </a:rPr>
              <a:t>int ≈ Integer!</a:t>
            </a:r>
            <a:r>
              <a:rPr lang="en-US" sz="2400" dirty="0">
                <a:latin typeface="Fira Sans SemiBold" panose="020B0603050000020004" pitchFamily="34" charset="0"/>
              </a:rPr>
              <a:t>)</a:t>
            </a:r>
          </a:p>
          <a:p>
            <a:endParaRPr lang="en-US" sz="2400" dirty="0">
              <a:latin typeface="Fira Sans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SemiBold" panose="020B0603050000020004" pitchFamily="34" charset="0"/>
              </a:rPr>
              <a:t>Parametric JVM (</a:t>
            </a:r>
            <a:r>
              <a:rPr lang="en-US" sz="2400" b="1" dirty="0">
                <a:solidFill>
                  <a:schemeClr val="accent1"/>
                </a:solidFill>
                <a:latin typeface="Consolas" panose="020B0609020204030204" pitchFamily="49" charset="0"/>
              </a:rPr>
              <a:t>List&lt;</a:t>
            </a:r>
            <a:r>
              <a:rPr lang="en-US" sz="2400" b="1" dirty="0" err="1">
                <a:solidFill>
                  <a:schemeClr val="accent1"/>
                </a:solidFill>
                <a:latin typeface="Consolas" panose="020B0609020204030204" pitchFamily="49" charset="0"/>
              </a:rPr>
              <a:t>ValueType</a:t>
            </a:r>
            <a:r>
              <a:rPr lang="en-US" sz="2400" b="1" dirty="0">
                <a:solidFill>
                  <a:schemeClr val="accent1"/>
                </a:solidFill>
                <a:latin typeface="Consolas" panose="020B0609020204030204" pitchFamily="49" charset="0"/>
              </a:rPr>
              <a:t>&gt;</a:t>
            </a:r>
            <a:r>
              <a:rPr lang="en-US" sz="2400" dirty="0">
                <a:latin typeface="Fira Sans SemiBold" panose="020B0603050000020004" pitchFamily="34" charset="0"/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2400" dirty="0">
              <a:latin typeface="Fira Sans SemiBold" panose="020B06030500000200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47A3B2A-B129-D0B3-8BE0-FC4003457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42</a:t>
            </a:fld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9CB3D92-97E3-A7A7-F998-40A4995FC9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819" y="5075997"/>
            <a:ext cx="2553282" cy="168948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38B3322-E666-D2C2-09E5-B6F9E30B5A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55" y="4125091"/>
            <a:ext cx="2172195" cy="118136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1C64553-763B-EDC9-36A4-BA07A8AA7E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904" y="2948823"/>
            <a:ext cx="2324630" cy="123218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817C72C-56BE-CE25-DF4D-81DFEAC160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180" y="2284582"/>
            <a:ext cx="1664079" cy="120677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0A860F6-4AF6-C730-9DDA-3D8A93FB85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95752" y="1120894"/>
            <a:ext cx="342978" cy="87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8777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5C0E4-29DB-8659-8507-4A006DE89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2375C65-2869-A98D-F6E4-7F31BD7CE4E3}"/>
              </a:ext>
            </a:extLst>
          </p:cNvPr>
          <p:cNvSpPr txBox="1"/>
          <p:nvPr/>
        </p:nvSpPr>
        <p:spPr>
          <a:xfrm>
            <a:off x="4952123" y="463504"/>
            <a:ext cx="22878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Conclusion</a:t>
            </a:r>
            <a:endParaRPr lang="fr-FR" sz="3600" i="1">
              <a:latin typeface="Fira Sans Condensed SemiBold" panose="020B0603050000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F9CB6D-2607-4721-532D-8A024C62D44B}"/>
              </a:ext>
            </a:extLst>
          </p:cNvPr>
          <p:cNvSpPr txBox="1"/>
          <p:nvPr/>
        </p:nvSpPr>
        <p:spPr>
          <a:xfrm>
            <a:off x="1041355" y="2167566"/>
            <a:ext cx="1026994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SemiBold" panose="020B0603050000020004" pitchFamily="34" charset="0"/>
              </a:rPr>
              <a:t>Encapsulation (POO) + performances des primitifs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>
              <a:latin typeface="Fira Sans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SemiBold" panose="020B0603050000020004" pitchFamily="34" charset="0"/>
              </a:rPr>
              <a:t>Pas juste une “amélioration” de performance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>
              <a:latin typeface="Fira Sans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SemiBold" panose="020B0603050000020004" pitchFamily="34" charset="0"/>
              </a:rPr>
              <a:t>Combler le gap entre types primitifs et objets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2400">
              <a:latin typeface="Fira Sans SemiBold" panose="020B06030500000200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FF7E78-FA7D-49D3-BC1C-A3749175ACF5}"/>
              </a:ext>
            </a:extLst>
          </p:cNvPr>
          <p:cNvSpPr txBox="1"/>
          <p:nvPr/>
        </p:nvSpPr>
        <p:spPr>
          <a:xfrm>
            <a:off x="3016653" y="6435022"/>
            <a:ext cx="61586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>
                <a:latin typeface="Fira Sans SemiBold" panose="020B0603050000020004" pitchFamily="34" charset="0"/>
              </a:rPr>
              <a:t>https://github.com/CodeSimcoe/mandelbrot-valhalla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5F5F51A-979D-631C-22AF-B39E449D6C2F}"/>
              </a:ext>
            </a:extLst>
          </p:cNvPr>
          <p:cNvSpPr txBox="1"/>
          <p:nvPr/>
        </p:nvSpPr>
        <p:spPr>
          <a:xfrm>
            <a:off x="1041355" y="1576245"/>
            <a:ext cx="195120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>
                <a:solidFill>
                  <a:schemeClr val="accent1"/>
                </a:solidFill>
                <a:latin typeface="Fira Sans SemiBold" panose="020B0603050000020004" pitchFamily="34" charset="0"/>
              </a:rPr>
              <a:t>Value Types</a:t>
            </a:r>
            <a:endParaRPr lang="fr-FR" sz="2400">
              <a:solidFill>
                <a:schemeClr val="accent1"/>
              </a:solidFill>
              <a:latin typeface="Fira Sans SemiBold" panose="020B06030500000200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E1FC32-14AC-C039-AD96-EFD3E4310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43</a:t>
            </a:fld>
            <a:endParaRPr lang="fr-FR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29A6E4A-7DD9-70E9-D5C2-4849830339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6433" y="4787491"/>
            <a:ext cx="1659134" cy="1647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602613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DFB0940-32D8-A6B3-B9C8-454ED333D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44</a:t>
            </a:fld>
            <a:endParaRPr lang="fr-FR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B80E2DDF-A207-163E-6B17-76214A4A02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466" y="0"/>
            <a:ext cx="1145706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768651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6933055F-45F4-C161-5955-9D3B3263C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45</a:t>
            </a:fld>
            <a:endParaRPr lang="fr-FR"/>
          </a:p>
        </p:txBody>
      </p:sp>
      <p:pic>
        <p:nvPicPr>
          <p:cNvPr id="1026" name="Picture 2" descr="QR Code Image">
            <a:extLst>
              <a:ext uri="{FF2B5EF4-FFF2-40B4-BE49-F238E27FC236}">
                <a16:creationId xmlns:a16="http://schemas.microsoft.com/office/drawing/2014/main" id="{D047E99A-A34A-00D3-6309-009E1B6C0E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858006"/>
            <a:ext cx="3141987" cy="31419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1071780B-6AD5-040B-0153-5D5117FA24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1987" y="937865"/>
            <a:ext cx="9050013" cy="498227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D5D91B2-D795-3A7E-7502-0ED0CEA2A820}"/>
              </a:ext>
            </a:extLst>
          </p:cNvPr>
          <p:cNvSpPr/>
          <p:nvPr/>
        </p:nvSpPr>
        <p:spPr>
          <a:xfrm>
            <a:off x="9860437" y="3874416"/>
            <a:ext cx="2205872" cy="1125577"/>
          </a:xfrm>
          <a:prstGeom prst="rect">
            <a:avLst/>
          </a:prstGeom>
          <a:noFill/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513119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F6FB69-84B8-1608-DC94-215E5717F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4" descr="The Mandelbrot Set – Fractals – Mathigon">
            <a:extLst>
              <a:ext uri="{FF2B5EF4-FFF2-40B4-BE49-F238E27FC236}">
                <a16:creationId xmlns:a16="http://schemas.microsoft.com/office/drawing/2014/main" id="{83EF37B7-1193-1687-2BD3-86F3976EF0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40741" y="0"/>
            <a:ext cx="8510518" cy="68556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C3A3E42-2813-3E6E-BD87-E152E9CF7A71}"/>
              </a:ext>
            </a:extLst>
          </p:cNvPr>
          <p:cNvSpPr txBox="1"/>
          <p:nvPr/>
        </p:nvSpPr>
        <p:spPr>
          <a:xfrm>
            <a:off x="180362" y="5116233"/>
            <a:ext cx="638187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>
                <a:latin typeface="Fira Sans Condensed SemiBold" panose="020B0603050000020004" pitchFamily="34" charset="0"/>
              </a:rPr>
              <a:t>Merci de </a:t>
            </a:r>
            <a:r>
              <a:rPr lang="en-US" sz="4800" dirty="0" err="1">
                <a:latin typeface="Fira Sans Condensed SemiBold" panose="020B0603050000020004" pitchFamily="34" charset="0"/>
              </a:rPr>
              <a:t>votre</a:t>
            </a:r>
            <a:r>
              <a:rPr lang="en-US" sz="4800" dirty="0">
                <a:latin typeface="Fira Sans Condensed SemiBold" panose="020B0603050000020004" pitchFamily="34" charset="0"/>
              </a:rPr>
              <a:t> attention</a:t>
            </a:r>
            <a:endParaRPr lang="fr-FR" sz="4800" dirty="0">
              <a:latin typeface="Fira Sans Condensed SemiBold" panose="020B06030500000200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236C34-1D2D-F643-F4BD-114C35966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46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5860397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E0551-351A-B9ED-9B6E-F3D567106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A62A9BAC-D5E2-2527-49C9-928B3098DA1D}"/>
              </a:ext>
            </a:extLst>
          </p:cNvPr>
          <p:cNvGrpSpPr/>
          <p:nvPr/>
        </p:nvGrpSpPr>
        <p:grpSpPr>
          <a:xfrm>
            <a:off x="3274443" y="2474893"/>
            <a:ext cx="5643114" cy="1908214"/>
            <a:chOff x="3274443" y="2767280"/>
            <a:chExt cx="5643114" cy="1908214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05E99ABE-ADA4-8EE2-F39D-209DBF53962F}"/>
                </a:ext>
              </a:extLst>
            </p:cNvPr>
            <p:cNvSpPr txBox="1"/>
            <p:nvPr/>
          </p:nvSpPr>
          <p:spPr>
            <a:xfrm>
              <a:off x="4774965" y="2767280"/>
              <a:ext cx="2642070" cy="13234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000">
                  <a:latin typeface="Fira Sans Condensed SemiBold" panose="020B0603050000020004" pitchFamily="34" charset="0"/>
                </a:rPr>
                <a:t>Démo</a:t>
              </a:r>
              <a:endParaRPr lang="fr-FR" sz="8000">
                <a:latin typeface="Fira Sans Condensed SemiBold" panose="020B0603050000020004" pitchFamily="34" charset="0"/>
              </a:endParaRPr>
            </a:p>
          </p:txBody>
        </p:sp>
        <p:sp>
          <p:nvSpPr>
            <p:cNvPr id="2" name="ZoneTexte 9">
              <a:extLst>
                <a:ext uri="{FF2B5EF4-FFF2-40B4-BE49-F238E27FC236}">
                  <a16:creationId xmlns:a16="http://schemas.microsoft.com/office/drawing/2014/main" id="{EA52C34E-AB3D-B2EA-9F13-4F3D066B0E4B}"/>
                </a:ext>
              </a:extLst>
            </p:cNvPr>
            <p:cNvSpPr txBox="1"/>
            <p:nvPr/>
          </p:nvSpPr>
          <p:spPr>
            <a:xfrm>
              <a:off x="3274443" y="4090719"/>
              <a:ext cx="564311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>
                  <a:latin typeface="Fira Sans Condensed SemiBold" panose="020B0603050000020004" pitchFamily="34" charset="0"/>
                </a:rPr>
                <a:t>09. Flattening / Non-atomic</a:t>
              </a:r>
              <a:endParaRPr lang="fr-FR" sz="3200" b="1" i="1">
                <a:solidFill>
                  <a:schemeClr val="accent1"/>
                </a:solidFill>
                <a:latin typeface="Consolas" panose="020B0609020204030204" pitchFamily="49" charset="0"/>
              </a:endParaRPr>
            </a:p>
          </p:txBody>
        </p:sp>
      </p:grp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ED331E-FC95-0C0D-D9E2-CF0FDAB79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47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924392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5AB0324-0823-428D-9D93-FEEADD32F87E}">
  <we:reference id="4defab0e-9c81-47f2-ac62-1298126f1299" version="1.0.0.0" store="EXCatalog" storeType="EXCatalog"/>
  <we:alternateReferences/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6440</TotalTime>
  <Words>1615</Words>
  <Application>Microsoft Office PowerPoint</Application>
  <PresentationFormat>Widescreen</PresentationFormat>
  <Paragraphs>423</Paragraphs>
  <Slides>47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5" baseType="lpstr">
      <vt:lpstr>Aptos</vt:lpstr>
      <vt:lpstr>Aptos Display</vt:lpstr>
      <vt:lpstr>Arial</vt:lpstr>
      <vt:lpstr>Consolas</vt:lpstr>
      <vt:lpstr>Fira Sans Condensed</vt:lpstr>
      <vt:lpstr>Fira Sans Condensed SemiBold</vt:lpstr>
      <vt:lpstr>Fira Sans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Clément de Tastes</dc:creator>
  <cp:lastModifiedBy>Clément de Tastes</cp:lastModifiedBy>
  <cp:revision>418</cp:revision>
  <cp:lastPrinted>2026-02-24T11:26:21Z</cp:lastPrinted>
  <dcterms:created xsi:type="dcterms:W3CDTF">2025-12-16T09:28:58Z</dcterms:created>
  <dcterms:modified xsi:type="dcterms:W3CDTF">2026-09-21T06:11:19Z</dcterms:modified>
</cp:coreProperties>
</file>