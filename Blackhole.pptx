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handoutMasterIdLst>
    <p:handoutMasterId r:id="rId61"/>
  </p:handoutMasterIdLst>
  <p:sldIdLst>
    <p:sldId id="438" r:id="rId2"/>
    <p:sldId id="442" r:id="rId3"/>
    <p:sldId id="443" r:id="rId4"/>
    <p:sldId id="445" r:id="rId5"/>
    <p:sldId id="446" r:id="rId6"/>
    <p:sldId id="448" r:id="rId7"/>
    <p:sldId id="449" r:id="rId8"/>
    <p:sldId id="447" r:id="rId9"/>
    <p:sldId id="439" r:id="rId10"/>
    <p:sldId id="440" r:id="rId11"/>
    <p:sldId id="444" r:id="rId12"/>
    <p:sldId id="260" r:id="rId13"/>
    <p:sldId id="298" r:id="rId14"/>
    <p:sldId id="259" r:id="rId15"/>
    <p:sldId id="262" r:id="rId16"/>
    <p:sldId id="263" r:id="rId17"/>
    <p:sldId id="265" r:id="rId18"/>
    <p:sldId id="441" r:id="rId19"/>
    <p:sldId id="321" r:id="rId20"/>
    <p:sldId id="322" r:id="rId21"/>
    <p:sldId id="318" r:id="rId22"/>
    <p:sldId id="267" r:id="rId23"/>
    <p:sldId id="268" r:id="rId24"/>
    <p:sldId id="270" r:id="rId25"/>
    <p:sldId id="269" r:id="rId26"/>
    <p:sldId id="271" r:id="rId27"/>
    <p:sldId id="272" r:id="rId28"/>
    <p:sldId id="284" r:id="rId29"/>
    <p:sldId id="285" r:id="rId30"/>
    <p:sldId id="290" r:id="rId31"/>
    <p:sldId id="287" r:id="rId32"/>
    <p:sldId id="286" r:id="rId33"/>
    <p:sldId id="288" r:id="rId34"/>
    <p:sldId id="273" r:id="rId35"/>
    <p:sldId id="276" r:id="rId36"/>
    <p:sldId id="281" r:id="rId37"/>
    <p:sldId id="282" r:id="rId38"/>
    <p:sldId id="283" r:id="rId39"/>
    <p:sldId id="291" r:id="rId40"/>
    <p:sldId id="294" r:id="rId41"/>
    <p:sldId id="289" r:id="rId42"/>
    <p:sldId id="292" r:id="rId43"/>
    <p:sldId id="296" r:id="rId44"/>
    <p:sldId id="297" r:id="rId45"/>
    <p:sldId id="299" r:id="rId46"/>
    <p:sldId id="300" r:id="rId47"/>
    <p:sldId id="312" r:id="rId48"/>
    <p:sldId id="314" r:id="rId49"/>
    <p:sldId id="303" r:id="rId50"/>
    <p:sldId id="307" r:id="rId51"/>
    <p:sldId id="323" r:id="rId52"/>
    <p:sldId id="305" r:id="rId53"/>
    <p:sldId id="317" r:id="rId54"/>
    <p:sldId id="309" r:id="rId55"/>
    <p:sldId id="435" r:id="rId56"/>
    <p:sldId id="437" r:id="rId57"/>
    <p:sldId id="304" r:id="rId58"/>
    <p:sldId id="316" r:id="rId5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1" autoAdjust="0"/>
    <p:restoredTop sz="92342" autoAdjust="0"/>
  </p:normalViewPr>
  <p:slideViewPr>
    <p:cSldViewPr snapToGrid="0">
      <p:cViewPr varScale="1">
        <p:scale>
          <a:sx n="111" d="100"/>
          <a:sy n="111" d="100"/>
        </p:scale>
        <p:origin x="12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411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91C848-B012-01CD-383B-68BABF105F0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0CC307-2DBF-5ABB-A4A8-34E74E1B06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A90223-A383-4EF3-9DDD-045F9EB239B6}" type="datetimeFigureOut">
              <a:rPr lang="fr-FR" smtClean="0"/>
              <a:t>19/09/2026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1494DE-A878-789B-0AB9-34328386C8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3CFE15-B67A-FE70-5E52-483D87B0A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27C60E-E3E0-4F56-ACBE-3A01B47EF68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434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E15E0A-83FC-4BC3-B4D8-F52493CDE4DD}" type="datetimeFigureOut">
              <a:rPr lang="fr-FR" smtClean="0"/>
              <a:t>19/09/2026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A3014-B2AC-4DD9-96D6-B2D3355A50B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9745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517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ACA31-B58A-0239-E724-8A937AC1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DD830-3FBC-BF57-189A-AAA3C66D1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5D767-A19C-A8CB-7B2B-734F26EB14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2F88C6-3F1F-9A6C-38B4-30A6B344C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1356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44F4C-2EDA-1780-EC11-F64A71FDF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20D92F-26DF-E7F7-5158-00560009B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4FFEC-9259-DD50-A91F-F61053EE5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EFB577-79C6-539E-43B2-8C00A1304D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6789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449B0-C084-9E2C-6A59-DDBC8CFB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930B89-AD5C-AB8C-5ECA-372A2C0AEE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809AFB-33C1-86F8-EB85-132BB8DC4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53C26-CA60-87CA-0B56-E27AB6BD5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1532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6850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0B215-0000-D646-CE62-105E45087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BBA29-6B66-7348-6BC2-52DA90157B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579A5-8DAA-5702-95DE-48511EAC5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60920-1EB1-D3E2-736D-DCC05D101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5833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1ED9-9CD9-FDA3-70D1-A2B7AC252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893B54-1ABF-D0E5-538C-8D0D4A11C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69D59E-76ED-F6E0-B744-33807AE27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E50503-EEB8-5FAA-8365-BC69549342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26886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B64BE-7EC8-9CAD-4481-499FA1D35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C654-C728-DF29-B359-F60885E695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81D0FD-AE80-02BC-0C23-2397C26C1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31C33-0AD8-C77A-B94B-E0A299BE2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7512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B5DA6-BD9C-5FAA-3A21-57313BA0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434C5-B944-C4B2-0430-1AD84B6B80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9FE9E9-75AD-623A-6D1B-3E8084454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53C8D-284C-0811-C5FA-FFF9E73990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291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D564-0AA7-5E81-DED3-E67AB1D24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22B7ED-0083-5C97-88A3-776903CA81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8F068-A625-8724-82D8-E63273478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4DB72-26F0-04EB-7A79-4E6C05573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5944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AE4C0-E2B0-D69A-0AD3-22431AD0C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97D49-3038-481D-F74C-39E308453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53E2DB-454D-C62E-F5FD-D965A7A3A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B0EF4-65C2-FFD5-4EE6-ED31ACD93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A3014-B2AC-4DD9-96D6-B2D3355A50BC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2232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51987-27BB-2014-8039-4BAD119EE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71744E-7135-93BB-FCD5-EA2F3C80A0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980758-6111-F257-1B94-0CAF636B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4B909E-DF75-4467-8919-325FEECAC709}" type="datetime1">
              <a:rPr lang="fr-FR" smtClean="0"/>
              <a:t>19/09/2026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25523-B413-A638-EBB0-7EB0F3D56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43E8C-FCE7-ACF3-4AC0-C64A3DA8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5793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E3207-D829-6182-825B-043FA1C0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4EC31-356A-B413-FAFC-5C4628298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5BBC-76BD-80A2-DC11-CD8DB144C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A09E8-7476-4472-8A87-583D7F23AB0B}" type="datetime1">
              <a:rPr lang="fr-FR" smtClean="0"/>
              <a:t>19/09/2026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A5AF5E-FBA1-2660-2ABB-89C35C840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BF9FA7-D19B-AC34-B6F0-B16139E2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004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2F28F-9D59-C0F6-ED45-6E5EAE95D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D0BD9-5DCF-E7CB-029E-5B5E2E91A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13661D-1FCB-F462-E87C-34BE8F4FB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FAEAD-4E04-4474-B982-B4CE1B1F79FA}" type="datetime1">
              <a:rPr lang="fr-FR" smtClean="0"/>
              <a:t>19/09/2026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548C2-6E8A-7EC5-EED6-B2E8F472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A9A5-C3E6-3968-8587-471FF8FC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3346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5BBAD-D0D5-1B5D-B20F-AE42F222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02319-5E91-A10F-3979-5B6F3FE16B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308F79-6C5D-FBBC-45DF-3B7871B14E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C70CC-2716-9594-CA61-1C90E3E38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5371DE-4BB3-41F6-AC3F-6CEBA8F21BD3}" type="datetime1">
              <a:rPr lang="fr-FR" smtClean="0"/>
              <a:t>19/09/2026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FE4BE6-BB42-B9C9-5957-996B0616A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F9DDC3-7D79-752A-DE6F-69800DC3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6837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EB726-2919-E12D-B4C0-CAD4B6A4E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9B2C9-710B-46E4-E42A-A88BBD9AA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788D1-BBC4-6B3F-06EF-A3982C958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0BF18-5E1B-540A-D12F-EE545E333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517424-C093-097F-4B47-F966087F2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3AC25E-B6A4-213B-8850-FCFAC18E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90617F-C9C1-455A-9E27-DE7E820A2C5A}" type="datetime1">
              <a:rPr lang="fr-FR" smtClean="0"/>
              <a:t>19/09/2026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45403-D49E-F87E-E6C2-EE25A8111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ED98DA-4512-39BA-BEB5-11159EF2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407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9299-0EC7-1233-3352-1A934B3E5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FFEEA1-476A-7670-2E35-FD7DD1B3F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084AF-9098-4A15-8BDC-BDD5C517DFAA}" type="datetime1">
              <a:rPr lang="fr-FR" smtClean="0"/>
              <a:t>19/09/2026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871D49-E937-5260-A4F9-EEAD7D67D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FED7CE-7271-92C3-8D72-BE0746F1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330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0C0110-0071-65F1-5AD9-2204A8D17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D4CC8-AC63-483F-A31B-4695172B72D7}" type="datetime1">
              <a:rPr lang="fr-FR" smtClean="0"/>
              <a:t>19/09/2026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494BB3-8978-415C-0987-98EE32F15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EC42C0-EB26-CAB8-DFDD-30BB4AF6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713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DB8C-69FE-8951-D59B-4A034A488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CC0C8-0077-1C50-6C7E-F9CFC194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FB2645-B326-D797-46AF-7615922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32F7D3-D5EF-9A38-3D5E-92D9D621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E2A67-9B9A-4DA7-A234-B292BBF525A2}" type="datetime1">
              <a:rPr lang="fr-FR" smtClean="0"/>
              <a:t>19/09/2026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AE42B-DF36-29B3-BF44-1DBB0679B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BE26F-64C8-DC74-D325-860E7754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7135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3E9C3-ADB4-0B05-4CE3-147C5E8F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C7772A-70D4-54D3-07D5-C2D5758B34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78DB-2588-743A-244F-4269B53C8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7B721-22EA-B521-8490-FC9AC4151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55379-FEA8-410F-AD03-3AEA35DBF523}" type="datetime1">
              <a:rPr lang="fr-FR" smtClean="0"/>
              <a:t>19/09/2026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E8FD49-DF3F-11A2-F6F5-BC1D4C0DB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9EAA8-5BA2-802C-5131-0D288EA70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135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AD4B7-2904-E782-4AB1-F55E3F3D3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4C44EC-6500-CCD0-C6A2-5624FBB76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1B663-0199-169D-44B2-C5628549C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4F587-7C7F-49AB-8B44-58E41FB7D3D4}" type="datetime1">
              <a:rPr lang="fr-FR" smtClean="0"/>
              <a:t>19/09/2026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E9D8C-BB0C-5FEB-B042-081691D7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1C25C-02BA-4FD8-D87E-01C64FD2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6534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D014D0-2284-5356-93A3-0E2CDE077F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9D93B-6E31-C60E-9231-7D67A83C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EE7D8-580E-2985-9E8A-B2D3B36F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391112-AA40-456A-8658-AC9B2F2D8D8F}" type="datetime1">
              <a:rPr lang="fr-FR" smtClean="0"/>
              <a:t>19/09/2026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F7DF-AC0A-C9EF-2BEA-A0B6B3A1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2A4F72-97F8-351D-D592-6E68AA3A0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7870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bg>
      <p:bgPr>
        <a:solidFill>
          <a:srgbClr val="3049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377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8F5A2-FA90-BA36-BB48-DA58CA76B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3DAADE-0157-F8C2-27AE-0EFBBFD4D5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D1814-3EFE-CD69-8D6E-4A9FEA9D1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863EF-1D1D-4DC6-B064-9AC470BACB47}" type="datetime1">
              <a:rPr lang="fr-FR" smtClean="0"/>
              <a:t>19/09/2026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BB2B-2E74-2DBF-CDEA-E7FD3CC3B9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C831E-4CE7-960C-51BF-033F06B05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9844" y="649226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Fira Sans Condensed SemiBold" panose="020B0603050000020004" pitchFamily="34" charset="0"/>
              </a:defRPr>
            </a:lvl1pPr>
          </a:lstStyle>
          <a:p>
            <a:fld id="{83FBCAFE-9BA5-4F25-83BC-8351B4665D24}" type="slidenum">
              <a:rPr lang="fr-FR" smtClean="0"/>
              <a:pPr/>
              <a:t>‹#›</a:t>
            </a:fld>
            <a:endParaRPr lang="fr-FR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6817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espace, astronomie&#10;&#10;Description générée automatiquement">
            <a:extLst>
              <a:ext uri="{FF2B5EF4-FFF2-40B4-BE49-F238E27FC236}">
                <a16:creationId xmlns:a16="http://schemas.microsoft.com/office/drawing/2014/main" id="{4BE75BF6-3DC8-6C32-A52E-4922BCB4E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17629A96-7EE9-BC2E-8165-5A7367A41A52}"/>
              </a:ext>
            </a:extLst>
          </p:cNvPr>
          <p:cNvSpPr txBox="1"/>
          <p:nvPr/>
        </p:nvSpPr>
        <p:spPr>
          <a:xfrm>
            <a:off x="787495" y="5440360"/>
            <a:ext cx="10617009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“Escaping Java's Allocation Gravity with Value Classes”</a:t>
            </a:r>
            <a:endParaRPr lang="fr-FR" sz="3600" dirty="0">
              <a:solidFill>
                <a:schemeClr val="bg2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0E042E82-70CE-DF80-6E9D-F24286B71455}"/>
              </a:ext>
            </a:extLst>
          </p:cNvPr>
          <p:cNvSpPr txBox="1"/>
          <p:nvPr/>
        </p:nvSpPr>
        <p:spPr>
          <a:xfrm>
            <a:off x="202399" y="6334780"/>
            <a:ext cx="291778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Clément de Tastes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D8960-5DD8-6414-51FD-9B1E45679AD3}"/>
              </a:ext>
            </a:extLst>
          </p:cNvPr>
          <p:cNvSpPr txBox="1"/>
          <p:nvPr/>
        </p:nvSpPr>
        <p:spPr>
          <a:xfrm>
            <a:off x="10155445" y="6334780"/>
            <a:ext cx="1834156" cy="523220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Rémi</a:t>
            </a:r>
            <a:r>
              <a:rPr lang="en-US" sz="2800" dirty="0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 </a:t>
            </a:r>
            <a:r>
              <a:rPr lang="en-US" sz="2800" dirty="0" err="1">
                <a:solidFill>
                  <a:schemeClr val="bg2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Fira Sans Condensed SemiBold" panose="020B0603050000020004" pitchFamily="34" charset="0"/>
              </a:rPr>
              <a:t>Forax</a:t>
            </a:r>
            <a:endParaRPr lang="fr-FR" sz="2800" dirty="0">
              <a:solidFill>
                <a:schemeClr val="bg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499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texte, affiche, dessin humoristique, fiction&#10;&#10;Description générée automatiquement">
            <a:extLst>
              <a:ext uri="{FF2B5EF4-FFF2-40B4-BE49-F238E27FC236}">
                <a16:creationId xmlns:a16="http://schemas.microsoft.com/office/drawing/2014/main" id="{10F202E3-FB8C-3A80-0DB5-F765E57E5D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0643" y="1512731"/>
            <a:ext cx="2821601" cy="3087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494440" y="490008"/>
            <a:ext cx="32031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Project Valhalla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836DAF-E7B9-7829-B410-C124E1FDC177}"/>
              </a:ext>
            </a:extLst>
          </p:cNvPr>
          <p:cNvSpPr txBox="1"/>
          <p:nvPr/>
        </p:nvSpPr>
        <p:spPr>
          <a:xfrm>
            <a:off x="1177025" y="5595383"/>
            <a:ext cx="403027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Flat memory </a:t>
            </a:r>
            <a:r>
              <a:rPr lang="en-US" sz="2400" dirty="0">
                <a:latin typeface="Fira Sans Condensed SemiBold" panose="020B0603050000020004" pitchFamily="34" charset="0"/>
              </a:rPr>
              <a:t>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dirty="0">
                <a:latin typeface="Fira Sans Condensed SemiBold" panose="020B0603050000020004" pitchFamily="34" charset="0"/>
              </a:rPr>
              <a:t>Primitives are a nuisance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647004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OpenJDK project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Language (Amber, Babylon)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i="1">
                <a:latin typeface="Fira Sans Condensed SemiBold" panose="020B0603050000020004" pitchFamily="34" charset="0"/>
              </a:rPr>
              <a:t>Platform (Loom</a:t>
            </a:r>
            <a:r>
              <a:rPr lang="en-US" sz="2000" i="1" dirty="0">
                <a:latin typeface="Fira Sans Condensed SemiBold" panose="020B0603050000020004" pitchFamily="34" charset="0"/>
              </a:rPr>
              <a:t>, Panama, Leyden</a:t>
            </a:r>
            <a:r>
              <a:rPr lang="en-US" sz="2000" i="1">
                <a:latin typeface="Fira Sans Condensed SemiBold" panose="020B0603050000020004" pitchFamily="34" charset="0"/>
              </a:rPr>
              <a:t>, Lilliput, </a:t>
            </a:r>
            <a:r>
              <a:rPr lang="en-US" sz="2000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Valhalla</a:t>
            </a:r>
            <a:r>
              <a:rPr lang="en-US" sz="2000" i="1">
                <a:latin typeface="Fira Sans Condensed SemiBold" panose="020B0603050000020004" pitchFamily="34" charset="0"/>
              </a:rPr>
              <a:t>)</a:t>
            </a:r>
            <a:endParaRPr lang="en-US" sz="2400" i="1" dirty="0">
              <a:latin typeface="Fira Sans Condensed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Started in 2014 </a:t>
            </a:r>
            <a:r>
              <a:rPr lang="en-US" sz="2000" i="1" dirty="0">
                <a:latin typeface="Fira Sans Condensed SemiBold" panose="020B0603050000020004" pitchFamily="34" charset="0"/>
              </a:rPr>
              <a:t>(!!)</a:t>
            </a:r>
            <a:r>
              <a:rPr lang="en-US" sz="2400" dirty="0">
                <a:latin typeface="Fira Sans Condensed SemiBold" panose="020B0603050000020004" pitchFamily="34" charset="0"/>
              </a:rPr>
              <a:t> by Brian Goetz &amp; John Rose</a:t>
            </a:r>
            <a:endParaRPr lang="fr-FR" sz="2400" dirty="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684340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275572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 dirty="0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55E4D-2105-D8BD-2D01-9750B328C1A0}"/>
              </a:ext>
            </a:extLst>
          </p:cNvPr>
          <p:cNvSpPr txBox="1"/>
          <p:nvPr/>
        </p:nvSpPr>
        <p:spPr>
          <a:xfrm>
            <a:off x="1177025" y="3629943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Condensed SemiBold" panose="020B0603050000020004" pitchFamily="34" charset="0"/>
              </a:rPr>
              <a:t>Zero-cost abstraction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7399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3" grpId="0"/>
      <p:bldP spid="1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97325" y="490008"/>
            <a:ext cx="4397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Zero-Cost Abstraction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FA427B4F-9484-9FAB-1753-CB18606AD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05" y="3060165"/>
            <a:ext cx="10642861" cy="2585323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class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private 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public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627A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&lt;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1750EB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throw new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IllegalArgumentException(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67D17"/>
                </a:solidFill>
                <a:effectLst/>
                <a:latin typeface="Consolas" panose="020B0609020204030204" pitchFamily="49" charset="0"/>
              </a:rPr>
              <a:t>"Mass must be strictly positive"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altLang="fr-FR" dirty="0">
                <a:solidFill>
                  <a:srgbClr val="080808"/>
                </a:solidFill>
                <a:latin typeface="Consolas" panose="020B0609020204030204" pitchFamily="49" charset="0"/>
              </a:rPr>
              <a:t>      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mass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mass</a:t>
            </a: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</a:br>
            <a:r>
              <a:rPr kumimoji="0" lang="fr-FR" altLang="fr-FR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}</a:t>
            </a:r>
            <a:endParaRPr kumimoji="0" lang="fr-FR" altLang="fr-FR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A347B18-5F0A-0366-C737-F11EABDB262A}"/>
              </a:ext>
            </a:extLst>
          </p:cNvPr>
          <p:cNvSpPr txBox="1"/>
          <p:nvPr/>
        </p:nvSpPr>
        <p:spPr>
          <a:xfrm>
            <a:off x="2063292" y="1948999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We should not choose between abstraction and performance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220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694553" y="490008"/>
            <a:ext cx="4802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4E7A50-3EBD-D19C-B26E-3AFF11C7E5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7123" y="1348300"/>
            <a:ext cx="6597754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Groupe 4">
            <a:extLst>
              <a:ext uri="{FF2B5EF4-FFF2-40B4-BE49-F238E27FC236}">
                <a16:creationId xmlns:a16="http://schemas.microsoft.com/office/drawing/2014/main" id="{947DC2F4-6D6F-C5A7-C2A6-88D377502A89}"/>
              </a:ext>
            </a:extLst>
          </p:cNvPr>
          <p:cNvGrpSpPr/>
          <p:nvPr/>
        </p:nvGrpSpPr>
        <p:grpSpPr>
          <a:xfrm>
            <a:off x="2105740" y="3432635"/>
            <a:ext cx="1502768" cy="1712844"/>
            <a:chOff x="1331843" y="1855304"/>
            <a:chExt cx="1345096" cy="171284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A46C85C-28F4-F161-6870-5E49A00DE8DE}"/>
                </a:ext>
              </a:extLst>
            </p:cNvPr>
            <p:cNvSpPr/>
            <p:nvPr/>
          </p:nvSpPr>
          <p:spPr>
            <a:xfrm>
              <a:off x="1331843" y="1855304"/>
              <a:ext cx="1345096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5890BBB-97ED-2DFA-C251-23DBD92BDD66}"/>
                </a:ext>
              </a:extLst>
            </p:cNvPr>
            <p:cNvSpPr/>
            <p:nvPr/>
          </p:nvSpPr>
          <p:spPr>
            <a:xfrm>
              <a:off x="1331843" y="2378765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B3D981B-0328-EAAD-9218-A9D380F85B84}"/>
                </a:ext>
              </a:extLst>
            </p:cNvPr>
            <p:cNvSpPr/>
            <p:nvPr/>
          </p:nvSpPr>
          <p:spPr>
            <a:xfrm>
              <a:off x="1331843" y="2729948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B40FA9-48B0-E782-260E-6E28A04329E0}"/>
                </a:ext>
              </a:extLst>
            </p:cNvPr>
            <p:cNvSpPr/>
            <p:nvPr/>
          </p:nvSpPr>
          <p:spPr>
            <a:xfrm>
              <a:off x="1331843" y="3077817"/>
              <a:ext cx="1345096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Vec3@0X...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182F9A-3332-A49D-A187-CB03188C62AC}"/>
                </a:ext>
              </a:extLst>
            </p:cNvPr>
            <p:cNvSpPr/>
            <p:nvPr/>
          </p:nvSpPr>
          <p:spPr>
            <a:xfrm>
              <a:off x="1331843" y="3429000"/>
              <a:ext cx="1345096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2255035" y="297097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5634622F-D329-2616-CD19-6F0D1831039D}"/>
              </a:ext>
            </a:extLst>
          </p:cNvPr>
          <p:cNvGrpSpPr/>
          <p:nvPr/>
        </p:nvGrpSpPr>
        <p:grpSpPr>
          <a:xfrm>
            <a:off x="4933101" y="2515867"/>
            <a:ext cx="1502768" cy="1712844"/>
            <a:chOff x="5651789" y="3218775"/>
            <a:chExt cx="1502768" cy="17128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C74D8B-C1B7-11AF-0C0D-CDE91B8E042C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636E193-4559-2674-BDD6-B7CDB214E663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B0B459-ED61-E9CD-821A-5B0850EB6E1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281575B-AB4D-25F5-E488-F0EBFB9BCB09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668267C-D77D-2F28-7C74-2AE3A988FA11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C73AF41-1283-E4B7-DB65-291AC9AA13E0}"/>
              </a:ext>
            </a:extLst>
          </p:cNvPr>
          <p:cNvGrpSpPr/>
          <p:nvPr/>
        </p:nvGrpSpPr>
        <p:grpSpPr>
          <a:xfrm>
            <a:off x="8679234" y="4655148"/>
            <a:ext cx="1502768" cy="1712844"/>
            <a:chOff x="5651789" y="3218775"/>
            <a:chExt cx="1502768" cy="171284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DD4624E-59C8-0DBB-2C89-EC67345FAC91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E003FC7-C43E-C7E4-31F3-673DA46C545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7A16ED6-DD79-896B-4F3E-9282992626CB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0BFD5BC-CD87-CAAE-22C2-E0A14564CB1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854D624-4167-FA5E-609F-2D71FFEC6820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937E39F3-655A-7EDD-D721-798AA66F1CA4}"/>
              </a:ext>
            </a:extLst>
          </p:cNvPr>
          <p:cNvGrpSpPr/>
          <p:nvPr/>
        </p:nvGrpSpPr>
        <p:grpSpPr>
          <a:xfrm>
            <a:off x="6806168" y="3402481"/>
            <a:ext cx="1502768" cy="1712844"/>
            <a:chOff x="5651789" y="3218775"/>
            <a:chExt cx="1502768" cy="17128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1017790-D0BE-6009-5210-EF6954E79DBF}"/>
                </a:ext>
              </a:extLst>
            </p:cNvPr>
            <p:cNvSpPr/>
            <p:nvPr/>
          </p:nvSpPr>
          <p:spPr>
            <a:xfrm>
              <a:off x="5651789" y="3218775"/>
              <a:ext cx="1502768" cy="52346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Header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82245FCA-F0A5-60CD-E6F2-146241782DD0}"/>
                </a:ext>
              </a:extLst>
            </p:cNvPr>
            <p:cNvSpPr/>
            <p:nvPr/>
          </p:nvSpPr>
          <p:spPr>
            <a:xfrm>
              <a:off x="5651789" y="3742236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8811AAA-BC38-3C39-7ECB-E1029826F3C6}"/>
                </a:ext>
              </a:extLst>
            </p:cNvPr>
            <p:cNvSpPr/>
            <p:nvPr/>
          </p:nvSpPr>
          <p:spPr>
            <a:xfrm>
              <a:off x="5651789" y="4093419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32BDB9A-C269-2CC9-C822-4A67F52F039A}"/>
                </a:ext>
              </a:extLst>
            </p:cNvPr>
            <p:cNvSpPr/>
            <p:nvPr/>
          </p:nvSpPr>
          <p:spPr>
            <a:xfrm>
              <a:off x="5651789" y="4441288"/>
              <a:ext cx="1502768" cy="35118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BAF28A0-4025-E76C-B830-35BF10038BCF}"/>
                </a:ext>
              </a:extLst>
            </p:cNvPr>
            <p:cNvSpPr/>
            <p:nvPr/>
          </p:nvSpPr>
          <p:spPr>
            <a:xfrm>
              <a:off x="5651789" y="4792471"/>
              <a:ext cx="1502768" cy="13914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latin typeface="Consolas" panose="020B0609020204030204" pitchFamily="49" charset="0"/>
              </a:endParaRPr>
            </a:p>
          </p:txBody>
        </p:sp>
      </p:grp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C24E9A57-0E32-B272-C539-ADC350356583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 flipV="1">
            <a:off x="3608508" y="3566103"/>
            <a:ext cx="1324593" cy="565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108A27FC-9BED-5742-F0A8-E098DF0BC58F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3608508" y="4452717"/>
            <a:ext cx="3197660" cy="301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348514-5A8F-055C-413C-466FD6A8CEF7}"/>
              </a:ext>
            </a:extLst>
          </p:cNvPr>
          <p:cNvCxnSpPr>
            <a:cxnSpLocks/>
            <a:stCxn id="9" idx="3"/>
            <a:endCxn id="25" idx="1"/>
          </p:cNvCxnSpPr>
          <p:nvPr/>
        </p:nvCxnSpPr>
        <p:spPr>
          <a:xfrm>
            <a:off x="3608508" y="4830740"/>
            <a:ext cx="5070726" cy="874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5">
            <a:extLst>
              <a:ext uri="{FF2B5EF4-FFF2-40B4-BE49-F238E27FC236}">
                <a16:creationId xmlns:a16="http://schemas.microsoft.com/office/drawing/2014/main" id="{0B0C54CB-FA29-9ECD-AC4B-C1F763E7A449}"/>
              </a:ext>
            </a:extLst>
          </p:cNvPr>
          <p:cNvSpPr txBox="1"/>
          <p:nvPr/>
        </p:nvSpPr>
        <p:spPr>
          <a:xfrm>
            <a:off x="5252315" y="2067720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F2E19E0A-235B-EE77-691E-CBF14EE94CBE}"/>
              </a:ext>
            </a:extLst>
          </p:cNvPr>
          <p:cNvSpPr txBox="1"/>
          <p:nvPr/>
        </p:nvSpPr>
        <p:spPr>
          <a:xfrm>
            <a:off x="7125382" y="2924467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  <p:sp>
        <p:nvSpPr>
          <p:cNvPr id="47" name="TextBox 5">
            <a:extLst>
              <a:ext uri="{FF2B5EF4-FFF2-40B4-BE49-F238E27FC236}">
                <a16:creationId xmlns:a16="http://schemas.microsoft.com/office/drawing/2014/main" id="{A35D5464-083D-57B9-0F73-C9DC333E3FC8}"/>
              </a:ext>
            </a:extLst>
          </p:cNvPr>
          <p:cNvSpPr txBox="1"/>
          <p:nvPr/>
        </p:nvSpPr>
        <p:spPr>
          <a:xfrm>
            <a:off x="8998448" y="4190481"/>
            <a:ext cx="8643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</a:t>
            </a:r>
            <a:endParaRPr lang="fr-FR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970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285788" y="490008"/>
            <a:ext cx="5620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Flat Memory Representation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BDC8590E-D28E-D210-2F6A-9AA39E5D52E1}"/>
              </a:ext>
            </a:extLst>
          </p:cNvPr>
          <p:cNvSpPr txBox="1"/>
          <p:nvPr/>
        </p:nvSpPr>
        <p:spPr>
          <a:xfrm>
            <a:off x="5493912" y="1698350"/>
            <a:ext cx="1204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</a:rPr>
              <a:t>Vec3[]</a:t>
            </a:r>
            <a:endParaRPr lang="fr-FR" sz="2400" dirty="0">
              <a:latin typeface="Consolas" panose="020B0609020204030204" pitchFamily="49" charset="0"/>
            </a:endParaRP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C283B99-FD59-0EBE-80C8-ABE3431E1422}"/>
              </a:ext>
            </a:extLst>
          </p:cNvPr>
          <p:cNvGrpSpPr/>
          <p:nvPr/>
        </p:nvGrpSpPr>
        <p:grpSpPr>
          <a:xfrm>
            <a:off x="5344616" y="2160015"/>
            <a:ext cx="1502768" cy="3810260"/>
            <a:chOff x="5344616" y="2160015"/>
            <a:chExt cx="1502768" cy="3810260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47DC2F4-6D6F-C5A7-C2A6-88D377502A89}"/>
                </a:ext>
              </a:extLst>
            </p:cNvPr>
            <p:cNvGrpSpPr/>
            <p:nvPr/>
          </p:nvGrpSpPr>
          <p:grpSpPr>
            <a:xfrm>
              <a:off x="5344616" y="2160015"/>
              <a:ext cx="1502768" cy="3810260"/>
              <a:chOff x="1331843" y="1855304"/>
              <a:chExt cx="1345096" cy="38102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7A46C85C-28F4-F161-6870-5E49A00DE8DE}"/>
                  </a:ext>
                </a:extLst>
              </p:cNvPr>
              <p:cNvSpPr/>
              <p:nvPr/>
            </p:nvSpPr>
            <p:spPr>
              <a:xfrm>
                <a:off x="1331843" y="1855304"/>
                <a:ext cx="1345096" cy="52346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Header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5890BBB-97ED-2DFA-C251-23DBD92BDD66}"/>
                  </a:ext>
                </a:extLst>
              </p:cNvPr>
              <p:cNvSpPr/>
              <p:nvPr/>
            </p:nvSpPr>
            <p:spPr>
              <a:xfrm>
                <a:off x="1331843" y="2378765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x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B3D981B-0328-EAAD-9218-A9D380F85B84}"/>
                  </a:ext>
                </a:extLst>
              </p:cNvPr>
              <p:cNvSpPr/>
              <p:nvPr/>
            </p:nvSpPr>
            <p:spPr>
              <a:xfrm>
                <a:off x="1331843" y="2729948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y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6B40FA9-48B0-E782-260E-6E28A04329E0}"/>
                  </a:ext>
                </a:extLst>
              </p:cNvPr>
              <p:cNvSpPr/>
              <p:nvPr/>
            </p:nvSpPr>
            <p:spPr>
              <a:xfrm>
                <a:off x="1331843" y="3077817"/>
                <a:ext cx="1345096" cy="35118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</a:rPr>
                  <a:t>z</a:t>
                </a:r>
                <a:endParaRPr lang="fr-FR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E182F9A-3332-A49D-A187-CB03188C62AC}"/>
                  </a:ext>
                </a:extLst>
              </p:cNvPr>
              <p:cNvSpPr/>
              <p:nvPr/>
            </p:nvSpPr>
            <p:spPr>
              <a:xfrm>
                <a:off x="1331843" y="5526416"/>
                <a:ext cx="1345096" cy="13914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7F86F62-D840-B76D-B0C2-C2646DB9CDB3}"/>
                </a:ext>
              </a:extLst>
            </p:cNvPr>
            <p:cNvSpPr/>
            <p:nvPr/>
          </p:nvSpPr>
          <p:spPr>
            <a:xfrm>
              <a:off x="5344616" y="3730657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9569941-7A19-BD99-CEAA-97C7AAB8A579}"/>
                </a:ext>
              </a:extLst>
            </p:cNvPr>
            <p:cNvSpPr/>
            <p:nvPr/>
          </p:nvSpPr>
          <p:spPr>
            <a:xfrm>
              <a:off x="5344616" y="4081840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915CA3-AD86-D5CC-8E16-E613BED99D1F}"/>
                </a:ext>
              </a:extLst>
            </p:cNvPr>
            <p:cNvSpPr/>
            <p:nvPr/>
          </p:nvSpPr>
          <p:spPr>
            <a:xfrm>
              <a:off x="5344616" y="4429709"/>
              <a:ext cx="1502768" cy="351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5B5A1C-D3FC-D6B1-6391-831FD1197CB2}"/>
                </a:ext>
              </a:extLst>
            </p:cNvPr>
            <p:cNvSpPr/>
            <p:nvPr/>
          </p:nvSpPr>
          <p:spPr>
            <a:xfrm>
              <a:off x="5344616" y="4780892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x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97FD7BC-473C-C5D2-EC74-BEEFA9EE79B7}"/>
                </a:ext>
              </a:extLst>
            </p:cNvPr>
            <p:cNvSpPr/>
            <p:nvPr/>
          </p:nvSpPr>
          <p:spPr>
            <a:xfrm>
              <a:off x="5344616" y="5132075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y</a:t>
              </a:r>
              <a:endParaRPr lang="fr-FR" dirty="0"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7C45D16-8DCE-6481-D4CD-ABC6F9E66620}"/>
                </a:ext>
              </a:extLst>
            </p:cNvPr>
            <p:cNvSpPr/>
            <p:nvPr/>
          </p:nvSpPr>
          <p:spPr>
            <a:xfrm>
              <a:off x="5344616" y="5479944"/>
              <a:ext cx="1502768" cy="3511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z</a:t>
              </a:r>
              <a:endParaRPr lang="fr-FR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50859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6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4004722" y="490008"/>
            <a:ext cx="41825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Primitives vs Objects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936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900F922-237B-F17B-B1FD-EEBECA41B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7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2B9D201-FEF5-2ADB-A82A-64AB7B285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837" y="1348406"/>
            <a:ext cx="6630325" cy="4048690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D041EF67-AA86-24A3-4DEF-77F7AC204E46}"/>
              </a:ext>
            </a:extLst>
          </p:cNvPr>
          <p:cNvSpPr txBox="1"/>
          <p:nvPr/>
        </p:nvSpPr>
        <p:spPr>
          <a:xfrm>
            <a:off x="2063292" y="42318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JEP 401 introduces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 </a:t>
            </a:r>
            <a:r>
              <a:rPr lang="en-US" sz="2400" dirty="0">
                <a:latin typeface="Fira Sans Condensed SemiBold" panose="020B0603050000020004" pitchFamily="34" charset="0"/>
              </a:rPr>
              <a:t>in the language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13" name="TextBox 9">
            <a:extLst>
              <a:ext uri="{FF2B5EF4-FFF2-40B4-BE49-F238E27FC236}">
                <a16:creationId xmlns:a16="http://schemas.microsoft.com/office/drawing/2014/main" id="{D75CE977-5BB5-8DE9-0DCE-1DF232FB602E}"/>
              </a:ext>
            </a:extLst>
          </p:cNvPr>
          <p:cNvSpPr txBox="1"/>
          <p:nvPr/>
        </p:nvSpPr>
        <p:spPr>
          <a:xfrm>
            <a:off x="2063292" y="5860650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Available as a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preview</a:t>
            </a:r>
            <a:r>
              <a:rPr lang="en-US" sz="2400" dirty="0">
                <a:latin typeface="Fira Sans Condensed SemiBold" panose="020B0603050000020004" pitchFamily="34" charset="0"/>
              </a:rPr>
              <a:t> feature in JDK 28 early access build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35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612E88A-27B7-DF3D-DE72-EA6CB5DE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8</a:t>
            </a:fld>
            <a:endParaRPr lang="fr-FR"/>
          </a:p>
        </p:txBody>
      </p:sp>
      <p:pic>
        <p:nvPicPr>
          <p:cNvPr id="5122" name="Picture 2" descr="JEP 401 Pull Request">
            <a:extLst>
              <a:ext uri="{FF2B5EF4-FFF2-40B4-BE49-F238E27FC236}">
                <a16:creationId xmlns:a16="http://schemas.microsoft.com/office/drawing/2014/main" id="{D731EAAE-B7C6-0A0D-BA3A-1F913A473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13" y="0"/>
            <a:ext cx="118649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073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9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CodeSimcoe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— JavaFX —  </a:t>
            </a:r>
            <a:r>
              <a:rPr lang="en-US" sz="2400" dirty="0" err="1">
                <a:latin typeface="Fira Sans Condensed SemiBold" panose="020B0603050000020004" pitchFamily="34" charset="0"/>
              </a:rPr>
              <a:t>Quarkus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brew my own beer 🍺</a:t>
            </a:r>
          </a:p>
          <a:p>
            <a:pPr marL="285750">
              <a:spcBef>
                <a:spcPts val="0"/>
              </a:spcBef>
            </a:pPr>
            <a:endParaRPr lang="en-US" sz="2400" dirty="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809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Associate Professor at University Gustave Eiffel (Paris)</a:t>
            </a:r>
          </a:p>
          <a:p>
            <a:pPr marL="285750"/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github.com/</a:t>
            </a:r>
            <a:r>
              <a:rPr lang="en-US" sz="2400" dirty="0" err="1">
                <a:latin typeface="Fira Sans Condensed SemiBold" panose="020B0603050000020004" pitchFamily="34" charset="0"/>
              </a:rPr>
              <a:t>forax</a:t>
            </a: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Java ☕ specs for </a:t>
            </a:r>
            <a:r>
              <a:rPr lang="en-US" sz="2400" dirty="0" err="1">
                <a:latin typeface="Fira Sans Condensed SemiBold" panose="020B0603050000020004" pitchFamily="34" charset="0"/>
              </a:rPr>
              <a:t>invokedynamic</a:t>
            </a:r>
            <a:r>
              <a:rPr lang="en-US" sz="2400" dirty="0">
                <a:latin typeface="Fira Sans Condensed SemiBold" panose="020B0603050000020004" pitchFamily="34" charset="0"/>
              </a:rPr>
              <a:t>, lambda, module, record, pattern-matching, value-type</a:t>
            </a:r>
            <a:br>
              <a:rPr lang="en-US" sz="2400" dirty="0">
                <a:latin typeface="Fira Sans Condensed SemiBold" panose="020B0603050000020004" pitchFamily="34" charset="0"/>
              </a:rPr>
            </a:br>
            <a:endParaRPr lang="en-US" sz="2400" dirty="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 dirty="0">
                <a:latin typeface="Fira Sans Condensed SemiBold" panose="020B0603050000020004" pitchFamily="34" charset="0"/>
              </a:rPr>
              <a:t>I maintain several open-source projects nobody use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3467707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11</a:t>
            </a:fld>
            <a:endParaRPr lang="fr-FR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23D16D2B-FB67-AE6A-DC83-2F1D6AC1182F}"/>
              </a:ext>
            </a:extLst>
          </p:cNvPr>
          <p:cNvSpPr txBox="1"/>
          <p:nvPr/>
        </p:nvSpPr>
        <p:spPr>
          <a:xfrm>
            <a:off x="3855644" y="490008"/>
            <a:ext cx="44807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Fira Sans Condensed SemiBold" panose="020B0603050000020004" pitchFamily="34" charset="0"/>
              </a:rPr>
              <a:t>What is a </a:t>
            </a:r>
            <a:r>
              <a:rPr lang="en-US" sz="36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Class</a:t>
            </a:r>
            <a:r>
              <a:rPr lang="en-US" sz="3600">
                <a:latin typeface="Fira Sans Condensed SemiBold" panose="020B0603050000020004" pitchFamily="34" charset="0"/>
              </a:rPr>
              <a:t> </a:t>
            </a:r>
            <a:r>
              <a:rPr lang="en-US" sz="3600" dirty="0">
                <a:latin typeface="Fira Sans Condensed SemiBold" panose="020B0603050000020004" pitchFamily="34" charset="0"/>
              </a:rPr>
              <a:t>?</a:t>
            </a:r>
            <a:endParaRPr lang="fr-FR" sz="36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E1EB4B-4E15-B83A-C55F-424CC4899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5228" y="3898909"/>
            <a:ext cx="7286920" cy="400110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chemeClr val="bg2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value record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033B3"/>
                </a:solidFill>
                <a:effectLst/>
                <a:latin typeface="Consolas" panose="020B0609020204030204" pitchFamily="49" charset="0"/>
              </a:rPr>
              <a:t>double 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871094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nsolas" panose="020B0609020204030204" pitchFamily="49" charset="0"/>
              </a:rPr>
              <a:t>) {}</a:t>
            </a:r>
            <a:endParaRPr kumimoji="0" lang="fr-FR" altLang="fr-FR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E59D21A7-E586-E5CB-8DB4-2157497BDD20}"/>
              </a:ext>
            </a:extLst>
          </p:cNvPr>
          <p:cNvSpPr txBox="1"/>
          <p:nvPr/>
        </p:nvSpPr>
        <p:spPr>
          <a:xfrm>
            <a:off x="1965980" y="1980996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Fira Sans Condensed SemiBold" panose="020B0603050000020004" pitchFamily="34" charset="0"/>
              </a:rPr>
              <a:t>instances / references / objects are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values</a:t>
            </a:r>
            <a:r>
              <a:rPr lang="en-US" sz="2400" dirty="0">
                <a:latin typeface="Fira Sans Condensed SemiBold" panose="020B0603050000020004" pitchFamily="34" charset="0"/>
              </a:rPr>
              <a:t>, not </a:t>
            </a:r>
            <a:r>
              <a:rPr lang="en-US" sz="2400" dirty="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pointers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BAE77C4-60D8-1E86-FA86-9C0CA19B9FEA}"/>
              </a:ext>
            </a:extLst>
          </p:cNvPr>
          <p:cNvSpPr txBox="1"/>
          <p:nvPr/>
        </p:nvSpPr>
        <p:spPr>
          <a:xfrm>
            <a:off x="1965980" y="3061447"/>
            <a:ext cx="80654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New keyword : </a:t>
            </a:r>
            <a:r>
              <a:rPr lang="en-US" sz="24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334BB68-0AC0-81DB-DB1E-0D176854D5BB}"/>
              </a:ext>
            </a:extLst>
          </p:cNvPr>
          <p:cNvSpPr txBox="1"/>
          <p:nvPr/>
        </p:nvSpPr>
        <p:spPr>
          <a:xfrm>
            <a:off x="5065090" y="4827424"/>
            <a:ext cx="20618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400"/>
              <a:t>🎬</a:t>
            </a:r>
            <a:r>
              <a:rPr lang="en-US" sz="2400">
                <a:latin typeface="Fira Sans Condensed SemiBold" panose="020B0603050000020004" pitchFamily="34" charset="0"/>
              </a:rPr>
              <a:t>Demo</a:t>
            </a:r>
            <a:endParaRPr lang="en-US" sz="2400" b="1" i="1" dirty="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512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B2FA5C-E627-C4D4-E6FD-F17C8E428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Rectangle 1047">
            <a:extLst>
              <a:ext uri="{FF2B5EF4-FFF2-40B4-BE49-F238E27FC236}">
                <a16:creationId xmlns:a16="http://schemas.microsoft.com/office/drawing/2014/main" id="{3AB04CE7-69AB-2806-1C56-B125B1654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3B99D59B-60AE-1648-1D08-9D5D89E05B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30" b="24130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5717D5-4478-8FF4-B391-2A787AEEA5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3727" y="2890376"/>
            <a:ext cx="9964545" cy="107724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6B012B-B2F8-B679-553D-160B7E365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5530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C2B99-30A6-2D52-A6D4-C187FB0F1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1E80693-57F4-9C3F-93FB-878E39308E47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B57479-9B38-F234-AC88-CDDC62EF2617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8DEF4EDE-5C64-E7FC-8521-663431360EF9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“Escape”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6675F8-2721-3688-6419-4B8F8FD8B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3842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42FF-5E63-9E03-0CCA-E1CFF58F1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black circle&#10;&#10;AI-generated content may be incorrect.">
            <a:extLst>
              <a:ext uri="{FF2B5EF4-FFF2-40B4-BE49-F238E27FC236}">
                <a16:creationId xmlns:a16="http://schemas.microsoft.com/office/drawing/2014/main" id="{BD3737B9-7BA1-A4F8-60C9-A6FEC4939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926" y="59634"/>
            <a:ext cx="7431296" cy="675572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964CF4-0584-8243-7CAE-66AEC0FE0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3874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DBFB96-3F9B-2B87-6E4C-BC64642EC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3" name="Rectangle 3082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 descr="A blue and white fractal&#10;&#10;AI-generated content may be incorrect.">
            <a:extLst>
              <a:ext uri="{FF2B5EF4-FFF2-40B4-BE49-F238E27FC236}">
                <a16:creationId xmlns:a16="http://schemas.microsoft.com/office/drawing/2014/main" id="{96A66914-B8B3-1405-0E7F-B45D488F01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C0083C5-8A21-7657-234D-5CD9993A3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9412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4A292-93BA-531F-62DF-08DBCCFB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BADC4E-55A3-EF64-248F-B66C8EB13D61}"/>
              </a:ext>
            </a:extLst>
          </p:cNvPr>
          <p:cNvSpPr/>
          <p:nvPr/>
        </p:nvSpPr>
        <p:spPr>
          <a:xfrm>
            <a:off x="1808921" y="1464368"/>
            <a:ext cx="8574157" cy="5102087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buNone/>
            </a:pPr>
            <a:r>
              <a:rPr lang="fr-FR" sz="1600" b="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267F99"/>
                </a:solidFill>
                <a:latin typeface="Consolas" panose="020B0609020204030204" pitchFamily="49" charset="0"/>
              </a:rPr>
              <a:t>int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795E26"/>
                </a:solidFill>
                <a:latin typeface="Consolas" panose="020B0609020204030204" pitchFamily="49" charset="0"/>
              </a:rPr>
              <a:t>computeEscape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im0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fr-FR" sz="1600" b="0" dirty="0" err="1">
                <a:solidFill>
                  <a:srgbClr val="267F99"/>
                </a:solidFill>
                <a:latin typeface="Consolas" panose="020B0609020204030204" pitchFamily="49" charset="0"/>
              </a:rPr>
              <a:t>int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max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endParaRPr lang="fr-FR" sz="1600" b="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im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x2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y2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fr-FR" sz="1600" b="0" dirty="0" err="1">
                <a:solidFill>
                  <a:srgbClr val="267F99"/>
                </a:solidFill>
                <a:latin typeface="Consolas" panose="020B0609020204030204" pitchFamily="49" charset="0"/>
              </a:rPr>
              <a:t>int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>
                <a:solidFill>
                  <a:srgbClr val="267F99"/>
                </a:solidFill>
                <a:latin typeface="Consolas" panose="020B0609020204030204" pitchFamily="49" charset="0"/>
              </a:rPr>
              <a:t>double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modulusSquared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fr-FR" sz="1600" b="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modulusSquared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max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im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</a:t>
            </a:r>
            <a:r>
              <a:rPr lang="fr-FR" sz="1600" dirty="0">
                <a:solidFill>
                  <a:srgbClr val="3B3B3B"/>
                </a:solidFill>
                <a:latin typeface="Consolas" panose="020B0609020204030204" pitchFamily="49" charset="0"/>
              </a:rPr>
              <a:t> *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im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 +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im0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x2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y2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re0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x2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re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y2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im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im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fr-FR" sz="1600" b="0" dirty="0" err="1">
                <a:solidFill>
                  <a:srgbClr val="001080"/>
                </a:solidFill>
                <a:latin typeface="Consolas" panose="020B0609020204030204" pitchFamily="49" charset="0"/>
              </a:rPr>
              <a:t>modulusSquared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x2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y2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fr-FR" sz="1600" b="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pPr>
              <a:buNone/>
            </a:pPr>
            <a:endParaRPr lang="fr-FR" sz="1600" b="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fr-FR" sz="1600" b="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fr-FR" sz="1600" b="0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F7178B-56E9-F803-4767-8AB7C21DC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4" y="496955"/>
            <a:ext cx="3067050" cy="60007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1290BF-7D3B-6233-451B-F62A99100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5079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B23C6-88E2-BE0C-B296-BB22BD6A4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3AF75A-56F3-3EE5-9129-76862F66BF72}"/>
              </a:ext>
            </a:extLst>
          </p:cNvPr>
          <p:cNvSpPr/>
          <p:nvPr/>
        </p:nvSpPr>
        <p:spPr>
          <a:xfrm>
            <a:off x="1639955" y="1547193"/>
            <a:ext cx="8912087" cy="4654827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record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im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fr-FR" sz="1600" b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add(), square() ...</a:t>
            </a:r>
            <a:endParaRPr lang="fr-FR" sz="1600" b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fr-FR" sz="160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computeEscape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endParaRPr lang="fr-FR" sz="1600" b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Complex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ZERO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600" b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fr-FR" sz="1600" b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magnitudeSquared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fr-F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square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fr-FR" sz="1600" b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600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fr-FR" sz="1600" b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1600" b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600" b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160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75CB28-3620-EF38-D6A8-E6B86700C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4" y="496955"/>
            <a:ext cx="3067050" cy="60007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878FB0-F81A-A5DC-1DA5-B0EAE3933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2964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07D6D-117F-B43E-4D41-47D36309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46F527-AC4A-0E38-4B45-594B359B99B6}"/>
              </a:ext>
            </a:extLst>
          </p:cNvPr>
          <p:cNvSpPr txBox="1"/>
          <p:nvPr/>
        </p:nvSpPr>
        <p:spPr>
          <a:xfrm>
            <a:off x="3853233" y="2038585"/>
            <a:ext cx="4485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1024 x 1024 — itérations max : 255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5B3C1C-33AD-9FA6-E394-614F0D9B1EE3}"/>
              </a:ext>
            </a:extLst>
          </p:cNvPr>
          <p:cNvSpPr txBox="1"/>
          <p:nvPr/>
        </p:nvSpPr>
        <p:spPr>
          <a:xfrm>
            <a:off x="1782414" y="3429000"/>
            <a:ext cx="862716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Mode  Cnt     Score    Error  Units</a:t>
            </a:r>
          </a:p>
          <a:p>
            <a:r>
              <a:rPr lang="fr-FR" sz="2000">
                <a:latin typeface="Consolas" panose="020B0609020204030204" pitchFamily="49" charset="0"/>
              </a:rPr>
              <a:t>primitive              avgt   10    </a:t>
            </a:r>
            <a:r>
              <a:rPr lang="fr-FR" sz="2000" b="1">
                <a:latin typeface="Consolas" panose="020B0609020204030204" pitchFamily="49" charset="0"/>
              </a:rPr>
              <a:t>19.758</a:t>
            </a:r>
            <a:r>
              <a:rPr lang="fr-FR" sz="2000">
                <a:latin typeface="Consolas" panose="020B0609020204030204" pitchFamily="49" charset="0"/>
              </a:rPr>
              <a:t> ±  0.119  ms/op</a:t>
            </a:r>
          </a:p>
          <a:p>
            <a:r>
              <a:rPr lang="fr-FR" sz="2000">
                <a:latin typeface="Consolas" panose="020B0609020204030204" pitchFamily="49" charset="0"/>
              </a:rPr>
              <a:t>record                 avgt   10   </a:t>
            </a:r>
            <a:r>
              <a:rPr lang="fr-FR" sz="2000" b="1">
                <a:latin typeface="Consolas" panose="020B0609020204030204" pitchFamily="49" charset="0"/>
              </a:rPr>
              <a:t>207.828</a:t>
            </a:r>
            <a:r>
              <a:rPr lang="fr-FR" sz="2000">
                <a:latin typeface="Consolas" panose="020B0609020204030204" pitchFamily="49" charset="0"/>
              </a:rPr>
              <a:t> ±  1.938  ms/op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A3B12-534F-64E7-98A3-584C6A62F7B4}"/>
              </a:ext>
            </a:extLst>
          </p:cNvPr>
          <p:cNvSpPr txBox="1"/>
          <p:nvPr/>
        </p:nvSpPr>
        <p:spPr>
          <a:xfrm>
            <a:off x="4928048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3583F3-3EB9-FAB3-4F35-E7CFA3DC9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7554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81B10-4E89-76EC-3D69-8F1D5C739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19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59C93DF-618F-2DFA-8969-3EA70E92DB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09FF59-39BF-ECB4-E23D-8B811783A144}"/>
              </a:ext>
            </a:extLst>
          </p:cNvPr>
          <p:cNvSpPr txBox="1"/>
          <p:nvPr/>
        </p:nvSpPr>
        <p:spPr>
          <a:xfrm>
            <a:off x="457200" y="581433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Clément de Tastes</a:t>
            </a:r>
          </a:p>
        </p:txBody>
      </p:sp>
      <p:sp>
        <p:nvSpPr>
          <p:cNvPr id="5" name="Google Shape;1035;p40">
            <a:extLst>
              <a:ext uri="{FF2B5EF4-FFF2-40B4-BE49-F238E27FC236}">
                <a16:creationId xmlns:a16="http://schemas.microsoft.com/office/drawing/2014/main" id="{17D25E4B-34C0-773B-DB6A-2AE7988A7195}"/>
              </a:ext>
            </a:extLst>
          </p:cNvPr>
          <p:cNvSpPr txBox="1">
            <a:spLocks/>
          </p:cNvSpPr>
          <p:nvPr/>
        </p:nvSpPr>
        <p:spPr>
          <a:xfrm>
            <a:off x="170653" y="2217548"/>
            <a:ext cx="4669797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Tech Lead @ SCIAM</a:t>
            </a:r>
          </a:p>
          <a:p>
            <a:pPr marL="285750"/>
            <a:endParaRPr lang="en-US" sz="240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@cdetastes.bsky.social</a:t>
            </a: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github.com/CodeSimcoe</a:t>
            </a: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blog.sciam.fr</a:t>
            </a: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www.toulon.dev</a:t>
            </a: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Java ☕ — JavaFX —  Quarkus</a:t>
            </a:r>
          </a:p>
          <a:p>
            <a:pPr marL="285750"/>
            <a:endParaRPr lang="en-US" sz="240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Je brasse ma bière 🍺</a:t>
            </a:r>
          </a:p>
          <a:p>
            <a:pPr marL="285750">
              <a:spcBef>
                <a:spcPts val="0"/>
              </a:spcBef>
            </a:pPr>
            <a:endParaRPr lang="en-US" sz="2400">
              <a:latin typeface="Fira Sans Condensed SemiBold" panose="020B0603050000020004" pitchFamily="34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581052-A9F1-A62D-E34C-F392A03B4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89" y="2014031"/>
            <a:ext cx="877301" cy="92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594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4BEA7D7-31AA-8392-AF67-1777F4D5B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20</a:t>
            </a:fld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91D2CC-5838-48D5-FF1F-342E2EE9DF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" b="632"/>
          <a:stretch>
            <a:fillRect/>
          </a:stretch>
        </p:blipFill>
        <p:spPr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4" name="Google Shape;1035;p40">
            <a:extLst>
              <a:ext uri="{FF2B5EF4-FFF2-40B4-BE49-F238E27FC236}">
                <a16:creationId xmlns:a16="http://schemas.microsoft.com/office/drawing/2014/main" id="{7C614D9A-8529-AA45-0C1E-9AEB4718CDCB}"/>
              </a:ext>
            </a:extLst>
          </p:cNvPr>
          <p:cNvSpPr txBox="1">
            <a:spLocks/>
          </p:cNvSpPr>
          <p:nvPr/>
        </p:nvSpPr>
        <p:spPr>
          <a:xfrm>
            <a:off x="6692590" y="2023505"/>
            <a:ext cx="5384042" cy="3908586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Maître de conférences à l’Université Gustave Eiffel</a:t>
            </a:r>
          </a:p>
          <a:p>
            <a:pPr marL="285750"/>
            <a:endParaRPr lang="en-US" sz="240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github.com/forax</a:t>
            </a: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Specs Java ☕ pour invokedynamic, lambda, module, record, pattern-matching, value-type</a:t>
            </a:r>
            <a:br>
              <a:rPr lang="en-US" sz="2400">
                <a:latin typeface="Fira Sans Condensed SemiBold" panose="020B0603050000020004" pitchFamily="34" charset="0"/>
              </a:rPr>
            </a:br>
            <a:endParaRPr lang="en-US" sz="2400">
              <a:latin typeface="Fira Sans Condensed SemiBold" panose="020B0603050000020004" pitchFamily="34" charset="0"/>
            </a:endParaRPr>
          </a:p>
          <a:p>
            <a:pPr marL="285750"/>
            <a:r>
              <a:rPr lang="en-US" sz="2400">
                <a:latin typeface="Fira Sans Condensed SemiBold" panose="020B0603050000020004" pitchFamily="34" charset="0"/>
              </a:rPr>
              <a:t>Je maintiens plusieurs projets open-source que personne n’utilise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D0DF8-3C59-4ED5-E268-98A12868ADEA}"/>
              </a:ext>
            </a:extLst>
          </p:cNvPr>
          <p:cNvSpPr txBox="1"/>
          <p:nvPr/>
        </p:nvSpPr>
        <p:spPr>
          <a:xfrm>
            <a:off x="7219559" y="431632"/>
            <a:ext cx="4330104" cy="1330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>
                <a:latin typeface="Fira Sans Condensed SemiBold" panose="020B0603050000020004" pitchFamily="34" charset="0"/>
                <a:ea typeface="+mj-ea"/>
                <a:cs typeface="+mj-cs"/>
              </a:rPr>
              <a:t>Rémi Forax</a:t>
            </a:r>
          </a:p>
        </p:txBody>
      </p:sp>
    </p:spTree>
    <p:extLst>
      <p:ext uri="{BB962C8B-B14F-4D97-AF65-F5344CB8AC3E}">
        <p14:creationId xmlns:p14="http://schemas.microsoft.com/office/powerpoint/2010/main" val="6380723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A9F78-ABE3-446C-ED57-160044D3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BE3C8D5-462E-A3C9-364A-9E812B761CF8}"/>
              </a:ext>
            </a:extLst>
          </p:cNvPr>
          <p:cNvSpPr txBox="1"/>
          <p:nvPr/>
        </p:nvSpPr>
        <p:spPr>
          <a:xfrm>
            <a:off x="4995379" y="490008"/>
            <a:ext cx="220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Disclaimer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6DEF47-2444-CDD1-D1F0-4A827AA0E3DA}"/>
              </a:ext>
            </a:extLst>
          </p:cNvPr>
          <p:cNvSpPr txBox="1"/>
          <p:nvPr/>
        </p:nvSpPr>
        <p:spPr>
          <a:xfrm>
            <a:off x="3249708" y="3167390"/>
            <a:ext cx="56925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Fira Sans Condensed SemiBold" panose="020B0603050000020004" pitchFamily="34" charset="0"/>
              </a:rPr>
              <a:t>Ne </a:t>
            </a:r>
            <a:r>
              <a:rPr lang="en-US" sz="2800" dirty="0" err="1">
                <a:latin typeface="Fira Sans Condensed SemiBold" panose="020B0603050000020004" pitchFamily="34" charset="0"/>
              </a:rPr>
              <a:t>croyez</a:t>
            </a:r>
            <a:r>
              <a:rPr lang="en-US" sz="2800" dirty="0">
                <a:latin typeface="Fira Sans Condensed SemiBold" panose="020B0603050000020004" pitchFamily="34" charset="0"/>
              </a:rPr>
              <a:t> pas tout </a:t>
            </a:r>
            <a:r>
              <a:rPr lang="en-US" sz="2800" dirty="0" err="1">
                <a:latin typeface="Fira Sans Condensed SemiBold" panose="020B0603050000020004" pitchFamily="34" charset="0"/>
              </a:rPr>
              <a:t>ce</a:t>
            </a:r>
            <a:r>
              <a:rPr lang="en-US" sz="2800" dirty="0">
                <a:latin typeface="Fira Sans Condensed SemiBold" panose="020B0603050000020004" pitchFamily="34" charset="0"/>
              </a:rPr>
              <a:t> que je </a:t>
            </a:r>
            <a:r>
              <a:rPr lang="en-US" sz="2800" dirty="0" err="1">
                <a:latin typeface="Fira Sans Condensed SemiBold" panose="020B0603050000020004" pitchFamily="34" charset="0"/>
              </a:rPr>
              <a:t>vais</a:t>
            </a:r>
            <a:r>
              <a:rPr lang="en-US" sz="2800" dirty="0">
                <a:latin typeface="Fira Sans Condensed SemiBold" panose="020B0603050000020004" pitchFamily="34" charset="0"/>
              </a:rPr>
              <a:t> dire</a:t>
            </a:r>
            <a:endParaRPr lang="fr-FR" sz="28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FF9367E-C967-4FCF-65EE-61AB7E8E6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21</a:t>
            </a:fld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EB8E30-3585-39F8-6CDE-606D5C20C7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44" y="2471495"/>
            <a:ext cx="2554967" cy="420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94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7D4D-DE3C-3BE1-57A4-F3A61E17F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5B20572-4586-6C07-4FF9-0930FFD0708B}"/>
              </a:ext>
            </a:extLst>
          </p:cNvPr>
          <p:cNvSpPr txBox="1"/>
          <p:nvPr/>
        </p:nvSpPr>
        <p:spPr>
          <a:xfrm>
            <a:off x="4594627" y="490008"/>
            <a:ext cx="30027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Projet Valhalla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836DAF-E7B9-7829-B410-C124E1FDC177}"/>
              </a:ext>
            </a:extLst>
          </p:cNvPr>
          <p:cNvSpPr txBox="1"/>
          <p:nvPr/>
        </p:nvSpPr>
        <p:spPr>
          <a:xfrm>
            <a:off x="1177025" y="5451005"/>
            <a:ext cx="99501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Combiner abstraction de la POO avec les performances des types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Fira Sans Condensed SemiBold" panose="020B0603050000020004" pitchFamily="34" charset="0"/>
              </a:rPr>
              <a:t>Combler le “fossé” entre les types primitifs et les objets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B3047D-F482-FEAB-0F2D-EE602F893433}"/>
              </a:ext>
            </a:extLst>
          </p:cNvPr>
          <p:cNvSpPr txBox="1"/>
          <p:nvPr/>
        </p:nvSpPr>
        <p:spPr>
          <a:xfrm>
            <a:off x="1177025" y="1150793"/>
            <a:ext cx="2980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Projet de l’OpenJDK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Démarré en 2014 (!!)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E5942B9-43BC-3A99-B6FE-35E4D0FB2485}"/>
              </a:ext>
            </a:extLst>
          </p:cNvPr>
          <p:cNvGrpSpPr/>
          <p:nvPr/>
        </p:nvGrpSpPr>
        <p:grpSpPr>
          <a:xfrm>
            <a:off x="3743272" y="2168704"/>
            <a:ext cx="4705455" cy="951095"/>
            <a:chOff x="4061949" y="3105834"/>
            <a:chExt cx="4705455" cy="95109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BE49E5-D564-7D6A-82A2-DB2146E37CBE}"/>
                </a:ext>
              </a:extLst>
            </p:cNvPr>
            <p:cNvSpPr txBox="1"/>
            <p:nvPr/>
          </p:nvSpPr>
          <p:spPr>
            <a:xfrm>
              <a:off x="4061949" y="3105834"/>
              <a:ext cx="406810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“Java’s epic refactor”</a:t>
              </a:r>
              <a:endParaRPr lang="fr-FR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F441272-D2B8-8D10-5DA3-89B6008C9E7E}"/>
                </a:ext>
              </a:extLst>
            </p:cNvPr>
            <p:cNvSpPr txBox="1"/>
            <p:nvPr/>
          </p:nvSpPr>
          <p:spPr>
            <a:xfrm>
              <a:off x="7492696" y="3687597"/>
              <a:ext cx="12747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Fira Sans Condensed" panose="020B0503050000020004" pitchFamily="34" charset="0"/>
                </a:rPr>
                <a:t>Brian Goetz</a:t>
              </a:r>
              <a:endParaRPr lang="fr-FR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3F5899-C8B4-01A2-AB5C-21166C1D118C}"/>
              </a:ext>
            </a:extLst>
          </p:cNvPr>
          <p:cNvSpPr txBox="1"/>
          <p:nvPr/>
        </p:nvSpPr>
        <p:spPr>
          <a:xfrm>
            <a:off x="2500304" y="4131194"/>
            <a:ext cx="7191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>
                <a:solidFill>
                  <a:schemeClr val="tx1">
                    <a:lumMod val="50000"/>
                    <a:lumOff val="50000"/>
                  </a:schemeClr>
                </a:solidFill>
                <a:latin typeface="Fira Sans Condensed" panose="020B0503050000020004" pitchFamily="34" charset="0"/>
              </a:rPr>
              <a:t>“Codes like a class, works like an int”</a:t>
            </a:r>
            <a:endParaRPr lang="fr-FR" sz="3600" i="1">
              <a:solidFill>
                <a:schemeClr val="tx1">
                  <a:lumMod val="50000"/>
                  <a:lumOff val="50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55E4D-2105-D8BD-2D01-9750B328C1A0}"/>
              </a:ext>
            </a:extLst>
          </p:cNvPr>
          <p:cNvSpPr txBox="1"/>
          <p:nvPr/>
        </p:nvSpPr>
        <p:spPr>
          <a:xfrm>
            <a:off x="1177025" y="3485565"/>
            <a:ext cx="60971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Enrichir le langage avec des </a:t>
            </a:r>
            <a:r>
              <a:rPr lang="en-US" sz="2400" b="1" i="1">
                <a:solidFill>
                  <a:schemeClr val="accent1"/>
                </a:solidFill>
                <a:latin typeface="Fira Sans Condensed SemiBold" panose="020B0603050000020004" pitchFamily="34" charset="0"/>
              </a:rPr>
              <a:t>value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4F182-E396-1186-0E3A-10EE483E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112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1416F-DABF-6E45-CB0D-ADDE8F55C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paper with black text and white text&#10;&#10;AI-generated content may be incorrect.">
            <a:extLst>
              <a:ext uri="{FF2B5EF4-FFF2-40B4-BE49-F238E27FC236}">
                <a16:creationId xmlns:a16="http://schemas.microsoft.com/office/drawing/2014/main" id="{9799950F-256C-80A0-E1EF-3834FF68C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773" y="0"/>
            <a:ext cx="7230453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E88CE6-A985-E642-8648-23AAFC70A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07485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94A0E-CF0C-714D-AD56-1A4F3C59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F44BFC1-5339-B696-B06F-EC685335C7AE}"/>
              </a:ext>
            </a:extLst>
          </p:cNvPr>
          <p:cNvGrpSpPr/>
          <p:nvPr/>
        </p:nvGrpSpPr>
        <p:grpSpPr>
          <a:xfrm>
            <a:off x="7713414" y="807712"/>
            <a:ext cx="2712719" cy="792000"/>
            <a:chOff x="6149009" y="4309774"/>
            <a:chExt cx="2712719" cy="792000"/>
          </a:xfrm>
        </p:grpSpPr>
        <p:sp>
          <p:nvSpPr>
            <p:cNvPr id="8" name="ZoneTexte 9">
              <a:extLst>
                <a:ext uri="{FF2B5EF4-FFF2-40B4-BE49-F238E27FC236}">
                  <a16:creationId xmlns:a16="http://schemas.microsoft.com/office/drawing/2014/main" id="{A9574C66-3B78-A2BA-9B4C-F3B8333C0E06}"/>
                </a:ext>
              </a:extLst>
            </p:cNvPr>
            <p:cNvSpPr txBox="1"/>
            <p:nvPr/>
          </p:nvSpPr>
          <p:spPr>
            <a:xfrm>
              <a:off x="6941009" y="4413386"/>
              <a:ext cx="192071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Fira Sans Condensed SemiBold" panose="020B0603050000020004" pitchFamily="34" charset="0"/>
                </a:rPr>
                <a:t>Heap (tas)</a:t>
              </a:r>
              <a:endParaRPr lang="fr-FR" sz="3200">
                <a:latin typeface="Fira Sans Condensed SemiBold" panose="020B0603050000020004" pitchFamily="34" charset="0"/>
              </a:endParaRPr>
            </a:p>
          </p:txBody>
        </p:sp>
        <p:pic>
          <p:nvPicPr>
            <p:cNvPr id="19" name="Picture 18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BDDB9D69-18F5-0AE6-EA7A-484C02E36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49009" y="4309774"/>
              <a:ext cx="792000" cy="7920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5CA2419-2870-8FB5-3F1C-6A4B6B219A8B}"/>
              </a:ext>
            </a:extLst>
          </p:cNvPr>
          <p:cNvGrpSpPr/>
          <p:nvPr/>
        </p:nvGrpSpPr>
        <p:grpSpPr>
          <a:xfrm>
            <a:off x="1723791" y="911324"/>
            <a:ext cx="2796866" cy="584775"/>
            <a:chOff x="2405575" y="4248218"/>
            <a:chExt cx="2796866" cy="584775"/>
          </a:xfrm>
        </p:grpSpPr>
        <p:sp>
          <p:nvSpPr>
            <p:cNvPr id="5" name="ZoneTexte 9">
              <a:extLst>
                <a:ext uri="{FF2B5EF4-FFF2-40B4-BE49-F238E27FC236}">
                  <a16:creationId xmlns:a16="http://schemas.microsoft.com/office/drawing/2014/main" id="{83EC678C-D729-E649-FAC8-ACF37430DA93}"/>
                </a:ext>
              </a:extLst>
            </p:cNvPr>
            <p:cNvSpPr txBox="1"/>
            <p:nvPr/>
          </p:nvSpPr>
          <p:spPr>
            <a:xfrm>
              <a:off x="2945575" y="4248218"/>
              <a:ext cx="225686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>
                  <a:latin typeface="Fira Sans Condensed SemiBold" panose="020B0603050000020004" pitchFamily="34" charset="0"/>
                </a:rPr>
                <a:t>Stack (pile)</a:t>
              </a:r>
              <a:endParaRPr lang="fr-FR" sz="3200">
                <a:latin typeface="Fira Sans Condensed SemiBold" panose="020B0603050000020004" pitchFamily="34" charset="0"/>
              </a:endParaRPr>
            </a:p>
          </p:txBody>
        </p:sp>
        <p:pic>
          <p:nvPicPr>
            <p:cNvPr id="21" name="Picture 2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AFD77785-5B73-1548-4F92-49C3424083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05575" y="4270606"/>
              <a:ext cx="540000" cy="540000"/>
            </a:xfrm>
            <a:prstGeom prst="rect">
              <a:avLst/>
            </a:prstGeom>
          </p:spPr>
        </p:pic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6D03E057-D54F-8BBA-AF44-B34326FA7B37}"/>
              </a:ext>
            </a:extLst>
          </p:cNvPr>
          <p:cNvSpPr/>
          <p:nvPr/>
        </p:nvSpPr>
        <p:spPr>
          <a:xfrm>
            <a:off x="296908" y="1651293"/>
            <a:ext cx="5650637" cy="79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en-US" sz="24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Utilisée pour l’execution des méthodes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EF15D9-8B0D-E106-CA6F-CC19B16620A8}"/>
              </a:ext>
            </a:extLst>
          </p:cNvPr>
          <p:cNvSpPr/>
          <p:nvPr/>
        </p:nvSpPr>
        <p:spPr>
          <a:xfrm>
            <a:off x="296906" y="2753679"/>
            <a:ext cx="5650637" cy="79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>
              <a:buNone/>
            </a:pPr>
            <a:r>
              <a:rPr lang="en-US" sz="24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Chaque appel de méthode pousse une nouvelle frame sur la pile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786729-F929-977F-FF39-A5F597B51EE7}"/>
              </a:ext>
            </a:extLst>
          </p:cNvPr>
          <p:cNvSpPr/>
          <p:nvPr/>
        </p:nvSpPr>
        <p:spPr>
          <a:xfrm>
            <a:off x="296906" y="3856065"/>
            <a:ext cx="5650637" cy="79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>
              <a:buNone/>
            </a:pPr>
            <a:r>
              <a:rPr lang="en-US" sz="24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Stocke les variables locales pour l’interpréteur (par multiple de 32 bits)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4C41B1-15DB-B3A8-69FA-E4C68CD7825F}"/>
              </a:ext>
            </a:extLst>
          </p:cNvPr>
          <p:cNvSpPr/>
          <p:nvPr/>
        </p:nvSpPr>
        <p:spPr>
          <a:xfrm>
            <a:off x="6244457" y="1651293"/>
            <a:ext cx="5650637" cy="79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>
              <a:buNone/>
            </a:pPr>
            <a:r>
              <a:rPr lang="en-US" sz="2400">
                <a:solidFill>
                  <a:schemeClr val="accent1"/>
                </a:solidFill>
                <a:latin typeface="Fira Sans Condensed" panose="020B0503050000020004" pitchFamily="34" charset="0"/>
              </a:rPr>
              <a:t>Utilisé pour le stockage des objets</a:t>
            </a:r>
            <a:endParaRPr lang="en-US" sz="2400" dirty="0">
              <a:solidFill>
                <a:schemeClr val="accent1"/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D318D5-49BB-003A-32A1-9B15FC04FCF4}"/>
              </a:ext>
            </a:extLst>
          </p:cNvPr>
          <p:cNvSpPr/>
          <p:nvPr/>
        </p:nvSpPr>
        <p:spPr>
          <a:xfrm>
            <a:off x="6244456" y="2753679"/>
            <a:ext cx="5650637" cy="79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>
              <a:buNone/>
            </a:pPr>
            <a:r>
              <a:rPr lang="en-US" sz="2400">
                <a:solidFill>
                  <a:schemeClr val="accent1"/>
                </a:solidFill>
                <a:latin typeface="Fira Sans Condensed" panose="020B0503050000020004" pitchFamily="34" charset="0"/>
              </a:rPr>
              <a:t>Chaque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new</a:t>
            </a:r>
            <a:r>
              <a:rPr lang="en-US" sz="2400">
                <a:solidFill>
                  <a:schemeClr val="accent1"/>
                </a:solidFill>
                <a:latin typeface="Fira Sans Condensed" panose="020B0503050000020004" pitchFamily="34" charset="0"/>
              </a:rPr>
              <a:t> alloue l’espace mémoire pour l’objet et son header</a:t>
            </a:r>
            <a:endParaRPr lang="en-US" sz="2400" dirty="0">
              <a:solidFill>
                <a:schemeClr val="accent1"/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34E69C-E974-A4D9-2828-889539CD307C}"/>
              </a:ext>
            </a:extLst>
          </p:cNvPr>
          <p:cNvSpPr/>
          <p:nvPr/>
        </p:nvSpPr>
        <p:spPr>
          <a:xfrm>
            <a:off x="6244456" y="3856065"/>
            <a:ext cx="5650637" cy="792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>
              <a:buNone/>
            </a:pPr>
            <a:r>
              <a:rPr lang="en-US" sz="2400">
                <a:solidFill>
                  <a:schemeClr val="accent1"/>
                </a:solidFill>
                <a:latin typeface="Fira Sans Condensed" panose="020B0503050000020004" pitchFamily="34" charset="0"/>
              </a:rPr>
              <a:t>Stocke les champs (par multiple de 8 bits)</a:t>
            </a:r>
            <a:endParaRPr lang="en-US" sz="2400" dirty="0">
              <a:solidFill>
                <a:schemeClr val="accent1"/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F1DBF2-1256-C1BB-729E-92A92A5A165B}"/>
              </a:ext>
            </a:extLst>
          </p:cNvPr>
          <p:cNvSpPr txBox="1"/>
          <p:nvPr/>
        </p:nvSpPr>
        <p:spPr>
          <a:xfrm>
            <a:off x="1217901" y="5308170"/>
            <a:ext cx="99677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" panose="020B0503050000020004" pitchFamily="34" charset="0"/>
              </a:rPr>
              <a:t>Les types primitifs sont stockés directement</a:t>
            </a:r>
          </a:p>
          <a:p>
            <a:r>
              <a:rPr lang="en-US" sz="2400">
                <a:latin typeface="Fira Sans Condensed" panose="020B0503050000020004" pitchFamily="34" charset="0"/>
              </a:rPr>
              <a:t>Les références aux objets sont stockées sous forme de pointeurs vers la heap</a:t>
            </a:r>
            <a:endParaRPr lang="fr-FR" sz="2400">
              <a:latin typeface="Fira Sans Condensed" panose="020B05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A35956-0CC5-5416-A450-06B9C86ED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4727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7">
            <a:extLst>
              <a:ext uri="{FF2B5EF4-FFF2-40B4-BE49-F238E27FC236}">
                <a16:creationId xmlns:a16="http://schemas.microsoft.com/office/drawing/2014/main" id="{E56EEB1C-A047-6FEC-CE5A-B692A9FC48BE}"/>
              </a:ext>
            </a:extLst>
          </p:cNvPr>
          <p:cNvSpPr txBox="1"/>
          <p:nvPr/>
        </p:nvSpPr>
        <p:spPr>
          <a:xfrm>
            <a:off x="288670" y="1404420"/>
            <a:ext cx="3679106" cy="4401205"/>
          </a:xfrm>
          <a:prstGeom prst="roundRect">
            <a:avLst>
              <a:gd name="adj" fmla="val 0"/>
            </a:avLst>
          </a:prstGeom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Identité</a:t>
            </a: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Champs, méthodes et peuvent implementer des interfaces</a:t>
            </a:r>
          </a:p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Encapsulation</a:t>
            </a: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Instances nullables</a:t>
            </a:r>
          </a:p>
          <a:p>
            <a:pPr>
              <a:buNone/>
            </a:pPr>
            <a:endParaRPr lang="en-US" sz="200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Intégrité</a:t>
            </a:r>
          </a:p>
          <a:p>
            <a:pPr>
              <a:buNone/>
            </a:pPr>
            <a:endParaRPr lang="en-US" sz="2000" dirty="0">
              <a:solidFill>
                <a:schemeClr val="accent2">
                  <a:lumMod val="75000"/>
                </a:schemeClr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5" name="ZoneTexte 9">
            <a:extLst>
              <a:ext uri="{FF2B5EF4-FFF2-40B4-BE49-F238E27FC236}">
                <a16:creationId xmlns:a16="http://schemas.microsoft.com/office/drawing/2014/main" id="{084C7640-53CF-9E77-81BC-36B91CF62211}"/>
              </a:ext>
            </a:extLst>
          </p:cNvPr>
          <p:cNvSpPr txBox="1"/>
          <p:nvPr/>
        </p:nvSpPr>
        <p:spPr>
          <a:xfrm>
            <a:off x="1403709" y="729763"/>
            <a:ext cx="14490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accent2">
                    <a:lumMod val="75000"/>
                  </a:schemeClr>
                </a:solidFill>
                <a:latin typeface="Fira Sans Condensed SemiBold" panose="020B0603050000020004" pitchFamily="34" charset="0"/>
              </a:rPr>
              <a:t>Classes</a:t>
            </a:r>
            <a:endParaRPr lang="fr-FR" sz="3200">
              <a:solidFill>
                <a:schemeClr val="accent2">
                  <a:lumMod val="75000"/>
                </a:schemeClr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6" name="ZoneTexte 9">
            <a:extLst>
              <a:ext uri="{FF2B5EF4-FFF2-40B4-BE49-F238E27FC236}">
                <a16:creationId xmlns:a16="http://schemas.microsoft.com/office/drawing/2014/main" id="{F3D65EA0-F675-F90C-67E0-6A819E1A56EB}"/>
              </a:ext>
            </a:extLst>
          </p:cNvPr>
          <p:cNvSpPr txBox="1"/>
          <p:nvPr/>
        </p:nvSpPr>
        <p:spPr>
          <a:xfrm>
            <a:off x="9224169" y="729763"/>
            <a:ext cx="16792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chemeClr val="accent1"/>
                </a:solidFill>
                <a:latin typeface="Fira Sans Condensed SemiBold" panose="020B0603050000020004" pitchFamily="34" charset="0"/>
              </a:rPr>
              <a:t>Primitifs</a:t>
            </a:r>
            <a:endParaRPr lang="fr-FR" sz="3200">
              <a:solidFill>
                <a:schemeClr val="accent1"/>
              </a:solidFill>
              <a:latin typeface="Fira Sans Condensed SemiBold" panose="020B0603050000020004" pitchFamily="34" charset="0"/>
            </a:endParaRPr>
          </a:p>
        </p:txBody>
      </p:sp>
      <p:sp>
        <p:nvSpPr>
          <p:cNvPr id="27" name="ZoneTexte 7">
            <a:extLst>
              <a:ext uri="{FF2B5EF4-FFF2-40B4-BE49-F238E27FC236}">
                <a16:creationId xmlns:a16="http://schemas.microsoft.com/office/drawing/2014/main" id="{5A357FE2-E6AE-35A3-7710-7702251C6DEE}"/>
              </a:ext>
            </a:extLst>
          </p:cNvPr>
          <p:cNvSpPr txBox="1"/>
          <p:nvPr/>
        </p:nvSpPr>
        <p:spPr>
          <a:xfrm>
            <a:off x="4256446" y="1404421"/>
            <a:ext cx="3679106" cy="4401205"/>
          </a:xfrm>
          <a:prstGeom prst="roundRect">
            <a:avLst>
              <a:gd name="adj" fmla="val 0"/>
            </a:avLst>
          </a:prstGeom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Pas d’identité</a:t>
            </a: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Champs, méthodes et peuvent implementer des interfaces</a:t>
            </a:r>
          </a:p>
          <a:p>
            <a:pPr>
              <a:buNone/>
            </a:pPr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Encapsulation</a:t>
            </a: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Aplaties sur la stack</a:t>
            </a:r>
          </a:p>
          <a:p>
            <a:pPr>
              <a:buNone/>
            </a:pPr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Peuvent être aplaties sur la heap</a:t>
            </a: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r>
              <a:rPr lang="en-US" sz="2000">
                <a:solidFill>
                  <a:schemeClr val="accent2">
                    <a:lumMod val="75000"/>
                  </a:schemeClr>
                </a:solidFill>
                <a:latin typeface="Fira Sans Condensed" panose="020B0503050000020004" pitchFamily="34" charset="0"/>
              </a:rPr>
              <a:t>Instances peuvent être nullables</a:t>
            </a:r>
          </a:p>
          <a:p>
            <a:endParaRPr lang="en-US" sz="2000">
              <a:solidFill>
                <a:schemeClr val="accent3"/>
              </a:solidFill>
              <a:latin typeface="Fira Sans Condensed" panose="020B0503050000020004" pitchFamily="34" charset="0"/>
            </a:endParaRPr>
          </a:p>
          <a:p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Peuvent ne pas avoir d’intégrité</a:t>
            </a:r>
          </a:p>
          <a:p>
            <a:endParaRPr lang="en-US" sz="2000">
              <a:solidFill>
                <a:schemeClr val="accent3"/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28" name="ZoneTexte 7">
            <a:extLst>
              <a:ext uri="{FF2B5EF4-FFF2-40B4-BE49-F238E27FC236}">
                <a16:creationId xmlns:a16="http://schemas.microsoft.com/office/drawing/2014/main" id="{15C2BD2B-05C2-5B6B-5F67-7838FC566D28}"/>
              </a:ext>
            </a:extLst>
          </p:cNvPr>
          <p:cNvSpPr txBox="1"/>
          <p:nvPr/>
        </p:nvSpPr>
        <p:spPr>
          <a:xfrm>
            <a:off x="8224223" y="1404420"/>
            <a:ext cx="3679106" cy="4401205"/>
          </a:xfrm>
          <a:prstGeom prst="roundRect">
            <a:avLst>
              <a:gd name="adj" fmla="val 0"/>
            </a:avLst>
          </a:prstGeom>
          <a:ln w="952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Pas d’identité</a:t>
            </a: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Aplatis sur la stack &amp; la heap</a:t>
            </a: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endParaRPr lang="en-US" sz="2000">
              <a:solidFill>
                <a:schemeClr val="accent1"/>
              </a:solidFill>
              <a:latin typeface="Fira Sans Condensed" panose="020B0503050000020004" pitchFamily="34" charset="0"/>
            </a:endParaRPr>
          </a:p>
          <a:p>
            <a:pPr>
              <a:buNone/>
            </a:pPr>
            <a:r>
              <a:rPr lang="en-US" sz="2000">
                <a:solidFill>
                  <a:schemeClr val="accent1"/>
                </a:solidFill>
                <a:latin typeface="Fira Sans Condensed" panose="020B0503050000020004" pitchFamily="34" charset="0"/>
              </a:rPr>
              <a:t>Peuvent ne pas avoir d’intégrité (long/double CPU 32bits)</a:t>
            </a:r>
            <a:r>
              <a:rPr lang="en-US" sz="2000" i="1">
                <a:solidFill>
                  <a:schemeClr val="accent1"/>
                </a:solidFill>
                <a:latin typeface="Fira Sans Condensed" panose="020B0503050000020004" pitchFamily="34" charset="0"/>
              </a:rPr>
              <a:t>*</a:t>
            </a:r>
            <a:endParaRPr lang="en-US" sz="2000" i="1" dirty="0">
              <a:solidFill>
                <a:schemeClr val="accent1"/>
              </a:solidFill>
              <a:latin typeface="Fira Sans Condensed" panose="020B0503050000020004" pitchFamily="34" charset="0"/>
            </a:endParaRPr>
          </a:p>
        </p:txBody>
      </p:sp>
      <p:sp>
        <p:nvSpPr>
          <p:cNvPr id="29" name="ZoneTexte 9">
            <a:extLst>
              <a:ext uri="{FF2B5EF4-FFF2-40B4-BE49-F238E27FC236}">
                <a16:creationId xmlns:a16="http://schemas.microsoft.com/office/drawing/2014/main" id="{88EBA135-6BA3-8EAA-5BDB-3AF8BFD2AB87}"/>
              </a:ext>
            </a:extLst>
          </p:cNvPr>
          <p:cNvSpPr txBox="1"/>
          <p:nvPr/>
        </p:nvSpPr>
        <p:spPr>
          <a:xfrm>
            <a:off x="4855134" y="729763"/>
            <a:ext cx="24817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atin typeface="Fira Sans Condensed SemiBold" panose="020B0603050000020004" pitchFamily="34" charset="0"/>
              </a:rPr>
              <a:t>Value Classes</a:t>
            </a:r>
            <a:endParaRPr lang="fr-FR" sz="3200">
              <a:latin typeface="Fira Sans Condensed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7CE699-0953-1290-325F-E832ECBC2142}"/>
              </a:ext>
            </a:extLst>
          </p:cNvPr>
          <p:cNvSpPr txBox="1"/>
          <p:nvPr/>
        </p:nvSpPr>
        <p:spPr>
          <a:xfrm>
            <a:off x="8757882" y="5895507"/>
            <a:ext cx="3434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i="1">
                <a:effectLst/>
                <a:latin typeface="Fira Sans Condensed" panose="020B0503050000020004" pitchFamily="34" charset="0"/>
              </a:rPr>
              <a:t>*JLS 17.7. Non-Atomic Treatment of double and long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35FCF8-8BFB-F6F0-6314-5125F6C3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334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45F04-F1E8-4C50-E2B8-17F632DA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47F232-AD6A-B4FD-218D-A41F41AB1756}"/>
              </a:ext>
            </a:extLst>
          </p:cNvPr>
          <p:cNvSpPr/>
          <p:nvPr/>
        </p:nvSpPr>
        <p:spPr>
          <a:xfrm>
            <a:off x="2839277" y="4878170"/>
            <a:ext cx="6513444" cy="907771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>
                <a:solidFill>
                  <a:schemeClr val="tx1"/>
                </a:solidFill>
                <a:latin typeface="Consolas" panose="020B0609020204030204" pitchFamily="49" charset="0"/>
              </a:rPr>
              <a:t>public </a:t>
            </a:r>
            <a:r>
              <a:rPr lang="fr-FR" sz="1600" b="1">
                <a:solidFill>
                  <a:schemeClr val="accent1"/>
                </a:solidFill>
                <a:latin typeface="Consolas" panose="020B0609020204030204" pitchFamily="49" charset="0"/>
              </a:rPr>
              <a:t>value</a:t>
            </a:r>
            <a:r>
              <a:rPr lang="fr-FR" sz="1600">
                <a:solidFill>
                  <a:schemeClr val="tx1"/>
                </a:solidFill>
                <a:latin typeface="Consolas" panose="020B0609020204030204" pitchFamily="49" charset="0"/>
              </a:rPr>
              <a:t> record Complex(double re, double im) {</a:t>
            </a:r>
          </a:p>
          <a:p>
            <a:pPr>
              <a:buNone/>
            </a:pPr>
            <a:r>
              <a:rPr lang="fr-FR" sz="1600">
                <a:solidFill>
                  <a:schemeClr val="tx1"/>
                </a:solidFill>
                <a:latin typeface="Consolas" panose="020B0609020204030204" pitchFamily="49" charset="0"/>
              </a:rPr>
              <a:t>  // ...</a:t>
            </a:r>
          </a:p>
          <a:p>
            <a:r>
              <a:rPr lang="fr-FR" sz="1600">
                <a:solidFill>
                  <a:schemeClr val="tx1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D1175BDF-89C4-7CEE-6619-7CE4B7B57A4E}"/>
              </a:ext>
            </a:extLst>
          </p:cNvPr>
          <p:cNvSpPr txBox="1"/>
          <p:nvPr/>
        </p:nvSpPr>
        <p:spPr>
          <a:xfrm>
            <a:off x="3779182" y="1072059"/>
            <a:ext cx="46336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atin typeface="Fira Sans Condensed SemiBold" panose="020B0603050000020004" pitchFamily="34" charset="0"/>
              </a:rPr>
              <a:t>Nouveau mot clé : </a:t>
            </a:r>
            <a:r>
              <a:rPr lang="en-US" sz="3200" b="1">
                <a:solidFill>
                  <a:schemeClr val="accent1"/>
                </a:solidFill>
                <a:latin typeface="Consolas" panose="020B0609020204030204" pitchFamily="49" charset="0"/>
              </a:rPr>
              <a:t>value</a:t>
            </a:r>
            <a:endParaRPr lang="fr-FR" sz="32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ZoneTexte 9">
            <a:extLst>
              <a:ext uri="{FF2B5EF4-FFF2-40B4-BE49-F238E27FC236}">
                <a16:creationId xmlns:a16="http://schemas.microsoft.com/office/drawing/2014/main" id="{75F6630E-CCAE-AB76-865F-758BD017492D}"/>
              </a:ext>
            </a:extLst>
          </p:cNvPr>
          <p:cNvSpPr txBox="1"/>
          <p:nvPr/>
        </p:nvSpPr>
        <p:spPr>
          <a:xfrm>
            <a:off x="1818860" y="2728893"/>
            <a:ext cx="855427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latin typeface="Fira Sans Condensed SemiBold" panose="020B0603050000020004" pitchFamily="34" charset="0"/>
              </a:rPr>
              <a:t>Permet de définir une  </a:t>
            </a:r>
            <a:r>
              <a:rPr lang="en-US" sz="3200" b="1">
                <a:solidFill>
                  <a:schemeClr val="accent1"/>
                </a:solidFill>
                <a:latin typeface="Consolas" panose="020B0609020204030204" pitchFamily="49" charset="0"/>
              </a:rPr>
              <a:t>value class</a:t>
            </a:r>
          </a:p>
          <a:p>
            <a:pPr algn="ctr"/>
            <a:r>
              <a:rPr lang="en-US" sz="3200" b="1">
                <a:latin typeface="Fira Sans Condensed SemiBold" panose="020B0603050000020004" pitchFamily="34" charset="0"/>
              </a:rPr>
              <a:t>                                 ou un</a:t>
            </a:r>
            <a:r>
              <a:rPr lang="en-US" sz="3200" b="1">
                <a:latin typeface="Consolas" panose="020B0609020204030204" pitchFamily="49" charset="0"/>
              </a:rPr>
              <a:t> </a:t>
            </a:r>
            <a:r>
              <a:rPr lang="en-US" sz="3200" b="1">
                <a:solidFill>
                  <a:schemeClr val="accent1"/>
                </a:solidFill>
                <a:latin typeface="Consolas" panose="020B0609020204030204" pitchFamily="49" charset="0"/>
              </a:rPr>
              <a:t>value record</a:t>
            </a:r>
            <a:endParaRPr lang="fr-FR" sz="32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2697C-0E29-79CC-3BF7-1EB754358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40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6EFA8-3040-25B1-08D5-D1D45B3F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DC9E81-82AC-3440-6F1B-510C6DF0589B}"/>
              </a:ext>
            </a:extLst>
          </p:cNvPr>
          <p:cNvSpPr txBox="1"/>
          <p:nvPr/>
        </p:nvSpPr>
        <p:spPr>
          <a:xfrm>
            <a:off x="3853239" y="2038585"/>
            <a:ext cx="4485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>
                <a:latin typeface="Fira Sans Condensed SemiBold" panose="020B0603050000020004" pitchFamily="34" charset="0"/>
              </a:rPr>
              <a:t>1024 x 1024 — itérations max : 255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33798-D8A1-387A-B581-9D3E7BE259C8}"/>
              </a:ext>
            </a:extLst>
          </p:cNvPr>
          <p:cNvSpPr txBox="1"/>
          <p:nvPr/>
        </p:nvSpPr>
        <p:spPr>
          <a:xfrm>
            <a:off x="1782419" y="3429000"/>
            <a:ext cx="862716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u="sng">
                <a:latin typeface="Consolas" panose="020B0609020204030204" pitchFamily="49" charset="0"/>
              </a:rPr>
              <a:t>Benchmark              Mode  Cnt     Score    Error  Units</a:t>
            </a:r>
          </a:p>
          <a:p>
            <a:r>
              <a:rPr lang="fr-FR" sz="2000">
                <a:latin typeface="Consolas" panose="020B0609020204030204" pitchFamily="49" charset="0"/>
              </a:rPr>
              <a:t>primitive              avgt   10    </a:t>
            </a:r>
            <a:r>
              <a:rPr lang="fr-FR" sz="2000" b="1">
                <a:latin typeface="Consolas" panose="020B0609020204030204" pitchFamily="49" charset="0"/>
              </a:rPr>
              <a:t>19.758</a:t>
            </a:r>
            <a:r>
              <a:rPr lang="fr-FR" sz="2000">
                <a:latin typeface="Consolas" panose="020B0609020204030204" pitchFamily="49" charset="0"/>
              </a:rPr>
              <a:t> ±  0.119  ms/op</a:t>
            </a:r>
          </a:p>
          <a:p>
            <a:r>
              <a:rPr lang="fr-FR" sz="2000">
                <a:latin typeface="Consolas" panose="020B0609020204030204" pitchFamily="49" charset="0"/>
              </a:rPr>
              <a:t>record                 avgt   10   </a:t>
            </a:r>
            <a:r>
              <a:rPr lang="fr-FR" sz="2000" b="1">
                <a:latin typeface="Consolas" panose="020B0609020204030204" pitchFamily="49" charset="0"/>
              </a:rPr>
              <a:t>207.828</a:t>
            </a:r>
            <a:r>
              <a:rPr lang="fr-FR" sz="2000">
                <a:latin typeface="Consolas" panose="020B0609020204030204" pitchFamily="49" charset="0"/>
              </a:rPr>
              <a:t> ±  1.938  ms/op</a:t>
            </a:r>
          </a:p>
          <a:p>
            <a:endParaRPr lang="fr-FR" sz="2000">
              <a:latin typeface="Consolas" panose="020B0609020204030204" pitchFamily="49" charset="0"/>
            </a:endParaRPr>
          </a:p>
          <a:p>
            <a:r>
              <a:rPr lang="fr-FR" sz="2000">
                <a:solidFill>
                  <a:schemeClr val="accent1"/>
                </a:solidFill>
                <a:latin typeface="Consolas" panose="020B0609020204030204" pitchFamily="49" charset="0"/>
              </a:rPr>
              <a:t>value record           avgt   25    </a:t>
            </a:r>
            <a:r>
              <a:rPr lang="fr-FR" sz="2000" b="1">
                <a:solidFill>
                  <a:schemeClr val="accent1"/>
                </a:solidFill>
                <a:latin typeface="Consolas" panose="020B0609020204030204" pitchFamily="49" charset="0"/>
              </a:rPr>
              <a:t>20.887</a:t>
            </a:r>
            <a:r>
              <a:rPr lang="fr-FR" sz="2000">
                <a:solidFill>
                  <a:schemeClr val="accent1"/>
                </a:solidFill>
                <a:latin typeface="Consolas" panose="020B0609020204030204" pitchFamily="49" charset="0"/>
              </a:rPr>
              <a:t> ±  0.079  ms/op</a:t>
            </a:r>
          </a:p>
          <a:p>
            <a:endParaRPr lang="fr-FR" sz="20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A027EA-455A-6092-A171-304130BEEC27}"/>
              </a:ext>
            </a:extLst>
          </p:cNvPr>
          <p:cNvSpPr txBox="1"/>
          <p:nvPr/>
        </p:nvSpPr>
        <p:spPr>
          <a:xfrm>
            <a:off x="4928052" y="463504"/>
            <a:ext cx="2335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Benchmark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8AC651-5737-185C-A517-83B96BDE0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44713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08671-05DC-128B-94C7-845E15C1D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798E5D8-E531-5AFF-C6DE-15E512FD488F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E970D0-51E4-E34E-87BF-3CCAE056EF7C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6224932E-8B08-C133-45FE-A086A4412A4A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01. MandelbrotFX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99EF5-6F32-0690-19F1-07DD5809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73962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744A7-64FE-85C5-CE5B-1F7ACC5FC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85F048-679D-44E8-3327-65D1580CBD8A}"/>
              </a:ext>
            </a:extLst>
          </p:cNvPr>
          <p:cNvSpPr txBox="1"/>
          <p:nvPr/>
        </p:nvSpPr>
        <p:spPr>
          <a:xfrm>
            <a:off x="3183609" y="2459504"/>
            <a:ext cx="578395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Même scenario d’exploration, 3 algorithmes</a:t>
            </a:r>
          </a:p>
          <a:p>
            <a:pPr algn="ctr"/>
            <a:endParaRPr lang="en-US" sz="240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Records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Primitifs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Value Records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C4AC2E-E529-BEBD-2C57-05B3625506FE}"/>
              </a:ext>
            </a:extLst>
          </p:cNvPr>
          <p:cNvSpPr txBox="1"/>
          <p:nvPr/>
        </p:nvSpPr>
        <p:spPr>
          <a:xfrm>
            <a:off x="4086479" y="463504"/>
            <a:ext cx="40190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Java Flight Recorder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A2C02D-9CE1-2665-B531-75331D386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70624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67EDA-7A13-7CBB-D389-F234009B2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B50DA27-77F9-E77C-8571-2B7015CF8F83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1EB90BB-224A-8702-CDBC-7682BF553CDE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9AC772D6-CA4A-3833-926C-17BF84644964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02. Java Mission Control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65B620-6FAA-8ACE-5C23-A0166BB0A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127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5D85D-5E8C-D4CC-A4F8-9A89FABF9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BE3330-0952-87D5-7C09-C7A19BF216AD}"/>
              </a:ext>
            </a:extLst>
          </p:cNvPr>
          <p:cNvSpPr txBox="1"/>
          <p:nvPr/>
        </p:nvSpPr>
        <p:spPr>
          <a:xfrm>
            <a:off x="5226217" y="463504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Records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pic>
        <p:nvPicPr>
          <p:cNvPr id="3074" name="Picture 2" descr="id record jfr">
            <a:extLst>
              <a:ext uri="{FF2B5EF4-FFF2-40B4-BE49-F238E27FC236}">
                <a16:creationId xmlns:a16="http://schemas.microsoft.com/office/drawing/2014/main" id="{856E5B19-480E-B45D-72D5-75B94A21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68388"/>
            <a:ext cx="12192000" cy="472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01F543-7508-E795-3099-BB3A16CFC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2178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im jfr">
            <a:extLst>
              <a:ext uri="{FF2B5EF4-FFF2-40B4-BE49-F238E27FC236}">
                <a16:creationId xmlns:a16="http://schemas.microsoft.com/office/drawing/2014/main" id="{86C8F789-5D1C-B5D6-6109-80C2C550EE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31875"/>
            <a:ext cx="12192000" cy="4792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D51CBF-3E75-65D0-778C-800554D64839}"/>
              </a:ext>
            </a:extLst>
          </p:cNvPr>
          <p:cNvSpPr txBox="1"/>
          <p:nvPr/>
        </p:nvSpPr>
        <p:spPr>
          <a:xfrm>
            <a:off x="5186942" y="463504"/>
            <a:ext cx="1818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Primitifs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1BBB54-55A9-A24D-BD54-FE87F47B6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068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A0C71-1634-6CF8-C939-0266AD5913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CA4B42-016F-31D1-E225-1EB0E48F016E}"/>
              </a:ext>
            </a:extLst>
          </p:cNvPr>
          <p:cNvSpPr txBox="1"/>
          <p:nvPr/>
        </p:nvSpPr>
        <p:spPr>
          <a:xfrm>
            <a:off x="4642725" y="463504"/>
            <a:ext cx="29065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Value Records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pic>
        <p:nvPicPr>
          <p:cNvPr id="2050" name="Picture 2" descr="va record jfr">
            <a:extLst>
              <a:ext uri="{FF2B5EF4-FFF2-40B4-BE49-F238E27FC236}">
                <a16:creationId xmlns:a16="http://schemas.microsoft.com/office/drawing/2014/main" id="{7C008922-8262-1826-D3EE-C12FBC634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2350"/>
            <a:ext cx="12192000" cy="4811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2B7F7-698F-000B-EF64-813EE90E3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52955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35D2B-C30E-7AC6-AE6B-F118DC7B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9">
            <a:extLst>
              <a:ext uri="{FF2B5EF4-FFF2-40B4-BE49-F238E27FC236}">
                <a16:creationId xmlns:a16="http://schemas.microsoft.com/office/drawing/2014/main" id="{A35402DB-77AE-FD8E-387D-76BA8F479D90}"/>
              </a:ext>
            </a:extLst>
          </p:cNvPr>
          <p:cNvSpPr txBox="1"/>
          <p:nvPr/>
        </p:nvSpPr>
        <p:spPr>
          <a:xfrm>
            <a:off x="2978341" y="2828835"/>
            <a:ext cx="62353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Ce n’est pas “juste” une optimisation de performances</a:t>
            </a:r>
            <a:endParaRPr lang="fr-FR" sz="3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A954F8-6912-5C1E-770E-CDEE3872D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23202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4F2CE-A1B1-DC40-72FD-53AF5A887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6F9113C-E41B-D4EB-8C68-9E13119CABF1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4A5CD23-DA93-B025-1A16-D81D553FB910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F4550C6C-85FB-6DB4-E1EE-E78FC69B2ADB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03. Propriétés des </a:t>
              </a:r>
              <a:r>
                <a:rPr lang="en-US" sz="3200" i="1">
                  <a:latin typeface="Fira Sans Condensed SemiBold" panose="020B0603050000020004" pitchFamily="34" charset="0"/>
                </a:rPr>
                <a:t>value objects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B3D462-BC6A-FE28-1FD8-C5F0106EB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901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FE095-F26E-63C4-DD6E-54037FD2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4DFB23B-14A3-33AE-D4BF-0397A9139D45}"/>
              </a:ext>
            </a:extLst>
          </p:cNvPr>
          <p:cNvSpPr txBox="1"/>
          <p:nvPr/>
        </p:nvSpPr>
        <p:spPr>
          <a:xfrm>
            <a:off x="4117745" y="463504"/>
            <a:ext cx="3956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Initialisation stricte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74D5C358-AB90-7B53-7B6B-71509E6EC909}"/>
              </a:ext>
            </a:extLst>
          </p:cNvPr>
          <p:cNvSpPr txBox="1"/>
          <p:nvPr/>
        </p:nvSpPr>
        <p:spPr>
          <a:xfrm>
            <a:off x="1890216" y="2641981"/>
            <a:ext cx="8611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>
                <a:latin typeface="Fira Sans Condensed SemiBold" panose="020B0603050000020004" pitchFamily="34" charset="0"/>
              </a:rPr>
              <a:t>Les champs doivent être initialisés avant l’appel à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sz="2400">
                <a:latin typeface="Fira Sans Condensed SemiBold" panose="020B0603050000020004" pitchFamily="34" charset="0"/>
              </a:rPr>
              <a:t> ou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86AE0A-0BC5-9477-F7FA-0FD33E6F276D}"/>
              </a:ext>
            </a:extLst>
          </p:cNvPr>
          <p:cNvSpPr txBox="1"/>
          <p:nvPr/>
        </p:nvSpPr>
        <p:spPr>
          <a:xfrm>
            <a:off x="3792412" y="3754355"/>
            <a:ext cx="48073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fr-FR" sz="2400">
                <a:effectLst/>
                <a:latin typeface="Fira Sans Condensed SemiBold" panose="020B0603050000020004" pitchFamily="34" charset="0"/>
              </a:rPr>
              <a:t>JEP 513 : Flexible Constructor Bodies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0335D-4381-F595-AB8D-118832A7A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437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C0229-03B1-5378-5016-2718E0F9A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CA04602-A464-E739-4F2E-DD0FB7C2AF86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4B95841-3668-65A4-3139-462B8DB4309A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D6835710-3974-FD5C-29C5-BDF0CA897936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04. Initialisation stricte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0E396F-B198-92E2-09F9-8C836D137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62407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4B6D5-0C16-F01B-4402-37455BC25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166949E-02A9-8283-A9FE-1AB6B59D7C5F}"/>
              </a:ext>
            </a:extLst>
          </p:cNvPr>
          <p:cNvSpPr txBox="1"/>
          <p:nvPr/>
        </p:nvSpPr>
        <p:spPr>
          <a:xfrm>
            <a:off x="3580738" y="463504"/>
            <a:ext cx="5030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Changements dans le JDK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2" name="ZoneTexte 9">
            <a:extLst>
              <a:ext uri="{FF2B5EF4-FFF2-40B4-BE49-F238E27FC236}">
                <a16:creationId xmlns:a16="http://schemas.microsoft.com/office/drawing/2014/main" id="{43ED8E27-18E2-D1AA-5644-C1C13FB9C9AE}"/>
              </a:ext>
            </a:extLst>
          </p:cNvPr>
          <p:cNvSpPr txBox="1"/>
          <p:nvPr/>
        </p:nvSpPr>
        <p:spPr>
          <a:xfrm>
            <a:off x="1330657" y="2090172"/>
            <a:ext cx="97786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@ValueBased</a:t>
            </a:r>
            <a:r>
              <a:rPr lang="en-US" sz="2400" b="1">
                <a:latin typeface="Consolas" panose="020B0609020204030204" pitchFamily="49" charset="0"/>
              </a:rPr>
              <a:t> -&gt; </a:t>
            </a:r>
            <a:r>
              <a:rPr lang="en-US" sz="2400" b="1">
                <a:latin typeface="Fira Sans Condensed SemiBold" panose="020B0603050000020004" pitchFamily="34" charset="0"/>
              </a:rPr>
              <a:t>Value Types</a:t>
            </a:r>
          </a:p>
          <a:p>
            <a:pPr marL="342900" indent="-342900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2400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java.lang : Integer, Long, Float, Double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java.util : Optional, OptionalInt, OptionalLong …</a:t>
            </a:r>
            <a:endParaRPr lang="en-US" sz="2400" i="1">
              <a:latin typeface="Consolas" panose="020B0609020204030204" pitchFamily="49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Consolas" panose="020B0609020204030204" pitchFamily="49" charset="0"/>
              </a:rPr>
              <a:t>java.time : LocalDate, LocalTime, Duration, Instant …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b="1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JEP 390: Warnings for Value-Based Classes </a:t>
            </a:r>
            <a:r>
              <a:rPr lang="en-US" sz="2400" i="1">
                <a:latin typeface="Fira Sans Condensed SemiBold" panose="020B0603050000020004" pitchFamily="34" charset="0"/>
              </a:rPr>
              <a:t>(JDK 16)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2400" i="1">
              <a:latin typeface="Fira Sans Condensed SemiBold" panose="020B06030500000200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Pas besoin de recompiler le code externe qui utilise des value types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02DFE2-9D07-D323-566E-F7A41488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834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BFDB-B435-F0B9-E2CC-C998012F1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4D1BC31-CE3D-BEAB-D16B-CCE2BEE5C170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2580459-B228-D855-4096-F60625C26D62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2A98A5AC-1F38-B25F-21E8-AF23BDA27D3C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05. Wrappers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085BD-AAB5-178D-24FB-10513BCED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39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055790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84030-1B35-1218-0BB5-D93D44F5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82CC6B7-9CB1-DE6D-3FCF-5329009A8634}"/>
              </a:ext>
            </a:extLst>
          </p:cNvPr>
          <p:cNvSpPr txBox="1"/>
          <p:nvPr/>
        </p:nvSpPr>
        <p:spPr>
          <a:xfrm>
            <a:off x="5294348" y="463504"/>
            <a:ext cx="16033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Orbites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CF8E09-494E-2D85-D928-71797E05F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7" y="1214769"/>
            <a:ext cx="6116001" cy="5643231"/>
          </a:xfrm>
          <a:prstGeom prst="rect">
            <a:avLst/>
          </a:prstGeom>
        </p:spPr>
      </p:pic>
      <p:sp>
        <p:nvSpPr>
          <p:cNvPr id="8" name="ZoneTexte 9">
            <a:extLst>
              <a:ext uri="{FF2B5EF4-FFF2-40B4-BE49-F238E27FC236}">
                <a16:creationId xmlns:a16="http://schemas.microsoft.com/office/drawing/2014/main" id="{2EBE272C-9B6C-D440-CC5F-686A069F569E}"/>
              </a:ext>
            </a:extLst>
          </p:cNvPr>
          <p:cNvSpPr txBox="1"/>
          <p:nvPr/>
        </p:nvSpPr>
        <p:spPr>
          <a:xfrm>
            <a:off x="2686357" y="4673735"/>
            <a:ext cx="6935026" cy="193899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Calcul pour affichage</a:t>
            </a:r>
          </a:p>
          <a:p>
            <a:pPr>
              <a:buClr>
                <a:schemeClr val="tx1"/>
              </a:buClr>
            </a:pPr>
            <a:endParaRPr lang="en-US" sz="2400" b="1">
              <a:latin typeface="Fira Sans Condensed SemiBold" panose="020B0603050000020004" pitchFamily="34" charset="0"/>
            </a:endParaRPr>
          </a:p>
          <a:p>
            <a:pPr>
              <a:buClr>
                <a:schemeClr val="tx1"/>
              </a:buClr>
            </a:pP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record Orbit(float re, float im) {}</a:t>
            </a:r>
          </a:p>
          <a:p>
            <a:pPr>
              <a:buClr>
                <a:schemeClr val="tx1"/>
              </a:buClr>
            </a:pPr>
            <a:endParaRPr lang="en-US" sz="2400" b="1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>
              <a:buClr>
                <a:schemeClr val="tx1"/>
              </a:buClr>
            </a:pPr>
            <a:r>
              <a:rPr lang="en-US" sz="2400" b="1">
                <a:latin typeface="Fira Sans Condensed SemiBold" panose="020B0603050000020004" pitchFamily="34" charset="0"/>
              </a:rPr>
              <a:t>Stockés dans un tableau </a:t>
            </a:r>
            <a:r>
              <a:rPr lang="en-US" sz="2400" b="1">
                <a:solidFill>
                  <a:schemeClr val="accent1"/>
                </a:solidFill>
                <a:latin typeface="Consolas" panose="020B0609020204030204" pitchFamily="49" charset="0"/>
              </a:rPr>
              <a:t>Orbit[]</a:t>
            </a:r>
            <a:endParaRPr lang="en-US" sz="240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23C862-17EE-B1BB-3D8A-174CC057F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155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76105-3297-3F5D-7BCA-ED9424546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E63819-9762-2A64-7B02-C61D471D62B0}"/>
              </a:ext>
            </a:extLst>
          </p:cNvPr>
          <p:cNvSpPr txBox="1"/>
          <p:nvPr/>
        </p:nvSpPr>
        <p:spPr>
          <a:xfrm>
            <a:off x="4200301" y="463504"/>
            <a:ext cx="37914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Structure mémoire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24A58D-2D83-95F8-9C15-0DE0D6C6C5A3}"/>
              </a:ext>
            </a:extLst>
          </p:cNvPr>
          <p:cNvSpPr/>
          <p:nvPr/>
        </p:nvSpPr>
        <p:spPr>
          <a:xfrm>
            <a:off x="607325" y="1944811"/>
            <a:ext cx="1603612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8D1786-DD6C-8756-D6C1-5D67B9E42C6C}"/>
              </a:ext>
            </a:extLst>
          </p:cNvPr>
          <p:cNvSpPr/>
          <p:nvPr/>
        </p:nvSpPr>
        <p:spPr>
          <a:xfrm>
            <a:off x="607325" y="2456602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Orbit@1a2b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0FA58F-23CD-11AA-7AFC-BF61E6ED2FAD}"/>
              </a:ext>
            </a:extLst>
          </p:cNvPr>
          <p:cNvSpPr/>
          <p:nvPr/>
        </p:nvSpPr>
        <p:spPr>
          <a:xfrm>
            <a:off x="607325" y="2968393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Orbit@1a2c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90733A-2FAE-651D-7431-8B8C7521AA1C}"/>
              </a:ext>
            </a:extLst>
          </p:cNvPr>
          <p:cNvSpPr/>
          <p:nvPr/>
        </p:nvSpPr>
        <p:spPr>
          <a:xfrm>
            <a:off x="607325" y="3480184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Orbit@3d4e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D7A8FA-8372-7766-8465-13C30C7119B3}"/>
              </a:ext>
            </a:extLst>
          </p:cNvPr>
          <p:cNvSpPr/>
          <p:nvPr/>
        </p:nvSpPr>
        <p:spPr>
          <a:xfrm>
            <a:off x="607325" y="3991975"/>
            <a:ext cx="160361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Orbit@5f6a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3EB17E6-86A4-3038-7AC4-A94D792545E6}"/>
              </a:ext>
            </a:extLst>
          </p:cNvPr>
          <p:cNvSpPr txBox="1"/>
          <p:nvPr/>
        </p:nvSpPr>
        <p:spPr>
          <a:xfrm>
            <a:off x="531752" y="1376286"/>
            <a:ext cx="17547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Orbit[]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F97FDD-5A39-183D-3029-2AACAC124EA6}"/>
              </a:ext>
            </a:extLst>
          </p:cNvPr>
          <p:cNvSpPr/>
          <p:nvPr/>
        </p:nvSpPr>
        <p:spPr>
          <a:xfrm>
            <a:off x="607325" y="4503766"/>
            <a:ext cx="1603612" cy="18424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46C5904-B5C4-3AFC-249D-C6B116A2C157}"/>
              </a:ext>
            </a:extLst>
          </p:cNvPr>
          <p:cNvGrpSpPr/>
          <p:nvPr/>
        </p:nvGrpSpPr>
        <p:grpSpPr>
          <a:xfrm>
            <a:off x="2210937" y="2452417"/>
            <a:ext cx="9610300" cy="3249263"/>
            <a:chOff x="2210937" y="2452417"/>
            <a:chExt cx="9610300" cy="3249263"/>
          </a:xfrm>
        </p:grpSpPr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CC08E9D-D595-EB2B-0AF0-19113738FA2F}"/>
                </a:ext>
              </a:extLst>
            </p:cNvPr>
            <p:cNvCxnSpPr>
              <a:cxnSpLocks/>
              <a:stCxn id="8" idx="3"/>
              <a:endCxn id="31" idx="1"/>
            </p:cNvCxnSpPr>
            <p:nvPr/>
          </p:nvCxnSpPr>
          <p:spPr>
            <a:xfrm flipV="1">
              <a:off x="2210937" y="3731896"/>
              <a:ext cx="5606956" cy="110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7C85FF1-360E-4BBC-E5FB-C3AE25164F02}"/>
                </a:ext>
              </a:extLst>
            </p:cNvPr>
            <p:cNvCxnSpPr>
              <a:cxnSpLocks/>
              <a:stCxn id="9" idx="3"/>
              <a:endCxn id="35" idx="1"/>
            </p:cNvCxnSpPr>
            <p:nvPr/>
          </p:nvCxnSpPr>
          <p:spPr>
            <a:xfrm flipV="1">
              <a:off x="2210937" y="4242142"/>
              <a:ext cx="8006688" cy="1255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7726F29-ABC1-E1A4-F1C8-BEE61971C671}"/>
                </a:ext>
              </a:extLst>
            </p:cNvPr>
            <p:cNvCxnSpPr>
              <a:cxnSpLocks/>
              <a:stCxn id="7" idx="3"/>
              <a:endCxn id="19" idx="1"/>
            </p:cNvCxnSpPr>
            <p:nvPr/>
          </p:nvCxnSpPr>
          <p:spPr>
            <a:xfrm flipV="1">
              <a:off x="2210937" y="3222197"/>
              <a:ext cx="3207224" cy="89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1AAE71-EAC9-F324-3054-C4E5148D62B4}"/>
                </a:ext>
              </a:extLst>
            </p:cNvPr>
            <p:cNvSpPr/>
            <p:nvPr/>
          </p:nvSpPr>
          <p:spPr>
            <a:xfrm>
              <a:off x="3012743" y="2452417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8A2A2A-2CAB-84CB-F6BE-11EB8905E1ED}"/>
                </a:ext>
              </a:extLst>
            </p:cNvPr>
            <p:cNvSpPr/>
            <p:nvPr/>
          </p:nvSpPr>
          <p:spPr>
            <a:xfrm>
              <a:off x="3012743" y="296420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69797E7-54EC-BBE7-142F-90311802B9C6}"/>
                </a:ext>
              </a:extLst>
            </p:cNvPr>
            <p:cNvSpPr/>
            <p:nvPr/>
          </p:nvSpPr>
          <p:spPr>
            <a:xfrm>
              <a:off x="3012743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91BEDEB-D956-1103-E60B-A5681B9B27EE}"/>
                </a:ext>
              </a:extLst>
            </p:cNvPr>
            <p:cNvSpPr/>
            <p:nvPr/>
          </p:nvSpPr>
          <p:spPr>
            <a:xfrm>
              <a:off x="3012743" y="398569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66B9594-1012-5AD2-BD17-84E10F5D6580}"/>
                </a:ext>
              </a:extLst>
            </p:cNvPr>
            <p:cNvCxnSpPr>
              <a:cxnSpLocks/>
              <a:stCxn id="5" idx="3"/>
              <a:endCxn id="12" idx="1"/>
            </p:cNvCxnSpPr>
            <p:nvPr/>
          </p:nvCxnSpPr>
          <p:spPr>
            <a:xfrm flipV="1">
              <a:off x="2210937" y="2708313"/>
              <a:ext cx="801806" cy="41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59BD998-3ABC-8F06-57ED-7694B95E4634}"/>
                </a:ext>
              </a:extLst>
            </p:cNvPr>
            <p:cNvSpPr/>
            <p:nvPr/>
          </p:nvSpPr>
          <p:spPr>
            <a:xfrm>
              <a:off x="5418161" y="2966301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C13F137-A94C-2287-6508-5D7F7370E755}"/>
                </a:ext>
              </a:extLst>
            </p:cNvPr>
            <p:cNvSpPr/>
            <p:nvPr/>
          </p:nvSpPr>
          <p:spPr>
            <a:xfrm>
              <a:off x="5418161" y="347600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3.0f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08F2E62-1C95-0132-BEC2-E22FF2D91F05}"/>
                </a:ext>
              </a:extLst>
            </p:cNvPr>
            <p:cNvSpPr/>
            <p:nvPr/>
          </p:nvSpPr>
          <p:spPr>
            <a:xfrm>
              <a:off x="5418161" y="3987791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0.5f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64A79EF-EC16-7CE3-5B47-1ADB2F09EF63}"/>
                </a:ext>
              </a:extLst>
            </p:cNvPr>
            <p:cNvSpPr/>
            <p:nvPr/>
          </p:nvSpPr>
          <p:spPr>
            <a:xfrm>
              <a:off x="5418161" y="4497490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F338BEB-1193-B8C1-6A70-CF2D48C00278}"/>
                </a:ext>
              </a:extLst>
            </p:cNvPr>
            <p:cNvSpPr/>
            <p:nvPr/>
          </p:nvSpPr>
          <p:spPr>
            <a:xfrm>
              <a:off x="7817893" y="3476000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32109749-8E8E-EC96-DBB1-C6B6F8DEEDF9}"/>
                </a:ext>
              </a:extLst>
            </p:cNvPr>
            <p:cNvSpPr/>
            <p:nvPr/>
          </p:nvSpPr>
          <p:spPr>
            <a:xfrm>
              <a:off x="7817893" y="3985699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-1.0f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14D4A4B-E83A-D58B-2447-C687CD46F6CF}"/>
                </a:ext>
              </a:extLst>
            </p:cNvPr>
            <p:cNvSpPr/>
            <p:nvPr/>
          </p:nvSpPr>
          <p:spPr>
            <a:xfrm>
              <a:off x="7817893" y="4497490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2.5f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A313D6E-2567-1233-BCD9-65E7A117E2CA}"/>
                </a:ext>
              </a:extLst>
            </p:cNvPr>
            <p:cNvSpPr/>
            <p:nvPr/>
          </p:nvSpPr>
          <p:spPr>
            <a:xfrm>
              <a:off x="7817893" y="5007189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14444A-167F-191D-1481-0058739FFE3E}"/>
                </a:ext>
              </a:extLst>
            </p:cNvPr>
            <p:cNvSpPr/>
            <p:nvPr/>
          </p:nvSpPr>
          <p:spPr>
            <a:xfrm>
              <a:off x="10217625" y="3986246"/>
              <a:ext cx="1603612" cy="511791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Header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61158C7-3955-DBD5-4A89-0403C0F93824}"/>
                </a:ext>
              </a:extLst>
            </p:cNvPr>
            <p:cNvSpPr/>
            <p:nvPr/>
          </p:nvSpPr>
          <p:spPr>
            <a:xfrm>
              <a:off x="10217625" y="4495945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-7.0f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C4BB809-F658-EFDE-2248-A8A6E09E27E2}"/>
                </a:ext>
              </a:extLst>
            </p:cNvPr>
            <p:cNvSpPr/>
            <p:nvPr/>
          </p:nvSpPr>
          <p:spPr>
            <a:xfrm>
              <a:off x="10217625" y="5007736"/>
              <a:ext cx="1603612" cy="511791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tx1"/>
                  </a:solidFill>
                  <a:latin typeface="Consolas" panose="020B0609020204030204" pitchFamily="49" charset="0"/>
                </a:rPr>
                <a:t>5.5f</a:t>
              </a:r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47743C3-C373-099C-D98D-DAA15C6DC26D}"/>
                </a:ext>
              </a:extLst>
            </p:cNvPr>
            <p:cNvSpPr/>
            <p:nvPr/>
          </p:nvSpPr>
          <p:spPr>
            <a:xfrm>
              <a:off x="10217625" y="5517435"/>
              <a:ext cx="1603612" cy="1842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60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0E6481D8-174A-658D-058C-0881F179FB29}"/>
              </a:ext>
            </a:extLst>
          </p:cNvPr>
          <p:cNvSpPr txBox="1"/>
          <p:nvPr/>
        </p:nvSpPr>
        <p:spPr>
          <a:xfrm>
            <a:off x="1849984" y="5253009"/>
            <a:ext cx="48045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Problèmes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Surcoût mémoire </a:t>
            </a:r>
            <a:r>
              <a:rPr lang="en-US" sz="2000" i="1">
                <a:latin typeface="Fira Sans Condensed SemiBold" panose="020B0603050000020004" pitchFamily="34" charset="0"/>
              </a:rPr>
              <a:t>(header + padding)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Fira Sans Condensed SemiBold" panose="020B0603050000020004" pitchFamily="34" charset="0"/>
              </a:rPr>
              <a:t>Indirections </a:t>
            </a:r>
            <a:r>
              <a:rPr lang="en-US" sz="2000" i="1">
                <a:latin typeface="Fira Sans Condensed SemiBold" panose="020B0603050000020004" pitchFamily="34" charset="0"/>
              </a:rPr>
              <a:t>(pointer chasing)</a:t>
            </a:r>
            <a:endParaRPr lang="fr-FR" sz="2000" i="1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26821A-403F-0E0B-9759-F6E6E22D5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6673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0224A-7404-160C-A49C-69FD47D5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029E7E-7DA9-E7D3-E5EC-259E0A151F3E}"/>
              </a:ext>
            </a:extLst>
          </p:cNvPr>
          <p:cNvSpPr txBox="1"/>
          <p:nvPr/>
        </p:nvSpPr>
        <p:spPr>
          <a:xfrm>
            <a:off x="2297546" y="463504"/>
            <a:ext cx="75969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</a:t>
            </a:r>
            <a:r>
              <a:rPr lang="en-US" sz="3600" i="1">
                <a:latin typeface="Fira Sans Condensed SemiBold" panose="020B0603050000020004" pitchFamily="34" charset="0"/>
              </a:rPr>
              <a:t>(flattening) ?</a:t>
            </a:r>
            <a:r>
              <a:rPr lang="en-US" sz="3600">
                <a:latin typeface="Fira Sans Condensed SemiBold" panose="020B0603050000020004" pitchFamily="34" charset="0"/>
              </a:rPr>
              <a:t> - Tableaux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3C7C4F-7639-8232-8512-003501A3461D}"/>
              </a:ext>
            </a:extLst>
          </p:cNvPr>
          <p:cNvSpPr/>
          <p:nvPr/>
        </p:nvSpPr>
        <p:spPr>
          <a:xfrm>
            <a:off x="5127012" y="268179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17A288-CE1F-37D9-A856-B31E2847C8D4}"/>
              </a:ext>
            </a:extLst>
          </p:cNvPr>
          <p:cNvSpPr/>
          <p:nvPr/>
        </p:nvSpPr>
        <p:spPr>
          <a:xfrm>
            <a:off x="5127012" y="370537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89A4E-D2EA-97DE-D453-437D84CCC961}"/>
              </a:ext>
            </a:extLst>
          </p:cNvPr>
          <p:cNvSpPr/>
          <p:nvPr/>
        </p:nvSpPr>
        <p:spPr>
          <a:xfrm>
            <a:off x="5127013" y="421716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7073DC-8911-2335-90B9-FA12F165081D}"/>
              </a:ext>
            </a:extLst>
          </p:cNvPr>
          <p:cNvSpPr/>
          <p:nvPr/>
        </p:nvSpPr>
        <p:spPr>
          <a:xfrm>
            <a:off x="5127012" y="472895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F4294A3-D7AE-1BDF-59DF-B18EE116AEBD}"/>
              </a:ext>
            </a:extLst>
          </p:cNvPr>
          <p:cNvSpPr txBox="1"/>
          <p:nvPr/>
        </p:nvSpPr>
        <p:spPr>
          <a:xfrm>
            <a:off x="4724145" y="2056356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DBFA38-245B-CC19-5612-59EF1FDAA0A3}"/>
              </a:ext>
            </a:extLst>
          </p:cNvPr>
          <p:cNvSpPr/>
          <p:nvPr/>
        </p:nvSpPr>
        <p:spPr>
          <a:xfrm>
            <a:off x="5127013" y="524074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22E6123-3FC4-BC0F-D443-C9E0541CFBFD}"/>
              </a:ext>
            </a:extLst>
          </p:cNvPr>
          <p:cNvSpPr/>
          <p:nvPr/>
        </p:nvSpPr>
        <p:spPr>
          <a:xfrm>
            <a:off x="5127013" y="319358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8AA97A-B8A3-6C3C-C98F-98A44A95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7601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7442-CA89-0902-95D0-8EEB4BC97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1A23D62-9B0A-3230-77E5-F19E1D038DA8}"/>
              </a:ext>
            </a:extLst>
          </p:cNvPr>
          <p:cNvSpPr txBox="1"/>
          <p:nvPr/>
        </p:nvSpPr>
        <p:spPr>
          <a:xfrm>
            <a:off x="3570328" y="463504"/>
            <a:ext cx="50513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3EC363-3AAA-6797-483C-781D00AF32A7}"/>
              </a:ext>
            </a:extLst>
          </p:cNvPr>
          <p:cNvSpPr/>
          <p:nvPr/>
        </p:nvSpPr>
        <p:spPr>
          <a:xfrm>
            <a:off x="5127012" y="2681789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9B8D22-DDC4-165B-10ED-E4F312F3726C}"/>
              </a:ext>
            </a:extLst>
          </p:cNvPr>
          <p:cNvSpPr/>
          <p:nvPr/>
        </p:nvSpPr>
        <p:spPr>
          <a:xfrm>
            <a:off x="5127012" y="3705371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F13839-3E95-D6CC-5B78-2098585CB625}"/>
              </a:ext>
            </a:extLst>
          </p:cNvPr>
          <p:cNvSpPr/>
          <p:nvPr/>
        </p:nvSpPr>
        <p:spPr>
          <a:xfrm>
            <a:off x="5127013" y="4217162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E7A87-2BA8-6660-CCE0-85F64AD22391}"/>
              </a:ext>
            </a:extLst>
          </p:cNvPr>
          <p:cNvSpPr/>
          <p:nvPr/>
        </p:nvSpPr>
        <p:spPr>
          <a:xfrm>
            <a:off x="5127012" y="4728953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67A86C7-FD57-5208-75DF-A8DA44BA2E46}"/>
              </a:ext>
            </a:extLst>
          </p:cNvPr>
          <p:cNvSpPr txBox="1"/>
          <p:nvPr/>
        </p:nvSpPr>
        <p:spPr>
          <a:xfrm>
            <a:off x="4724145" y="205635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29B4B7-B881-8285-BB28-EA6FFD376107}"/>
              </a:ext>
            </a:extLst>
          </p:cNvPr>
          <p:cNvSpPr/>
          <p:nvPr/>
        </p:nvSpPr>
        <p:spPr>
          <a:xfrm>
            <a:off x="5127013" y="5240744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90D6B2-F9C7-5385-2786-55975D69A392}"/>
              </a:ext>
            </a:extLst>
          </p:cNvPr>
          <p:cNvSpPr/>
          <p:nvPr/>
        </p:nvSpPr>
        <p:spPr>
          <a:xfrm>
            <a:off x="5127013" y="3193580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74D545-B709-F92E-8084-09CF08F9A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6006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28177-3605-EAA2-C0EA-2A02403E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AB61688-4439-C325-3511-AEAE8BE75222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ED3C73-E94C-DBF7-7B34-10656E8EABF5}"/>
              </a:ext>
            </a:extLst>
          </p:cNvPr>
          <p:cNvSpPr/>
          <p:nvPr/>
        </p:nvSpPr>
        <p:spPr>
          <a:xfrm>
            <a:off x="25819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59079B-FD74-ACFF-BBE5-D06236841F08}"/>
              </a:ext>
            </a:extLst>
          </p:cNvPr>
          <p:cNvSpPr/>
          <p:nvPr/>
        </p:nvSpPr>
        <p:spPr>
          <a:xfrm>
            <a:off x="25819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7661D9-99C2-F284-D413-8125F1BFBF80}"/>
              </a:ext>
            </a:extLst>
          </p:cNvPr>
          <p:cNvSpPr/>
          <p:nvPr/>
        </p:nvSpPr>
        <p:spPr>
          <a:xfrm>
            <a:off x="25819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  <a:endParaRPr lang="fr-FR" sz="1600" b="1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352F93-4ABA-49D4-F749-39270263B902}"/>
              </a:ext>
            </a:extLst>
          </p:cNvPr>
          <p:cNvSpPr/>
          <p:nvPr/>
        </p:nvSpPr>
        <p:spPr>
          <a:xfrm>
            <a:off x="25819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6882BB9-0E83-5ED2-9FB1-200490DA4A1F}"/>
              </a:ext>
            </a:extLst>
          </p:cNvPr>
          <p:cNvSpPr txBox="1"/>
          <p:nvPr/>
        </p:nvSpPr>
        <p:spPr>
          <a:xfrm>
            <a:off x="4817885" y="1926277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9CC5D-37D2-353B-FE8D-6FD3C36798C8}"/>
              </a:ext>
            </a:extLst>
          </p:cNvPr>
          <p:cNvSpPr/>
          <p:nvPr/>
        </p:nvSpPr>
        <p:spPr>
          <a:xfrm>
            <a:off x="25819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946D168-587E-7255-55C7-632D8B4A6FFC}"/>
              </a:ext>
            </a:extLst>
          </p:cNvPr>
          <p:cNvSpPr/>
          <p:nvPr/>
        </p:nvSpPr>
        <p:spPr>
          <a:xfrm>
            <a:off x="25819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89F979-7A2C-2B99-9B21-DEA6F05B5BDB}"/>
              </a:ext>
            </a:extLst>
          </p:cNvPr>
          <p:cNvSpPr/>
          <p:nvPr/>
        </p:nvSpPr>
        <p:spPr>
          <a:xfrm>
            <a:off x="7382532" y="2692593"/>
            <a:ext cx="2235954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62BCD-9E28-34BE-8459-AFDADB78E7C1}"/>
              </a:ext>
            </a:extLst>
          </p:cNvPr>
          <p:cNvSpPr/>
          <p:nvPr/>
        </p:nvSpPr>
        <p:spPr>
          <a:xfrm>
            <a:off x="7382532" y="3716175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8D1F76-18C7-C4EF-C6CE-94C7BE777E51}"/>
              </a:ext>
            </a:extLst>
          </p:cNvPr>
          <p:cNvSpPr/>
          <p:nvPr/>
        </p:nvSpPr>
        <p:spPr>
          <a:xfrm>
            <a:off x="7382532" y="4227966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1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0.0f |  0.0f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073F34-DDD6-37EB-5FA5-AF3C4C14B2EC}"/>
              </a:ext>
            </a:extLst>
          </p:cNvPr>
          <p:cNvSpPr/>
          <p:nvPr/>
        </p:nvSpPr>
        <p:spPr>
          <a:xfrm>
            <a:off x="7382532" y="4739757"/>
            <a:ext cx="223595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D5A22E-83FC-0AE4-3A8E-E2BE40C116DF}"/>
              </a:ext>
            </a:extLst>
          </p:cNvPr>
          <p:cNvSpPr/>
          <p:nvPr/>
        </p:nvSpPr>
        <p:spPr>
          <a:xfrm>
            <a:off x="7382533" y="5251548"/>
            <a:ext cx="2235952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8FA3D2-558B-3DE4-F0B8-03A6CDFD4CEE}"/>
              </a:ext>
            </a:extLst>
          </p:cNvPr>
          <p:cNvSpPr/>
          <p:nvPr/>
        </p:nvSpPr>
        <p:spPr>
          <a:xfrm>
            <a:off x="7382533" y="3204384"/>
            <a:ext cx="223595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chemeClr val="accent1"/>
                </a:solidFill>
                <a:latin typeface="Consolas" panose="020B0609020204030204" pitchFamily="49" charset="0"/>
              </a:rPr>
              <a:t>0</a:t>
            </a:r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| 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E712A0C-E4E7-26DA-E39D-E00238EB76AD}"/>
              </a:ext>
            </a:extLst>
          </p:cNvPr>
          <p:cNvCxnSpPr/>
          <p:nvPr/>
        </p:nvCxnSpPr>
        <p:spPr>
          <a:xfrm>
            <a:off x="5219700" y="4227966"/>
            <a:ext cx="1752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108BD77-67C2-7D54-0F39-5BFF229E1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6291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7DCFB-E2F2-4ADE-69C1-A2BE920DF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7430FA9-C121-5156-E063-7A40C5A0256C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3227566-5AED-A56D-05FD-3B4D55271F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2183"/>
              </p:ext>
            </p:extLst>
          </p:nvPr>
        </p:nvGraphicFramePr>
        <p:xfrm>
          <a:off x="2032000" y="2525896"/>
          <a:ext cx="755555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950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467445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769713917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1301563240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248198205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131347464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002911743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2189932981"/>
                    </a:ext>
                  </a:extLst>
                </a:gridCol>
                <a:gridCol w="839506">
                  <a:extLst>
                    <a:ext uri="{9D8B030D-6E8A-4147-A177-3AD203B41FA5}">
                      <a16:colId xmlns:a16="http://schemas.microsoft.com/office/drawing/2014/main" val="3293371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(re)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(im)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bit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1C86DD04-A446-94CC-FB8D-CFA604AE33C0}"/>
              </a:ext>
            </a:extLst>
          </p:cNvPr>
          <p:cNvSpPr txBox="1"/>
          <p:nvPr/>
        </p:nvSpPr>
        <p:spPr>
          <a:xfrm>
            <a:off x="8002544" y="3750895"/>
            <a:ext cx="2337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 = 1 bit</a:t>
            </a:r>
            <a:br>
              <a:rPr lang="en-US">
                <a:latin typeface="Consolas" panose="020B0609020204030204" pitchFamily="49" charset="0"/>
              </a:rPr>
            </a:br>
            <a:r>
              <a:rPr lang="en-US">
                <a:latin typeface="Consolas" panose="020B0609020204030204" pitchFamily="49" charset="0"/>
              </a:rPr>
              <a:t>(8 en pratique)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2" name="Left Brace 21">
            <a:extLst>
              <a:ext uri="{FF2B5EF4-FFF2-40B4-BE49-F238E27FC236}">
                <a16:creationId xmlns:a16="http://schemas.microsoft.com/office/drawing/2014/main" id="{C4D012B4-80E4-2B2A-79F5-E9E1405FF8AE}"/>
              </a:ext>
            </a:extLst>
          </p:cNvPr>
          <p:cNvSpPr/>
          <p:nvPr/>
        </p:nvSpPr>
        <p:spPr>
          <a:xfrm rot="16200000">
            <a:off x="5189378" y="202666"/>
            <a:ext cx="406020" cy="669043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98AAD23F-58B5-C948-4672-B9DBB0AF880B}"/>
              </a:ext>
            </a:extLst>
          </p:cNvPr>
          <p:cNvSpPr/>
          <p:nvPr/>
        </p:nvSpPr>
        <p:spPr>
          <a:xfrm rot="16200000">
            <a:off x="8968281" y="3161194"/>
            <a:ext cx="406020" cy="77338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FB26B7E-4DF2-1833-0633-9F3E6F83414C}"/>
              </a:ext>
            </a:extLst>
          </p:cNvPr>
          <p:cNvSpPr txBox="1"/>
          <p:nvPr/>
        </p:nvSpPr>
        <p:spPr>
          <a:xfrm>
            <a:off x="4856824" y="3750895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64 bits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63106F-4273-DEC5-9C95-5D2A1024E215}"/>
              </a:ext>
            </a:extLst>
          </p:cNvPr>
          <p:cNvSpPr txBox="1"/>
          <p:nvPr/>
        </p:nvSpPr>
        <p:spPr>
          <a:xfrm>
            <a:off x="4186663" y="5056495"/>
            <a:ext cx="38186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Fira Sans Condensed SemiBold" panose="020B0603050000020004" pitchFamily="34" charset="0"/>
              </a:rPr>
              <a:t>65 bits vs processeur 64 bits</a:t>
            </a:r>
            <a:endParaRPr lang="fr-FR" sz="2400">
              <a:latin typeface="Fira Sans Condensed SemiBold" panose="020B0603050000020004" pitchFamily="34" charset="0"/>
            </a:endParaRPr>
          </a:p>
        </p:txBody>
      </p:sp>
      <p:sp>
        <p:nvSpPr>
          <p:cNvPr id="29" name="ZoneTexte 9">
            <a:extLst>
              <a:ext uri="{FF2B5EF4-FFF2-40B4-BE49-F238E27FC236}">
                <a16:creationId xmlns:a16="http://schemas.microsoft.com/office/drawing/2014/main" id="{5E1EBF3E-8057-C6D6-FB26-CEA1E77C21E8}"/>
              </a:ext>
            </a:extLst>
          </p:cNvPr>
          <p:cNvSpPr txBox="1"/>
          <p:nvPr/>
        </p:nvSpPr>
        <p:spPr>
          <a:xfrm>
            <a:off x="1746663" y="1747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62FFBC-25BC-0645-C8DF-F7679675F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285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 animBg="1"/>
      <p:bldP spid="23" grpId="0" animBg="1"/>
      <p:bldP spid="25" grpId="0"/>
      <p:bldP spid="2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1B0CB-877A-AAFB-610D-0EA324AB7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9214AC2-9BA0-B384-9FA5-AD3A66C6E31B}"/>
              </a:ext>
            </a:extLst>
          </p:cNvPr>
          <p:cNvSpPr txBox="1"/>
          <p:nvPr/>
        </p:nvSpPr>
        <p:spPr>
          <a:xfrm>
            <a:off x="3502199" y="463504"/>
            <a:ext cx="5187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Tableaux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35252E4-9B36-98C7-38B8-FB23C0075F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312238"/>
              </p:ext>
            </p:extLst>
          </p:nvPr>
        </p:nvGraphicFramePr>
        <p:xfrm>
          <a:off x="3263462" y="2061872"/>
          <a:ext cx="23694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702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184702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boolean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2" name="ZoneTexte 9">
            <a:extLst>
              <a:ext uri="{FF2B5EF4-FFF2-40B4-BE49-F238E27FC236}">
                <a16:creationId xmlns:a16="http://schemas.microsoft.com/office/drawing/2014/main" id="{FB33263E-42C3-5E32-7180-7012A0AB9DB6}"/>
              </a:ext>
            </a:extLst>
          </p:cNvPr>
          <p:cNvSpPr txBox="1"/>
          <p:nvPr/>
        </p:nvSpPr>
        <p:spPr>
          <a:xfrm>
            <a:off x="724468" y="2201879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Boolean[]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FF5BB8B-DECA-5CD4-C3AF-1DE8D8717B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785322"/>
              </p:ext>
            </p:extLst>
          </p:nvPr>
        </p:nvGraphicFramePr>
        <p:xfrm>
          <a:off x="3263459" y="3834905"/>
          <a:ext cx="430422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6056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1076056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char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4" name="ZoneTexte 9">
            <a:extLst>
              <a:ext uri="{FF2B5EF4-FFF2-40B4-BE49-F238E27FC236}">
                <a16:creationId xmlns:a16="http://schemas.microsoft.com/office/drawing/2014/main" id="{7622AB49-FA44-427D-EC80-FBF5C2A456D4}"/>
              </a:ext>
            </a:extLst>
          </p:cNvPr>
          <p:cNvSpPr txBox="1"/>
          <p:nvPr/>
        </p:nvSpPr>
        <p:spPr>
          <a:xfrm>
            <a:off x="724468" y="397491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Character[]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310D512-2541-7925-7E8A-AECF8E572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087002"/>
              </p:ext>
            </p:extLst>
          </p:nvPr>
        </p:nvGraphicFramePr>
        <p:xfrm>
          <a:off x="3263459" y="5062025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1781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8178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padding</a:t>
                      </a:r>
                      <a:endParaRPr lang="fr-FR" b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8" name="ZoneTexte 9">
            <a:extLst>
              <a:ext uri="{FF2B5EF4-FFF2-40B4-BE49-F238E27FC236}">
                <a16:creationId xmlns:a16="http://schemas.microsoft.com/office/drawing/2014/main" id="{A2719EBA-669B-6EC2-DCCF-DD8E75959B02}"/>
              </a:ext>
            </a:extLst>
          </p:cNvPr>
          <p:cNvSpPr txBox="1"/>
          <p:nvPr/>
        </p:nvSpPr>
        <p:spPr>
          <a:xfrm>
            <a:off x="724468" y="5202032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Integer[]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1F7EF2-31CD-6807-2A41-93E89561D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46</a:t>
            </a:fld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45A9E-F848-DDCB-6756-2FA388BD89FC}"/>
              </a:ext>
            </a:extLst>
          </p:cNvPr>
          <p:cNvSpPr txBox="1"/>
          <p:nvPr/>
        </p:nvSpPr>
        <p:spPr>
          <a:xfrm>
            <a:off x="4371783" y="3288992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6417872-FEA7-97F4-2C55-513D6F856560}"/>
              </a:ext>
            </a:extLst>
          </p:cNvPr>
          <p:cNvSpPr/>
          <p:nvPr/>
        </p:nvSpPr>
        <p:spPr>
          <a:xfrm rot="16200000">
            <a:off x="4826192" y="2519716"/>
            <a:ext cx="406020" cy="10781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2422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68A7-5A52-26DC-97F8-109FD985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4FB6C81-EDF0-E549-1633-AF37E4597B5F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B56E1F-2D72-C0A5-F04D-38B53D9CAA06}"/>
              </a:ext>
            </a:extLst>
          </p:cNvPr>
          <p:cNvSpPr txBox="1"/>
          <p:nvPr/>
        </p:nvSpPr>
        <p:spPr>
          <a:xfrm>
            <a:off x="3202297" y="1882453"/>
            <a:ext cx="6097136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dirty="0">
                <a:latin typeface="Fira Sans SemiBold" panose="020B0603050000020004" pitchFamily="34" charset="0"/>
              </a:rPr>
              <a:t>JDK-8303099 </a:t>
            </a:r>
            <a:r>
              <a:rPr lang="en-US" sz="2000" i="1" dirty="0">
                <a:latin typeface="Fira Sans SemiBold" panose="020B0603050000020004" pitchFamily="34" charset="0"/>
              </a:rPr>
              <a:t>: Null-Restricted and Nullable Types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Définir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qu’un</a:t>
            </a:r>
            <a:r>
              <a:rPr lang="en-US" dirty="0">
                <a:latin typeface="Fira Sans SemiBold" panose="020B0603050000020004" pitchFamily="34" charset="0"/>
              </a:rPr>
              <a:t> type </a:t>
            </a:r>
            <a:r>
              <a:rPr lang="en-US" dirty="0" err="1">
                <a:latin typeface="Fira Sans SemiBold" panose="020B0603050000020004" pitchFamily="34" charset="0"/>
              </a:rPr>
              <a:t>n’accepte</a:t>
            </a:r>
            <a:r>
              <a:rPr lang="en-US" dirty="0">
                <a:latin typeface="Fira Sans SemiBold" panose="020B0603050000020004" pitchFamily="34" charset="0"/>
              </a:rPr>
              <a:t> pas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null</a:t>
            </a:r>
          </a:p>
          <a:p>
            <a:r>
              <a:rPr lang="en-US" dirty="0">
                <a:latin typeface="Fira Sans SemiBold" panose="020B0603050000020004" pitchFamily="34" charset="0"/>
              </a:rPr>
              <a:t>A la compilation et au runtime</a:t>
            </a:r>
          </a:p>
          <a:p>
            <a:endParaRPr lang="en-US" dirty="0">
              <a:latin typeface="Fira Sans SemiBold" panose="020B0603050000020004" pitchFamily="34" charset="0"/>
            </a:endParaRPr>
          </a:p>
          <a:p>
            <a:r>
              <a:rPr lang="en-US" dirty="0" err="1">
                <a:latin typeface="Fira Sans SemiBold" panose="020B0603050000020004" pitchFamily="34" charset="0"/>
              </a:rPr>
              <a:t>Syntaxe</a:t>
            </a:r>
            <a:r>
              <a:rPr lang="en-US" dirty="0">
                <a:latin typeface="Fira Sans SemiBold" panose="020B0603050000020004" pitchFamily="34" charset="0"/>
              </a:rPr>
              <a:t> </a:t>
            </a:r>
            <a:r>
              <a:rPr lang="en-US" dirty="0" err="1">
                <a:latin typeface="Fira Sans SemiBold" panose="020B0603050000020004" pitchFamily="34" charset="0"/>
              </a:rPr>
              <a:t>préssentie</a:t>
            </a:r>
            <a:r>
              <a:rPr lang="en-US" dirty="0">
                <a:latin typeface="Fira Sans SemiBold" panose="020B0603050000020004" pitchFamily="34" charset="0"/>
              </a:rPr>
              <a:t> : </a:t>
            </a:r>
            <a:r>
              <a:rPr lang="en-US" b="1" dirty="0">
                <a:solidFill>
                  <a:schemeClr val="accent1"/>
                </a:solidFill>
                <a:latin typeface="Consolas" panose="020B0609020204030204" pitchFamily="49" charset="0"/>
              </a:rPr>
              <a:t>!</a:t>
            </a:r>
            <a:r>
              <a:rPr lang="en-US" dirty="0">
                <a:latin typeface="Fira Sans SemiBold" panose="020B0603050000020004" pitchFamily="34" charset="0"/>
              </a:rPr>
              <a:t> (bang)</a:t>
            </a:r>
            <a:endParaRPr lang="fr-FR" dirty="0">
              <a:latin typeface="Fira Sans SemiBold" panose="020B06030500000200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09B0E-8153-42A0-CE1D-8406FE0406E3}"/>
              </a:ext>
            </a:extLst>
          </p:cNvPr>
          <p:cNvSpPr txBox="1"/>
          <p:nvPr/>
        </p:nvSpPr>
        <p:spPr>
          <a:xfrm>
            <a:off x="3202297" y="4409398"/>
            <a:ext cx="609713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>
                <a:latin typeface="Fira Sans SemiBold" panose="020B0603050000020004" pitchFamily="34" charset="0"/>
              </a:rPr>
              <a:t>JDK-8316779 </a:t>
            </a:r>
            <a:r>
              <a:rPr lang="en-US" sz="2000" i="1">
                <a:latin typeface="Fira Sans SemiBold" panose="020B0603050000020004" pitchFamily="34" charset="0"/>
              </a:rPr>
              <a:t>: Null-Restricted Value Class Types</a:t>
            </a:r>
          </a:p>
          <a:p>
            <a:endParaRPr lang="en-US">
              <a:latin typeface="Fira Sans SemiBold" panose="020B0603050000020004" pitchFamily="34" charset="0"/>
            </a:endParaRPr>
          </a:p>
          <a:p>
            <a:r>
              <a:rPr lang="en-US">
                <a:latin typeface="Fira Sans SemiBold" panose="020B0603050000020004" pitchFamily="34" charset="0"/>
              </a:rPr>
              <a:t>Optimisations pour les value types </a:t>
            </a:r>
            <a:endParaRPr lang="fr-FR"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41FF06-D7FB-138E-0DA4-1ECFB6AF2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9879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48A7B-AFBA-E48B-61D7-B3DDCCCCC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25CE9F-CF58-1557-BBF0-08BB6E3E71A8}"/>
              </a:ext>
            </a:extLst>
          </p:cNvPr>
          <p:cNvSpPr txBox="1"/>
          <p:nvPr/>
        </p:nvSpPr>
        <p:spPr>
          <a:xfrm>
            <a:off x="4010357" y="463504"/>
            <a:ext cx="41713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Null-restricted types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5518EF-144B-CA29-3AC0-0E0118A03546}"/>
              </a:ext>
            </a:extLst>
          </p:cNvPr>
          <p:cNvSpPr/>
          <p:nvPr/>
        </p:nvSpPr>
        <p:spPr>
          <a:xfrm>
            <a:off x="3405692" y="1491973"/>
            <a:ext cx="5216301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value record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ValueOrbit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x, </a:t>
            </a:r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float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y) {}</a:t>
            </a:r>
          </a:p>
        </p:txBody>
      </p:sp>
      <p:sp>
        <p:nvSpPr>
          <p:cNvPr id="20" name="ZoneTexte 9">
            <a:extLst>
              <a:ext uri="{FF2B5EF4-FFF2-40B4-BE49-F238E27FC236}">
                <a16:creationId xmlns:a16="http://schemas.microsoft.com/office/drawing/2014/main" id="{275DCF56-5817-0EC8-599D-51E307F0EA4C}"/>
              </a:ext>
            </a:extLst>
          </p:cNvPr>
          <p:cNvSpPr txBox="1"/>
          <p:nvPr/>
        </p:nvSpPr>
        <p:spPr>
          <a:xfrm>
            <a:off x="7138836" y="2571405"/>
            <a:ext cx="25389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>
                <a:latin typeface="Consolas" panose="020B0609020204030204" pitchFamily="49" charset="0"/>
              </a:rPr>
              <a:t>float+float[]</a:t>
            </a:r>
            <a:endParaRPr lang="en-US" sz="2400">
              <a:latin typeface="Fira Sans Condensed SemiBold" panose="020B0603050000020004" pitchFamily="34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C39B8-C824-0E78-D83E-5AA17B684B5C}"/>
              </a:ext>
            </a:extLst>
          </p:cNvPr>
          <p:cNvCxnSpPr/>
          <p:nvPr/>
        </p:nvCxnSpPr>
        <p:spPr>
          <a:xfrm>
            <a:off x="5375810" y="4514883"/>
            <a:ext cx="127606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3245F-C470-F0F5-DD36-77629DE3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48</a:t>
            </a:fld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3D8004-6ED4-0369-83A5-D12565CE5CC7}"/>
              </a:ext>
            </a:extLst>
          </p:cNvPr>
          <p:cNvSpPr/>
          <p:nvPr/>
        </p:nvSpPr>
        <p:spPr>
          <a:xfrm>
            <a:off x="2768170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2C89D-4FA0-32B3-2EC0-039AE17CAFED}"/>
              </a:ext>
            </a:extLst>
          </p:cNvPr>
          <p:cNvSpPr/>
          <p:nvPr/>
        </p:nvSpPr>
        <p:spPr>
          <a:xfrm>
            <a:off x="2768170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ED6DE79-E4B1-7F99-C1A7-0AA010E826C5}"/>
              </a:ext>
            </a:extLst>
          </p:cNvPr>
          <p:cNvSpPr/>
          <p:nvPr/>
        </p:nvSpPr>
        <p:spPr>
          <a:xfrm>
            <a:off x="2768171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BCF01BA-D28D-C108-94EF-7795318982D9}"/>
              </a:ext>
            </a:extLst>
          </p:cNvPr>
          <p:cNvSpPr/>
          <p:nvPr/>
        </p:nvSpPr>
        <p:spPr>
          <a:xfrm>
            <a:off x="2768170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4" name="ZoneTexte 9">
            <a:extLst>
              <a:ext uri="{FF2B5EF4-FFF2-40B4-BE49-F238E27FC236}">
                <a16:creationId xmlns:a16="http://schemas.microsoft.com/office/drawing/2014/main" id="{CBF640BD-C534-CED2-1D58-236E78A1D771}"/>
              </a:ext>
            </a:extLst>
          </p:cNvPr>
          <p:cNvSpPr txBox="1"/>
          <p:nvPr/>
        </p:nvSpPr>
        <p:spPr>
          <a:xfrm>
            <a:off x="2365303" y="2463486"/>
            <a:ext cx="2538994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2400" b="1" dirty="0">
                <a:latin typeface="Consolas" panose="020B0609020204030204" pitchFamily="49" charset="0"/>
              </a:rPr>
              <a:t>ValueOrbit</a:t>
            </a:r>
            <a:r>
              <a:rPr lang="en-US" sz="3200" b="1" dirty="0">
                <a:solidFill>
                  <a:srgbClr val="C00000"/>
                </a:solidFill>
                <a:latin typeface="Consolas" panose="020B0609020204030204" pitchFamily="49" charset="0"/>
              </a:rPr>
              <a:t>!</a:t>
            </a:r>
            <a:r>
              <a:rPr lang="en-US" sz="2400" b="1" dirty="0">
                <a:latin typeface="Consolas" panose="020B0609020204030204" pitchFamily="49" charset="0"/>
              </a:rPr>
              <a:t>[]</a:t>
            </a:r>
            <a:endParaRPr lang="en-US" sz="2400" dirty="0">
              <a:latin typeface="Fira Sans Condensed SemiBold" panose="020B06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BEE453-582B-B06F-9855-B22860C0D2C5}"/>
              </a:ext>
            </a:extLst>
          </p:cNvPr>
          <p:cNvSpPr/>
          <p:nvPr/>
        </p:nvSpPr>
        <p:spPr>
          <a:xfrm>
            <a:off x="2768171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AB00848-0543-D288-422C-B5944A50870C}"/>
              </a:ext>
            </a:extLst>
          </p:cNvPr>
          <p:cNvSpPr/>
          <p:nvPr/>
        </p:nvSpPr>
        <p:spPr>
          <a:xfrm>
            <a:off x="2768171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4649FD2-BE31-7F75-A967-1A3531FFC71D}"/>
              </a:ext>
            </a:extLst>
          </p:cNvPr>
          <p:cNvSpPr/>
          <p:nvPr/>
        </p:nvSpPr>
        <p:spPr>
          <a:xfrm>
            <a:off x="7499394" y="3088920"/>
            <a:ext cx="1733265" cy="51179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Header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69D01FF-0BA5-2C90-F480-66D711854F5F}"/>
              </a:ext>
            </a:extLst>
          </p:cNvPr>
          <p:cNvSpPr/>
          <p:nvPr/>
        </p:nvSpPr>
        <p:spPr>
          <a:xfrm>
            <a:off x="7499394" y="4112502"/>
            <a:ext cx="1733263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3.0f |  0.5f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257250-5F7E-1637-695C-3A8884C15CB7}"/>
              </a:ext>
            </a:extLst>
          </p:cNvPr>
          <p:cNvSpPr/>
          <p:nvPr/>
        </p:nvSpPr>
        <p:spPr>
          <a:xfrm>
            <a:off x="7499395" y="4624293"/>
            <a:ext cx="1733262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-1.0f |  2.5f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36C144-B0C1-9BD7-C5CB-32F024A92257}"/>
              </a:ext>
            </a:extLst>
          </p:cNvPr>
          <p:cNvSpPr/>
          <p:nvPr/>
        </p:nvSpPr>
        <p:spPr>
          <a:xfrm>
            <a:off x="7499394" y="5136084"/>
            <a:ext cx="1733261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-7.0f |  5.5f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B8CD10F-8DED-CDF8-BBBD-B3D2F19A14BE}"/>
              </a:ext>
            </a:extLst>
          </p:cNvPr>
          <p:cNvSpPr/>
          <p:nvPr/>
        </p:nvSpPr>
        <p:spPr>
          <a:xfrm>
            <a:off x="7499395" y="5647875"/>
            <a:ext cx="1733260" cy="16376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C249A94-9E87-0367-9122-A40286AD37D7}"/>
              </a:ext>
            </a:extLst>
          </p:cNvPr>
          <p:cNvSpPr/>
          <p:nvPr/>
        </p:nvSpPr>
        <p:spPr>
          <a:xfrm>
            <a:off x="7499395" y="3600711"/>
            <a:ext cx="1733264" cy="5117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latin typeface="Consolas" panose="020B0609020204030204" pitchFamily="49" charset="0"/>
              </a:rPr>
              <a:t> 2.0f | -1.0f</a:t>
            </a:r>
            <a:endParaRPr lang="fr-FR" sz="16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81411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2F061-DFB1-AD1A-EF19-15BE2DD1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9C49B70-95EC-23D0-CCA2-03ED7F7D16A0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0A02EA-1567-EA96-79FD-6B877C9570BA}"/>
              </a:ext>
            </a:extLst>
          </p:cNvPr>
          <p:cNvSpPr/>
          <p:nvPr/>
        </p:nvSpPr>
        <p:spPr>
          <a:xfrm>
            <a:off x="2641221" y="156842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521C82D-17FD-BAF9-C19A-DC95CBB1E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846617"/>
              </p:ext>
            </p:extLst>
          </p:nvPr>
        </p:nvGraphicFramePr>
        <p:xfrm>
          <a:off x="2477067" y="4973090"/>
          <a:ext cx="734931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591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3728933632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160535770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  <a:gridCol w="816591">
                  <a:extLst>
                    <a:ext uri="{9D8B030D-6E8A-4147-A177-3AD203B41FA5}">
                      <a16:colId xmlns:a16="http://schemas.microsoft.com/office/drawing/2014/main" val="23573009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byte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8AD6B9C-9A22-B14D-115C-011C6FB168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270976"/>
              </p:ext>
            </p:extLst>
          </p:nvPr>
        </p:nvGraphicFramePr>
        <p:xfrm>
          <a:off x="2568875" y="2445427"/>
          <a:ext cx="705424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7854">
                  <a:extLst>
                    <a:ext uri="{9D8B030D-6E8A-4147-A177-3AD203B41FA5}">
                      <a16:colId xmlns:a16="http://schemas.microsoft.com/office/drawing/2014/main" val="3807068609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93305462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90042711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884860705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86960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37849213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57631988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1465953682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587854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b4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b6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b8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b9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*i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ED95FBC-FB55-A077-8694-097D12583EE8}"/>
              </a:ext>
            </a:extLst>
          </p:cNvPr>
          <p:cNvSpPr/>
          <p:nvPr/>
        </p:nvSpPr>
        <p:spPr>
          <a:xfrm>
            <a:off x="2641221" y="4113676"/>
            <a:ext cx="690955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Boolean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 sz="1600">
                <a:solidFill>
                  <a:srgbClr val="267F99"/>
                </a:solidFill>
                <a:latin typeface="Consolas" panose="020B0609020204030204" pitchFamily="49" charset="0"/>
              </a:rPr>
              <a:t>Integer</a:t>
            </a:r>
            <a:r>
              <a:rPr lang="en-US" sz="1600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94975-924F-BD73-A018-F0CA681D79D0}"/>
              </a:ext>
            </a:extLst>
          </p:cNvPr>
          <p:cNvSpPr txBox="1"/>
          <p:nvPr/>
        </p:nvSpPr>
        <p:spPr>
          <a:xfrm>
            <a:off x="7049645" y="6209830"/>
            <a:ext cx="1451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latin typeface="Consolas" panose="020B0609020204030204" pitchFamily="49" charset="0"/>
              </a:rPr>
              <a:t>null flags</a:t>
            </a:r>
            <a:endParaRPr lang="fr-FR">
              <a:latin typeface="Consolas" panose="020B0609020204030204" pitchFamily="49" charset="0"/>
            </a:endParaRPr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B07D1485-98ED-A99B-26AF-EB8BD1D49B16}"/>
              </a:ext>
            </a:extLst>
          </p:cNvPr>
          <p:cNvSpPr/>
          <p:nvPr/>
        </p:nvSpPr>
        <p:spPr>
          <a:xfrm rot="16200000">
            <a:off x="5961223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1623E-F3AD-806C-20E6-CA7C7DB84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49</a:t>
            </a:fld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6295FC4-EB26-989D-E4EA-4650F8C94F58}"/>
              </a:ext>
            </a:extLst>
          </p:cNvPr>
          <p:cNvGrpSpPr/>
          <p:nvPr/>
        </p:nvGrpSpPr>
        <p:grpSpPr>
          <a:xfrm>
            <a:off x="380020" y="3709733"/>
            <a:ext cx="2097049" cy="684846"/>
            <a:chOff x="380020" y="3709733"/>
            <a:chExt cx="2097049" cy="684846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04ABD2B-E164-B0F5-2313-1539B9FE3E4D}"/>
                </a:ext>
              </a:extLst>
            </p:cNvPr>
            <p:cNvCxnSpPr/>
            <p:nvPr/>
          </p:nvCxnSpPr>
          <p:spPr>
            <a:xfrm>
              <a:off x="1453487" y="4394579"/>
              <a:ext cx="1023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CE9600-A213-A562-CC6E-49D708BFF782}"/>
                </a:ext>
              </a:extLst>
            </p:cNvPr>
            <p:cNvSpPr txBox="1"/>
            <p:nvPr/>
          </p:nvSpPr>
          <p:spPr>
            <a:xfrm>
              <a:off x="380020" y="3709733"/>
              <a:ext cx="209704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>
                  <a:latin typeface="Fira Sans Condensed SemiBold" panose="020B0603050000020004" pitchFamily="34" charset="0"/>
                </a:rPr>
                <a:t>Pas nécessairement</a:t>
              </a:r>
            </a:p>
            <a:p>
              <a:pPr algn="ctr"/>
              <a:r>
                <a:rPr lang="en-US">
                  <a:latin typeface="Consolas" panose="020B0609020204030204" pitchFamily="49" charset="0"/>
                </a:rPr>
                <a:t>value type</a:t>
              </a:r>
              <a:endParaRPr lang="fr-FR">
                <a:latin typeface="Consolas" panose="020B0609020204030204" pitchFamily="49" charset="0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9214DC0-1B7A-3419-9F38-F3EE86893EDA}"/>
              </a:ext>
            </a:extLst>
          </p:cNvPr>
          <p:cNvSpPr txBox="1"/>
          <p:nvPr/>
        </p:nvSpPr>
        <p:spPr>
          <a:xfrm>
            <a:off x="724762" y="1624449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Fira Sans Condensed SemiBold" panose="020B0603050000020004" pitchFamily="34" charset="0"/>
              </a:rPr>
              <a:t>Sans Valhalla</a:t>
            </a:r>
            <a:endParaRPr lang="fr-FR">
              <a:latin typeface="Fira Sans Condensed SemiBold" panose="020B0603050000020004" pitchFamily="34" charset="0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F09C4C0E-BBC7-711C-694D-0E0D59F0B52C}"/>
              </a:ext>
            </a:extLst>
          </p:cNvPr>
          <p:cNvSpPr/>
          <p:nvPr/>
        </p:nvSpPr>
        <p:spPr>
          <a:xfrm rot="16200000">
            <a:off x="7569207" y="5628985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FD31E9E4-D1DC-797D-A406-1A6D82BEC107}"/>
              </a:ext>
            </a:extLst>
          </p:cNvPr>
          <p:cNvSpPr/>
          <p:nvPr/>
        </p:nvSpPr>
        <p:spPr>
          <a:xfrm rot="16200000">
            <a:off x="9177192" y="5630044"/>
            <a:ext cx="406020" cy="71005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2005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17" grpId="0" animBg="1"/>
      <p:bldP spid="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4EDF0-74BE-0DA3-F624-5C3A30AD2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08FE20A-4DF3-FDD0-ABB4-BC222D46F13F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9974A76-5F90-D6AF-9C72-BC757EEA6E1A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C9B18F4F-7FB8-3F4B-32D4-528C2D9ECB79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06. Null-Restricted / Layout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6D58C-FC0E-1177-3936-D8AEE286C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85794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E0001-678D-E701-506A-EBEB094BD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62C4CB0-7159-F8F0-D2A8-2CED99AFAF01}"/>
              </a:ext>
            </a:extLst>
          </p:cNvPr>
          <p:cNvSpPr txBox="1"/>
          <p:nvPr/>
        </p:nvSpPr>
        <p:spPr>
          <a:xfrm>
            <a:off x="3691354" y="463504"/>
            <a:ext cx="48093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Aplatissement - Champs</a:t>
            </a:r>
            <a:endParaRPr lang="fr-FR" sz="3600">
              <a:latin typeface="Fira Sans Condensed SemiBold" panose="020B06030500000200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507FF-0C7D-4EF1-4230-DA3FD52550CD}"/>
              </a:ext>
            </a:extLst>
          </p:cNvPr>
          <p:cNvSpPr/>
          <p:nvPr/>
        </p:nvSpPr>
        <p:spPr>
          <a:xfrm>
            <a:off x="2674204" y="2776252"/>
            <a:ext cx="7718566" cy="481378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ts val="1425"/>
              </a:lnSpc>
              <a:buNone/>
            </a:pPr>
            <a:r>
              <a:rPr lang="en-US">
                <a:solidFill>
                  <a:srgbClr val="0000FF"/>
                </a:solidFill>
                <a:latin typeface="Consolas" panose="020B0609020204030204" pitchFamily="49" charset="0"/>
              </a:rPr>
              <a:t>record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Data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bool1,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Boolean!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bool2, </a:t>
            </a:r>
            <a:r>
              <a:rPr lang="en-US">
                <a:solidFill>
                  <a:srgbClr val="267F99"/>
                </a:solidFill>
                <a:latin typeface="Consolas" panose="020B0609020204030204" pitchFamily="49" charset="0"/>
              </a:rPr>
              <a:t>Integer!</a:t>
            </a:r>
            <a:r>
              <a:rPr lang="en-US">
                <a:solidFill>
                  <a:srgbClr val="3B3B3B"/>
                </a:solidFill>
                <a:latin typeface="Consolas" panose="020B0609020204030204" pitchFamily="49" charset="0"/>
              </a:rPr>
              <a:t> i) {}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0D05-2D6D-D99C-6FB9-F000915F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51</a:t>
            </a:fld>
            <a:endParaRPr lang="fr-FR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55A8D97-DE7D-85C6-9B10-7D413DE1D8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61495"/>
              </p:ext>
            </p:extLst>
          </p:nvPr>
        </p:nvGraphicFramePr>
        <p:xfrm>
          <a:off x="3739484" y="3762428"/>
          <a:ext cx="54732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202">
                  <a:extLst>
                    <a:ext uri="{9D8B030D-6E8A-4147-A177-3AD203B41FA5}">
                      <a16:colId xmlns:a16="http://schemas.microsoft.com/office/drawing/2014/main" val="2104601821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37428437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3787841540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4161176503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719675949"/>
                    </a:ext>
                  </a:extLst>
                </a:gridCol>
                <a:gridCol w="912202">
                  <a:extLst>
                    <a:ext uri="{9D8B030D-6E8A-4147-A177-3AD203B41FA5}">
                      <a16:colId xmlns:a16="http://schemas.microsoft.com/office/drawing/2014/main" val="178839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b0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b1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b2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b3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b5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b7</a:t>
                      </a:r>
                      <a:endParaRPr lang="fr-FR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1581640"/>
                  </a:ext>
                </a:extLst>
              </a:tr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bool1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solidFill>
                            <a:schemeClr val="accent1"/>
                          </a:solidFill>
                          <a:latin typeface="Consolas" panose="020B0609020204030204" pitchFamily="49" charset="0"/>
                        </a:rPr>
                        <a:t>bool2</a:t>
                      </a:r>
                      <a:endParaRPr lang="fr-FR" b="1">
                        <a:solidFill>
                          <a:schemeClr val="accent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23209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1168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A6129-4EEE-A07D-678D-0C2652D2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FA0662-9C3B-DAD8-A380-B6C4A5243D75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5E39502-158A-B24A-3F16-FFF163431C1E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0F2AB9B9-8535-08D7-7E30-4A8F838BD130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07. Flattening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D3BC55-461B-2181-72BA-5005BB5F4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33020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8808-CE46-D49A-7A0C-4761EFE0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035A2F7-4B2E-F857-C071-32BA8D9BDDA4}"/>
              </a:ext>
            </a:extLst>
          </p:cNvPr>
          <p:cNvSpPr txBox="1"/>
          <p:nvPr/>
        </p:nvSpPr>
        <p:spPr>
          <a:xfrm>
            <a:off x="4273254" y="463504"/>
            <a:ext cx="3645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Roadmap Valhalla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EDF19C-560B-2605-01BC-3FD8D015F55B}"/>
              </a:ext>
            </a:extLst>
          </p:cNvPr>
          <p:cNvSpPr txBox="1"/>
          <p:nvPr/>
        </p:nvSpPr>
        <p:spPr>
          <a:xfrm>
            <a:off x="2882324" y="2037908"/>
            <a:ext cx="831418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401 : Value Classes &amp; Objects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and Nullable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Null-Restricted Value Class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JEP 402 : Enhanced Primitive Boxing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int ≈ Integer!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endParaRPr lang="en-US" sz="2400" dirty="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Fira Sans SemiBold" panose="020B0603050000020004" pitchFamily="34" charset="0"/>
              </a:rPr>
              <a:t>Parametric JVM (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List&lt;</a:t>
            </a:r>
            <a:r>
              <a:rPr lang="en-US" sz="2400" b="1" dirty="0" err="1">
                <a:solidFill>
                  <a:schemeClr val="accent1"/>
                </a:solidFill>
                <a:latin typeface="Consolas" panose="020B0609020204030204" pitchFamily="49" charset="0"/>
              </a:rPr>
              <a:t>ValueType</a:t>
            </a:r>
            <a:r>
              <a:rPr lang="en-US" sz="2400" b="1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latin typeface="Fira Sans SemiBold" panose="020B06030500000200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 dirty="0">
              <a:latin typeface="Fira Sans SemiBold" panose="020B06030500000200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7A3B2A-B129-D0B3-8BE0-FC400345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53</a:t>
            </a:fld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CB3D92-97E3-A7A7-F998-40A4995F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19" y="5075997"/>
            <a:ext cx="2553282" cy="16894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8B3322-E666-D2C2-09E5-B6F9E30B5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5" y="4125091"/>
            <a:ext cx="2172195" cy="1181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1C64553-763B-EDC9-36A4-BA07A8AA7E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904" y="2948823"/>
            <a:ext cx="2324630" cy="12321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17C72C-56BE-CE25-DF4D-81DFEAC160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180" y="2284582"/>
            <a:ext cx="1664079" cy="1206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0A860F6-4AF6-C730-9DDA-3D8A93FB8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5752" y="1120894"/>
            <a:ext cx="342978" cy="8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77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5C0E4-29DB-8659-8507-4A006DE89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375C65-2869-A98D-F6E4-7F31BD7CE4E3}"/>
              </a:ext>
            </a:extLst>
          </p:cNvPr>
          <p:cNvSpPr txBox="1"/>
          <p:nvPr/>
        </p:nvSpPr>
        <p:spPr>
          <a:xfrm>
            <a:off x="4952123" y="463504"/>
            <a:ext cx="2287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>
                <a:latin typeface="Fira Sans Condensed SemiBold" panose="020B0603050000020004" pitchFamily="34" charset="0"/>
              </a:rPr>
              <a:t>Conclusion</a:t>
            </a:r>
            <a:endParaRPr lang="fr-FR" sz="3600" i="1">
              <a:latin typeface="Fira Sans Condensed SemiBold" panose="020B06030500000200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9CB6D-2607-4721-532D-8A024C62D44B}"/>
              </a:ext>
            </a:extLst>
          </p:cNvPr>
          <p:cNvSpPr txBox="1"/>
          <p:nvPr/>
        </p:nvSpPr>
        <p:spPr>
          <a:xfrm>
            <a:off x="1041355" y="2167566"/>
            <a:ext cx="102699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Encapsulation (POO) + performances des primitifs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Pas juste une “amélioration” de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>
              <a:latin typeface="Fira Sans SemiBold" panose="020B06030500000200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Fira Sans SemiBold" panose="020B0603050000020004" pitchFamily="34" charset="0"/>
              </a:rPr>
              <a:t>Combler le gap entre types primitifs et objets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2400">
              <a:latin typeface="Fira Sans SemiBold" panose="020B06030500000200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F7E78-FA7D-49D3-BC1C-A3749175ACF5}"/>
              </a:ext>
            </a:extLst>
          </p:cNvPr>
          <p:cNvSpPr txBox="1"/>
          <p:nvPr/>
        </p:nvSpPr>
        <p:spPr>
          <a:xfrm>
            <a:off x="3016653" y="6435022"/>
            <a:ext cx="6158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>
                <a:latin typeface="Fira Sans SemiBold" panose="020B0603050000020004" pitchFamily="34" charset="0"/>
              </a:rPr>
              <a:t>https://github.com/CodeSimcoe/mandelbrot-valhalla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F5F51A-979D-631C-22AF-B39E449D6C2F}"/>
              </a:ext>
            </a:extLst>
          </p:cNvPr>
          <p:cNvSpPr txBox="1"/>
          <p:nvPr/>
        </p:nvSpPr>
        <p:spPr>
          <a:xfrm>
            <a:off x="1041355" y="1576245"/>
            <a:ext cx="19512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>
                <a:solidFill>
                  <a:schemeClr val="accent1"/>
                </a:solidFill>
                <a:latin typeface="Fira Sans SemiBold" panose="020B0603050000020004" pitchFamily="34" charset="0"/>
              </a:rPr>
              <a:t>Value Types</a:t>
            </a:r>
            <a:endParaRPr lang="fr-FR" sz="2400">
              <a:solidFill>
                <a:schemeClr val="accent1"/>
              </a:solidFill>
              <a:latin typeface="Fira Sans SemiBold" panose="020B06030500000200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1FC32-14AC-C039-AD96-EFD3E4310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54</a:t>
            </a:fld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9A6E4A-7DD9-70E9-D5C2-484983033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433" y="4787491"/>
            <a:ext cx="1659134" cy="1647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261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DFB0940-32D8-A6B3-B9C8-454ED333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55</a:t>
            </a:fld>
            <a:endParaRPr lang="fr-FR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80E2DDF-A207-163E-6B17-76214A4A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66" y="0"/>
            <a:ext cx="1145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865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933055F-45F4-C161-5955-9D3B3263C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56</a:t>
            </a:fld>
            <a:endParaRPr lang="fr-FR"/>
          </a:p>
        </p:txBody>
      </p:sp>
      <p:pic>
        <p:nvPicPr>
          <p:cNvPr id="1026" name="Picture 2" descr="QR Code Image">
            <a:extLst>
              <a:ext uri="{FF2B5EF4-FFF2-40B4-BE49-F238E27FC236}">
                <a16:creationId xmlns:a16="http://schemas.microsoft.com/office/drawing/2014/main" id="{D047E99A-A34A-00D3-6309-009E1B6C0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58006"/>
            <a:ext cx="3141987" cy="314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071780B-6AD5-040B-0153-5D5117FA24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1987" y="937865"/>
            <a:ext cx="9050013" cy="498227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D5D91B2-D795-3A7E-7502-0ED0CEA2A820}"/>
              </a:ext>
            </a:extLst>
          </p:cNvPr>
          <p:cNvSpPr/>
          <p:nvPr/>
        </p:nvSpPr>
        <p:spPr>
          <a:xfrm>
            <a:off x="9860437" y="3874416"/>
            <a:ext cx="2205872" cy="1125577"/>
          </a:xfrm>
          <a:prstGeom prst="rect">
            <a:avLst/>
          </a:prstGeom>
          <a:noFill/>
          <a:ln w="381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31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FB69-84B8-1608-DC94-215E5717F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The Mandelbrot Set – Fractals – Mathigon">
            <a:extLst>
              <a:ext uri="{FF2B5EF4-FFF2-40B4-BE49-F238E27FC236}">
                <a16:creationId xmlns:a16="http://schemas.microsoft.com/office/drawing/2014/main" id="{83EF37B7-1193-1687-2BD3-86F3976EF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0741" y="0"/>
            <a:ext cx="8510518" cy="6855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3A3E42-2813-3E6E-BD87-E152E9CF7A71}"/>
              </a:ext>
            </a:extLst>
          </p:cNvPr>
          <p:cNvSpPr txBox="1"/>
          <p:nvPr/>
        </p:nvSpPr>
        <p:spPr>
          <a:xfrm>
            <a:off x="180362" y="5116233"/>
            <a:ext cx="63818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latin typeface="Fira Sans Condensed SemiBold" panose="020B0603050000020004" pitchFamily="34" charset="0"/>
              </a:rPr>
              <a:t>Merci de </a:t>
            </a:r>
            <a:r>
              <a:rPr lang="en-US" sz="4800" dirty="0" err="1">
                <a:latin typeface="Fira Sans Condensed SemiBold" panose="020B0603050000020004" pitchFamily="34" charset="0"/>
              </a:rPr>
              <a:t>votre</a:t>
            </a:r>
            <a:r>
              <a:rPr lang="en-US" sz="4800" dirty="0">
                <a:latin typeface="Fira Sans Condensed SemiBold" panose="020B0603050000020004" pitchFamily="34" charset="0"/>
              </a:rPr>
              <a:t> attention</a:t>
            </a:r>
            <a:endParaRPr lang="fr-FR" sz="4800" dirty="0">
              <a:latin typeface="Fira Sans Condensed SemiBold" panose="020B06030500000200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36C34-1D2D-F643-F4BD-114C3596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86039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E0551-351A-B9ED-9B6E-F3D567106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62A9BAC-D5E2-2527-49C9-928B3098DA1D}"/>
              </a:ext>
            </a:extLst>
          </p:cNvPr>
          <p:cNvGrpSpPr/>
          <p:nvPr/>
        </p:nvGrpSpPr>
        <p:grpSpPr>
          <a:xfrm>
            <a:off x="3274443" y="2474893"/>
            <a:ext cx="5643114" cy="1908214"/>
            <a:chOff x="3274443" y="2767280"/>
            <a:chExt cx="5643114" cy="190821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5E99ABE-ADA4-8EE2-F39D-209DBF53962F}"/>
                </a:ext>
              </a:extLst>
            </p:cNvPr>
            <p:cNvSpPr txBox="1"/>
            <p:nvPr/>
          </p:nvSpPr>
          <p:spPr>
            <a:xfrm>
              <a:off x="4774965" y="2767280"/>
              <a:ext cx="2642070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0">
                  <a:latin typeface="Fira Sans Condensed SemiBold" panose="020B0603050000020004" pitchFamily="34" charset="0"/>
                </a:rPr>
                <a:t>Démo</a:t>
              </a:r>
              <a:endParaRPr lang="fr-FR" sz="8000">
                <a:latin typeface="Fira Sans Condensed SemiBold" panose="020B0603050000020004" pitchFamily="34" charset="0"/>
              </a:endParaRPr>
            </a:p>
          </p:txBody>
        </p:sp>
        <p:sp>
          <p:nvSpPr>
            <p:cNvPr id="2" name="ZoneTexte 9">
              <a:extLst>
                <a:ext uri="{FF2B5EF4-FFF2-40B4-BE49-F238E27FC236}">
                  <a16:creationId xmlns:a16="http://schemas.microsoft.com/office/drawing/2014/main" id="{EA52C34E-AB3D-B2EA-9F13-4F3D066B0E4B}"/>
                </a:ext>
              </a:extLst>
            </p:cNvPr>
            <p:cNvSpPr txBox="1"/>
            <p:nvPr/>
          </p:nvSpPr>
          <p:spPr>
            <a:xfrm>
              <a:off x="3274443" y="4090719"/>
              <a:ext cx="564311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>
                  <a:latin typeface="Fira Sans Condensed SemiBold" panose="020B0603050000020004" pitchFamily="34" charset="0"/>
                </a:rPr>
                <a:t>09. Flattening / Non-atomic</a:t>
              </a:r>
              <a:endParaRPr lang="fr-FR" sz="3200" b="1" i="1">
                <a:solidFill>
                  <a:schemeClr val="accent1"/>
                </a:solidFill>
                <a:latin typeface="Consolas" panose="020B0609020204030204" pitchFamily="49" charset="0"/>
              </a:endParaRPr>
            </a:p>
          </p:txBody>
        </p:sp>
      </p:grp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D331E-FC95-0C0D-D9E2-CF0FDAB7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BCAFE-9BA5-4F25-83BC-8351B4665D24}" type="slidenum">
              <a:rPr lang="fr-FR" smtClean="0"/>
              <a:t>58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243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5820</TotalTime>
  <Words>1656</Words>
  <Application>Microsoft Office PowerPoint</Application>
  <PresentationFormat>Widescreen</PresentationFormat>
  <Paragraphs>507</Paragraphs>
  <Slides>58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Aptos</vt:lpstr>
      <vt:lpstr>Aptos Display</vt:lpstr>
      <vt:lpstr>Arial</vt:lpstr>
      <vt:lpstr>Consolas</vt:lpstr>
      <vt:lpstr>Fira Sans Condensed</vt:lpstr>
      <vt:lpstr>Fira Sans Condensed SemiBold</vt:lpstr>
      <vt:lpstr>Fira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Clément de Tastes</dc:creator>
  <cp:lastModifiedBy>Clément de Tastes</cp:lastModifiedBy>
  <cp:revision>341</cp:revision>
  <cp:lastPrinted>2026-02-24T11:26:21Z</cp:lastPrinted>
  <dcterms:created xsi:type="dcterms:W3CDTF">2025-12-16T09:28:58Z</dcterms:created>
  <dcterms:modified xsi:type="dcterms:W3CDTF">2026-09-19T16:14:06Z</dcterms:modified>
</cp:coreProperties>
</file>