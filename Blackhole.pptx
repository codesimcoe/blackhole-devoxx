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38" r:id="rId2"/>
    <p:sldId id="442" r:id="rId3"/>
    <p:sldId id="468" r:id="rId4"/>
    <p:sldId id="443" r:id="rId5"/>
    <p:sldId id="445" r:id="rId6"/>
    <p:sldId id="446" r:id="rId7"/>
    <p:sldId id="448" r:id="rId8"/>
    <p:sldId id="449" r:id="rId9"/>
    <p:sldId id="447" r:id="rId10"/>
    <p:sldId id="439" r:id="rId11"/>
    <p:sldId id="440" r:id="rId12"/>
    <p:sldId id="453" r:id="rId13"/>
    <p:sldId id="444" r:id="rId14"/>
    <p:sldId id="450" r:id="rId15"/>
    <p:sldId id="451" r:id="rId16"/>
    <p:sldId id="469" r:id="rId17"/>
    <p:sldId id="456" r:id="rId18"/>
    <p:sldId id="457" r:id="rId19"/>
    <p:sldId id="462" r:id="rId20"/>
    <p:sldId id="466" r:id="rId21"/>
    <p:sldId id="465" r:id="rId22"/>
    <p:sldId id="470" r:id="rId23"/>
    <p:sldId id="458" r:id="rId24"/>
    <p:sldId id="460" r:id="rId25"/>
    <p:sldId id="459" r:id="rId26"/>
    <p:sldId id="472" r:id="rId27"/>
    <p:sldId id="441" r:id="rId28"/>
    <p:sldId id="287" r:id="rId29"/>
    <p:sldId id="461" r:id="rId30"/>
    <p:sldId id="273" r:id="rId31"/>
    <p:sldId id="471" r:id="rId32"/>
    <p:sldId id="464" r:id="rId33"/>
    <p:sldId id="463" r:id="rId34"/>
    <p:sldId id="309" r:id="rId35"/>
    <p:sldId id="467" r:id="rId36"/>
    <p:sldId id="317" r:id="rId37"/>
    <p:sldId id="452" r:id="rId38"/>
    <p:sldId id="454" r:id="rId39"/>
    <p:sldId id="455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6" autoAdjust="0"/>
    <p:restoredTop sz="92342" autoAdjust="0"/>
  </p:normalViewPr>
  <p:slideViewPr>
    <p:cSldViewPr snapToGrid="0">
      <p:cViewPr varScale="1">
        <p:scale>
          <a:sx n="98" d="100"/>
          <a:sy n="98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11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91C848-B012-01CD-383B-68BABF105F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CC307-2DBF-5ABB-A4A8-34E74E1B0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90223-A383-4EF3-9DDD-045F9EB239B6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494DE-A878-789B-0AB9-34328386C8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CFE15-B67A-FE70-5E52-483D87B0A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7C60E-E3E0-4F56-ACBE-3A01B47EF6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34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15E0A-83FC-4BC3-B4D8-F52493CDE4D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A3014-B2AC-4DD9-96D6-B2D3355A5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74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A3014-B2AC-4DD9-96D6-B2D3355A50B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517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Type Safety</a:t>
            </a:r>
            <a:br>
              <a:rPr lang="en-US"/>
            </a:br>
            <a:r>
              <a:rPr lang="en-US"/>
              <a:t>Validation</a:t>
            </a:r>
            <a:br>
              <a:rPr lang="en-US"/>
            </a:br>
            <a:r>
              <a:rPr lang="en-US"/>
              <a:t>Domain Meaning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A3014-B2AC-4DD9-96D6-B2D3355A50B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69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Compact Object Headers : 64 bits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A3014-B2AC-4DD9-96D6-B2D3355A50B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386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1987-27BB-2014-8039-4BAD119EE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1744E-7135-93BB-FCD5-EA2F3C80A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0758-6111-F257-1B94-0CAF636B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B909E-DF75-4467-8919-325FEECAC709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25523-B413-A638-EBB0-7EB0F3D5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43E8C-FCE7-ACF3-4AC0-C64A3DA8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FBCAFE-9BA5-4F25-83BC-8351B4665D2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79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3207-D829-6182-825B-043FA1C0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EC31-356A-B413-FAFC-5C4628298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5BBC-76BD-80A2-DC11-CD8DB144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09E8-7476-4472-8A87-583D7F23AB0B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5AF5E-FBA1-2660-2ABB-89C35C84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9FA7-D19B-AC34-B6F0-B16139E2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004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F28F-9D59-C0F6-ED45-6E5EAE95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D0BD9-5DCF-E7CB-029E-5B5E2E91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3661D-1FCB-F462-E87C-34BE8F4F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AEAD-4E04-4474-B982-B4CE1B1F79FA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548C2-6E8A-7EC5-EED6-B2E8F472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6A9A5-C3E6-3968-8587-471FF8FC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34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5BBAD-D0D5-1B5D-B20F-AE42F222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02319-5E91-A10F-3979-5B6F3FE16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08F79-6C5D-FBBC-45DF-3B7871B14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C70CC-2716-9594-CA61-1C90E3E3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71DE-4BB3-41F6-AC3F-6CEBA8F21BD3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E4BE6-BB42-B9C9-5957-996B0616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9DDC3-7D79-752A-DE6F-69800DC3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83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B726-2919-E12D-B4C0-CAD4B6A4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9B2C9-710B-46E4-E42A-A88BBD9AA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788D1-BBC4-6B3F-06EF-A3982C958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0BF18-5E1B-540A-D12F-EE545E333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517424-C093-097F-4B47-F966087F2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AC25E-B6A4-213B-8850-FCFAC18E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617F-C9C1-455A-9E27-DE7E820A2C5A}" type="datetime1">
              <a:rPr lang="fr-FR" smtClean="0"/>
              <a:t>08/10/2026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45403-D49E-F87E-E6C2-EE25A811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D98DA-4512-39BA-BEB5-11159EF2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0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9299-0EC7-1233-3352-1A934B3E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FEEA1-476A-7670-2E35-FD7DD1B3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084AF-9098-4A15-8BDC-BDD5C517DFAA}" type="datetime1">
              <a:rPr lang="fr-FR" smtClean="0"/>
              <a:t>08/10/2026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71D49-E937-5260-A4F9-EEAD7D67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ED7CE-7271-92C3-8D72-BE0746F1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30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C0110-0071-65F1-5AD9-2204A8D1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4CC8-AC63-483F-A31B-4695172B72D7}" type="datetime1">
              <a:rPr lang="fr-FR" smtClean="0"/>
              <a:t>08/10/2026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94BB3-8978-415C-0987-98EE32F1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42C0-EB26-CAB8-DFDD-30BB4AF6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713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DB8C-69FE-8951-D59B-4A034A48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C0C8-0077-1C50-6C7E-F9CFC1945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B2645-B326-D797-46AF-76159227E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2F7D3-D5EF-9A38-3D5E-92D9D621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E2A67-9B9A-4DA7-A234-B292BBF525A2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AE42B-DF36-29B3-BF44-1DBB0679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BE26F-64C8-DC74-D325-860E7754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13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E9C3-ADB4-0B05-4CE3-147C5E8F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7772A-70D4-54D3-07D5-C2D5758B3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B78DB-2588-743A-244F-4269B53C8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7B721-22EA-B521-8490-FC9AC415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5379-FEA8-410F-AD03-3AEA35DBF523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8FD49-DF3F-11A2-F6F5-BC1D4C0D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9EAA8-5BA2-802C-5131-0D288EA7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135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D4B7-2904-E782-4AB1-F55E3F3D3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C44EC-6500-CCD0-C6A2-5624FBB76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1B663-0199-169D-44B2-C5628549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F587-7C7F-49AB-8B44-58E41FB7D3D4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E9D8C-BB0C-5FEB-B042-081691D76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1C25C-02BA-4FD8-D87E-01C64FD2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53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014D0-2284-5356-93A3-0E2CDE077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9D93B-6E31-C60E-9231-7D67A83CF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EE7D8-580E-2985-9E8A-B2D3B36F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1112-AA40-456A-8658-AC9B2F2D8D8F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F7DF-AC0A-C9EF-2BEA-A0B6B3A1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A4F72-97F8-351D-D592-6E68AA3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787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bg>
      <p:bgPr>
        <a:solidFill>
          <a:srgbClr val="304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37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8F5A2-FA90-BA36-BB48-DA58CA76B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DAADE-0157-F8C2-27AE-0EFBBFD4D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D1814-3EFE-CD69-8D6E-4A9FEA9D1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63EF-1D1D-4DC6-B064-9AC470BACB47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8BB2B-2E74-2DBF-CDEA-E7FD3CC3B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C831E-4CE7-960C-51BF-033F06B05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9844" y="64922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Fira Sans Condensed SemiBold" panose="020B0603050000020004" pitchFamily="34" charset="0"/>
              </a:defRPr>
            </a:lvl1pPr>
          </a:lstStyle>
          <a:p>
            <a:fld id="{83FBCAFE-9BA5-4F25-83BC-8351B4665D24}" type="slidenum">
              <a:rPr lang="fr-FR" smtClean="0"/>
              <a:pPr/>
              <a:t>‹N°›</a:t>
            </a:fld>
            <a:endParaRPr lang="fr-FR">
              <a:latin typeface="Fira Sans Condensed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68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espace, astronomie&#10;&#10;Description générée automatiquement">
            <a:extLst>
              <a:ext uri="{FF2B5EF4-FFF2-40B4-BE49-F238E27FC236}">
                <a16:creationId xmlns:a16="http://schemas.microsoft.com/office/drawing/2014/main" id="{4BE75BF6-3DC8-6C32-A52E-4922BCB4E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17629A96-7EE9-BC2E-8165-5A7367A41A52}"/>
              </a:ext>
            </a:extLst>
          </p:cNvPr>
          <p:cNvSpPr txBox="1"/>
          <p:nvPr/>
        </p:nvSpPr>
        <p:spPr>
          <a:xfrm>
            <a:off x="787495" y="5440360"/>
            <a:ext cx="10617009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ira Sans Condensed SemiBold" panose="020B0603050000020004" pitchFamily="34" charset="0"/>
              </a:rPr>
              <a:t>“Escaping Java's Allocation Gravity with Value Classes”</a:t>
            </a:r>
            <a:endParaRPr lang="fr-FR" sz="3600" dirty="0"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ira Sans Condensed SemiBold" panose="020B0603050000020004" pitchFamily="34" charset="0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0E042E82-70CE-DF80-6E9D-F24286B71455}"/>
              </a:ext>
            </a:extLst>
          </p:cNvPr>
          <p:cNvSpPr txBox="1"/>
          <p:nvPr/>
        </p:nvSpPr>
        <p:spPr>
          <a:xfrm>
            <a:off x="202399" y="6334780"/>
            <a:ext cx="2917786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ira Sans Condensed SemiBold" panose="020B0603050000020004" pitchFamily="34" charset="0"/>
              </a:rPr>
              <a:t>Clément de Tastes</a:t>
            </a:r>
            <a:endParaRPr lang="fr-FR" sz="2800" dirty="0"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ira Sans Condensed SemiBold" panose="020B06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D8960-5DD8-6414-51FD-9B1E45679AD3}"/>
              </a:ext>
            </a:extLst>
          </p:cNvPr>
          <p:cNvSpPr txBox="1"/>
          <p:nvPr/>
        </p:nvSpPr>
        <p:spPr>
          <a:xfrm>
            <a:off x="10155445" y="6334780"/>
            <a:ext cx="1834156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ira Sans Condensed SemiBold" panose="020B0603050000020004" pitchFamily="34" charset="0"/>
              </a:rPr>
              <a:t>Rémi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ira Sans Condensed SemiBold" panose="020B0603050000020004" pitchFamily="34" charset="0"/>
              </a:rPr>
              <a:t> </a:t>
            </a:r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ira Sans Condensed SemiBold" panose="020B0603050000020004" pitchFamily="34" charset="0"/>
              </a:rPr>
              <a:t>Forax</a:t>
            </a:r>
            <a:endParaRPr lang="fr-FR" sz="2800" dirty="0"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ira Sans Condensed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499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7D4D-DE3C-3BE1-57A4-F3A61E17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, affiche, dessin humoristique, fiction&#10;&#10;Description générée automatiquement">
            <a:extLst>
              <a:ext uri="{FF2B5EF4-FFF2-40B4-BE49-F238E27FC236}">
                <a16:creationId xmlns:a16="http://schemas.microsoft.com/office/drawing/2014/main" id="{10F202E3-FB8C-3A80-0DB5-F765E57E5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378" y="1234795"/>
            <a:ext cx="3728636" cy="4080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B20572-4586-6C07-4FF9-0930FFD0708B}"/>
              </a:ext>
            </a:extLst>
          </p:cNvPr>
          <p:cNvSpPr txBox="1"/>
          <p:nvPr/>
        </p:nvSpPr>
        <p:spPr>
          <a:xfrm>
            <a:off x="4494440" y="490008"/>
            <a:ext cx="3203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Project Valhalla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3047D-F482-FEAB-0F2D-EE602F893433}"/>
              </a:ext>
            </a:extLst>
          </p:cNvPr>
          <p:cNvSpPr txBox="1"/>
          <p:nvPr/>
        </p:nvSpPr>
        <p:spPr>
          <a:xfrm>
            <a:off x="817101" y="1759225"/>
            <a:ext cx="629531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OpenJDK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Fira Sans Condensed SemiBold" panose="020B0603050000020004" pitchFamily="34" charset="0"/>
              </a:rPr>
              <a:t>Language (Amber, Babylon)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Fira Sans Condensed SemiBold" panose="020B0603050000020004" pitchFamily="34" charset="0"/>
              </a:rPr>
              <a:t>Platform (Loom, Panama, Leyden, Lilliput, </a:t>
            </a:r>
            <a:r>
              <a:rPr lang="en-US" sz="2000" i="1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Valhalla</a:t>
            </a:r>
            <a:r>
              <a:rPr lang="en-US" sz="2000" i="1" dirty="0">
                <a:latin typeface="Fira Sans Condensed SemiBold" panose="020B06030500000200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i="1" dirty="0">
              <a:latin typeface="Fira Sans Condensed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Started in 2014 </a:t>
            </a:r>
            <a:r>
              <a:rPr lang="en-US" sz="2000" i="1" dirty="0">
                <a:latin typeface="Fira Sans Condensed SemiBold" panose="020B0603050000020004" pitchFamily="34" charset="0"/>
              </a:rPr>
              <a:t>(!!)</a:t>
            </a:r>
            <a:r>
              <a:rPr lang="en-US" sz="2400" dirty="0">
                <a:latin typeface="Fira Sans Condensed SemiBold" panose="020B0603050000020004" pitchFamily="34" charset="0"/>
              </a:rPr>
              <a:t> by Brian Goetz &amp; John Rose</a:t>
            </a:r>
            <a:endParaRPr lang="fr-FR" sz="2400" dirty="0">
              <a:latin typeface="Fira Sans Condensed SemiBold" panose="020B06030500000200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5942B9-43BC-3A99-B6FE-35E4D0FB2485}"/>
              </a:ext>
            </a:extLst>
          </p:cNvPr>
          <p:cNvGrpSpPr/>
          <p:nvPr/>
        </p:nvGrpSpPr>
        <p:grpSpPr>
          <a:xfrm>
            <a:off x="1794176" y="4052298"/>
            <a:ext cx="4705455" cy="951095"/>
            <a:chOff x="4061949" y="3105834"/>
            <a:chExt cx="4705455" cy="9510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BE49E5-D564-7D6A-82A2-DB2146E37CBE}"/>
                </a:ext>
              </a:extLst>
            </p:cNvPr>
            <p:cNvSpPr txBox="1"/>
            <p:nvPr/>
          </p:nvSpPr>
          <p:spPr>
            <a:xfrm>
              <a:off x="4061949" y="3105834"/>
              <a:ext cx="40681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Fira Sans Condensed" panose="020B0503050000020004" pitchFamily="34" charset="0"/>
                </a:rPr>
                <a:t>“Java’s epic refactor”</a:t>
              </a:r>
              <a:endParaRPr lang="fr-FR" sz="3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Fira Sans Condensed" panose="020B05030500000200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441272-D2B8-8D10-5DA3-89B6008C9E7E}"/>
                </a:ext>
              </a:extLst>
            </p:cNvPr>
            <p:cNvSpPr txBox="1"/>
            <p:nvPr/>
          </p:nvSpPr>
          <p:spPr>
            <a:xfrm>
              <a:off x="7492696" y="3687597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Fira Sans Condensed" panose="020B0503050000020004" pitchFamily="34" charset="0"/>
                </a:rPr>
                <a:t>Brian Goetz</a:t>
              </a:r>
              <a:endParaRPr lang="fr-FR" i="1">
                <a:solidFill>
                  <a:schemeClr val="tx1">
                    <a:lumMod val="50000"/>
                    <a:lumOff val="50000"/>
                  </a:schemeClr>
                </a:solidFill>
                <a:latin typeface="Fira Sans Condensed" panose="020B05030500000200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3F5899-C8B4-01A2-AB5C-21166C1D118C}"/>
              </a:ext>
            </a:extLst>
          </p:cNvPr>
          <p:cNvSpPr txBox="1"/>
          <p:nvPr/>
        </p:nvSpPr>
        <p:spPr>
          <a:xfrm>
            <a:off x="2500304" y="5626279"/>
            <a:ext cx="7191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Fira Sans Condensed" panose="020B0503050000020004" pitchFamily="34" charset="0"/>
              </a:rPr>
              <a:t>“Codes like a class, works like an int”</a:t>
            </a:r>
            <a:endParaRPr lang="fr-FR" sz="3600" i="1" dirty="0">
              <a:solidFill>
                <a:schemeClr val="tx1">
                  <a:lumMod val="50000"/>
                  <a:lumOff val="50000"/>
                </a:schemeClr>
              </a:solidFill>
              <a:latin typeface="Fira Sans Condensed" panose="020B05030500000200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4F182-E396-1186-0E3A-10EE483E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</a:t>
            </a:fld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0F1C7AF-A2AB-5BBD-0DA9-9EBB4FD39726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39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A4050-8EED-70EB-84A7-53FC8E77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</a:t>
            </a:fld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2794B-8C53-08FF-82E5-6B53D2ABB19B}"/>
              </a:ext>
            </a:extLst>
          </p:cNvPr>
          <p:cNvSpPr txBox="1"/>
          <p:nvPr/>
        </p:nvSpPr>
        <p:spPr>
          <a:xfrm>
            <a:off x="3926932" y="2459504"/>
            <a:ext cx="4338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Zero-cost 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Fira Sans Condensed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Fira Sans Condensed SemiBold" panose="020B0603050000020004" pitchFamily="34" charset="0"/>
              </a:rPr>
              <a:t>Flat memory </a:t>
            </a:r>
            <a:r>
              <a:rPr lang="en-US" sz="2400" dirty="0">
                <a:latin typeface="Fira Sans Condensed SemiBold" panose="020B0603050000020004" pitchFamily="34" charset="0"/>
              </a:rPr>
              <a:t>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Fira Sans Condensed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Fira Sans Condensed SemiBold" panose="020B0603050000020004" pitchFamily="34" charset="0"/>
              </a:rPr>
              <a:t>Primitive type </a:t>
            </a:r>
            <a:r>
              <a:rPr lang="fr-FR" sz="2400" dirty="0" err="1">
                <a:latin typeface="Fira Sans Condensed SemiBold" panose="020B0603050000020004" pitchFamily="34" charset="0"/>
              </a:rPr>
              <a:t>rehabilitation</a:t>
            </a:r>
            <a:endParaRPr lang="fr-FR" sz="2400" dirty="0">
              <a:latin typeface="Fira Sans Condensed SemiBold" panose="020B060305000002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404AC-B1C5-A965-89ED-AC515CAA4B20}"/>
              </a:ext>
            </a:extLst>
          </p:cNvPr>
          <p:cNvSpPr txBox="1"/>
          <p:nvPr/>
        </p:nvSpPr>
        <p:spPr>
          <a:xfrm>
            <a:off x="4624285" y="490008"/>
            <a:ext cx="2943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Why Valhalla ?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D4B30AC-5405-9BC2-A9E2-84EC3CE2C0E0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39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A292-93BA-531F-62DF-08DBCCFB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290BF-7D3B-6233-451B-F62A991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4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3D16D2B-FB67-AE6A-DC83-2F1D6AC1182F}"/>
              </a:ext>
            </a:extLst>
          </p:cNvPr>
          <p:cNvSpPr txBox="1"/>
          <p:nvPr/>
        </p:nvSpPr>
        <p:spPr>
          <a:xfrm>
            <a:off x="3897325" y="490008"/>
            <a:ext cx="4397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Zero-Cost Abstraction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A427B4F-9484-9FAB-1753-CB18606AD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05" y="2928541"/>
            <a:ext cx="10642861" cy="286232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Mass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final double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mass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Mass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mass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mass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 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"Mass must be positive"</a:t>
            </a:r>
            <a:r>
              <a:rPr kumimoji="0" lang="fr-FR" altLang="fr-FR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solidFill>
                  <a:srgbClr val="080808"/>
                </a:solidFill>
                <a:latin typeface="Consolas" panose="020B0609020204030204" pitchFamily="49" charset="0"/>
              </a:rPr>
              <a:t>        }</a:t>
            </a:r>
            <a:b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mass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fr-FR" altLang="fr-F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2A347B18-5F0A-0366-C737-F11EABDB262A}"/>
              </a:ext>
            </a:extLst>
          </p:cNvPr>
          <p:cNvSpPr txBox="1"/>
          <p:nvPr/>
        </p:nvSpPr>
        <p:spPr>
          <a:xfrm>
            <a:off x="2063292" y="1948999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Fira Sans Condensed SemiBold" panose="020B0603050000020004" pitchFamily="34" charset="0"/>
              </a:rPr>
              <a:t>We should not choose between abstraction and performance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20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A292-93BA-531F-62DF-08DBCCFB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290BF-7D3B-6233-451B-F62A991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5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3D16D2B-FB67-AE6A-DC83-2F1D6AC1182F}"/>
              </a:ext>
            </a:extLst>
          </p:cNvPr>
          <p:cNvSpPr txBox="1"/>
          <p:nvPr/>
        </p:nvSpPr>
        <p:spPr>
          <a:xfrm>
            <a:off x="3694553" y="490008"/>
            <a:ext cx="4802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Memory Representation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4E7A50-3EBD-D19C-B26E-3AFF11C7E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23" y="1348300"/>
            <a:ext cx="6597754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record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{}</a:t>
            </a:r>
            <a:endParaRPr kumimoji="0" lang="fr-FR" altLang="fr-F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47DC2F4-6D6F-C5A7-C2A6-88D377502A89}"/>
              </a:ext>
            </a:extLst>
          </p:cNvPr>
          <p:cNvGrpSpPr/>
          <p:nvPr/>
        </p:nvGrpSpPr>
        <p:grpSpPr>
          <a:xfrm>
            <a:off x="2105740" y="3432635"/>
            <a:ext cx="1502768" cy="1712844"/>
            <a:chOff x="1331843" y="1855304"/>
            <a:chExt cx="1345096" cy="171284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46C85C-28F4-F161-6870-5E49A00DE8DE}"/>
                </a:ext>
              </a:extLst>
            </p:cNvPr>
            <p:cNvSpPr/>
            <p:nvPr/>
          </p:nvSpPr>
          <p:spPr>
            <a:xfrm>
              <a:off x="1331843" y="1855304"/>
              <a:ext cx="1345096" cy="5234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Header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890BBB-97ED-2DFA-C251-23DBD92BDD66}"/>
                </a:ext>
              </a:extLst>
            </p:cNvPr>
            <p:cNvSpPr/>
            <p:nvPr/>
          </p:nvSpPr>
          <p:spPr>
            <a:xfrm>
              <a:off x="1331843" y="2378765"/>
              <a:ext cx="1345096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Vec3@0x...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3D981B-0328-EAAD-9218-A9D380F85B84}"/>
                </a:ext>
              </a:extLst>
            </p:cNvPr>
            <p:cNvSpPr/>
            <p:nvPr/>
          </p:nvSpPr>
          <p:spPr>
            <a:xfrm>
              <a:off x="1331843" y="2729948"/>
              <a:ext cx="1345096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Vec3@0X...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B40FA9-48B0-E782-260E-6E28A04329E0}"/>
                </a:ext>
              </a:extLst>
            </p:cNvPr>
            <p:cNvSpPr/>
            <p:nvPr/>
          </p:nvSpPr>
          <p:spPr>
            <a:xfrm>
              <a:off x="1331843" y="3077817"/>
              <a:ext cx="1345096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Vec3@0X...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182F9A-3332-A49D-A187-CB03188C62AC}"/>
                </a:ext>
              </a:extLst>
            </p:cNvPr>
            <p:cNvSpPr/>
            <p:nvPr/>
          </p:nvSpPr>
          <p:spPr>
            <a:xfrm>
              <a:off x="1331843" y="3429000"/>
              <a:ext cx="1345096" cy="13914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Consolas" panose="020B0609020204030204" pitchFamily="49" charset="0"/>
              </a:endParaRPr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BDC8590E-D28E-D210-2F6A-9AA39E5D52E1}"/>
              </a:ext>
            </a:extLst>
          </p:cNvPr>
          <p:cNvSpPr txBox="1"/>
          <p:nvPr/>
        </p:nvSpPr>
        <p:spPr>
          <a:xfrm>
            <a:off x="2255035" y="2970970"/>
            <a:ext cx="1204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Vec3[]</a:t>
            </a:r>
            <a:endParaRPr lang="fr-FR" sz="2400" dirty="0">
              <a:latin typeface="Consolas" panose="020B0609020204030204" pitchFamily="49" charset="0"/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5634622F-D329-2616-CD19-6F0D1831039D}"/>
              </a:ext>
            </a:extLst>
          </p:cNvPr>
          <p:cNvGrpSpPr/>
          <p:nvPr/>
        </p:nvGrpSpPr>
        <p:grpSpPr>
          <a:xfrm>
            <a:off x="4933101" y="2515867"/>
            <a:ext cx="1502768" cy="1712844"/>
            <a:chOff x="5651789" y="3218775"/>
            <a:chExt cx="1502768" cy="171284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C74D8B-C1B7-11AF-0C0D-CDE91B8E042C}"/>
                </a:ext>
              </a:extLst>
            </p:cNvPr>
            <p:cNvSpPr/>
            <p:nvPr/>
          </p:nvSpPr>
          <p:spPr>
            <a:xfrm>
              <a:off x="5651789" y="3218775"/>
              <a:ext cx="1502768" cy="5234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Header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36E193-4559-2674-BDD6-B7CDB214E663}"/>
                </a:ext>
              </a:extLst>
            </p:cNvPr>
            <p:cNvSpPr/>
            <p:nvPr/>
          </p:nvSpPr>
          <p:spPr>
            <a:xfrm>
              <a:off x="5651789" y="3742236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x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B0B459-ED61-E9CD-821A-5B0850EB6E1B}"/>
                </a:ext>
              </a:extLst>
            </p:cNvPr>
            <p:cNvSpPr/>
            <p:nvPr/>
          </p:nvSpPr>
          <p:spPr>
            <a:xfrm>
              <a:off x="5651789" y="4093419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y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81575B-AB4D-25F5-E488-F0EBFB9BCB09}"/>
                </a:ext>
              </a:extLst>
            </p:cNvPr>
            <p:cNvSpPr/>
            <p:nvPr/>
          </p:nvSpPr>
          <p:spPr>
            <a:xfrm>
              <a:off x="5651789" y="4441288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z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668267C-D77D-2F28-7C74-2AE3A988FA11}"/>
                </a:ext>
              </a:extLst>
            </p:cNvPr>
            <p:cNvSpPr/>
            <p:nvPr/>
          </p:nvSpPr>
          <p:spPr>
            <a:xfrm>
              <a:off x="5651789" y="4792471"/>
              <a:ext cx="1502768" cy="13914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Consolas" panose="020B0609020204030204" pitchFamily="49" charset="0"/>
              </a:endParaRP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C73AF41-1283-E4B7-DB65-291AC9AA13E0}"/>
              </a:ext>
            </a:extLst>
          </p:cNvPr>
          <p:cNvGrpSpPr/>
          <p:nvPr/>
        </p:nvGrpSpPr>
        <p:grpSpPr>
          <a:xfrm>
            <a:off x="8679234" y="4655148"/>
            <a:ext cx="1502768" cy="1712844"/>
            <a:chOff x="5651789" y="3218775"/>
            <a:chExt cx="1502768" cy="171284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D4624E-59C8-0DBB-2C89-EC67345FAC91}"/>
                </a:ext>
              </a:extLst>
            </p:cNvPr>
            <p:cNvSpPr/>
            <p:nvPr/>
          </p:nvSpPr>
          <p:spPr>
            <a:xfrm>
              <a:off x="5651789" y="3218775"/>
              <a:ext cx="1502768" cy="5234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Header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003FC7-C43E-C7E4-31F3-673DA46C5450}"/>
                </a:ext>
              </a:extLst>
            </p:cNvPr>
            <p:cNvSpPr/>
            <p:nvPr/>
          </p:nvSpPr>
          <p:spPr>
            <a:xfrm>
              <a:off x="5651789" y="3742236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x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7A16ED6-DD79-896B-4F3E-9282992626CB}"/>
                </a:ext>
              </a:extLst>
            </p:cNvPr>
            <p:cNvSpPr/>
            <p:nvPr/>
          </p:nvSpPr>
          <p:spPr>
            <a:xfrm>
              <a:off x="5651789" y="4093419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y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BFD5BC-CD87-CAAE-22C2-E0A14564CB1A}"/>
                </a:ext>
              </a:extLst>
            </p:cNvPr>
            <p:cNvSpPr/>
            <p:nvPr/>
          </p:nvSpPr>
          <p:spPr>
            <a:xfrm>
              <a:off x="5651789" y="4441288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z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854D624-4167-FA5E-609F-2D71FFEC6820}"/>
                </a:ext>
              </a:extLst>
            </p:cNvPr>
            <p:cNvSpPr/>
            <p:nvPr/>
          </p:nvSpPr>
          <p:spPr>
            <a:xfrm>
              <a:off x="5651789" y="4792471"/>
              <a:ext cx="1502768" cy="13914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Consolas" panose="020B0609020204030204" pitchFamily="49" charset="0"/>
              </a:endParaRP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937E39F3-655A-7EDD-D721-798AA66F1CA4}"/>
              </a:ext>
            </a:extLst>
          </p:cNvPr>
          <p:cNvGrpSpPr/>
          <p:nvPr/>
        </p:nvGrpSpPr>
        <p:grpSpPr>
          <a:xfrm>
            <a:off x="6806168" y="3402481"/>
            <a:ext cx="1502768" cy="1712844"/>
            <a:chOff x="5651789" y="3218775"/>
            <a:chExt cx="1502768" cy="171284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017790-D0BE-6009-5210-EF6954E79DBF}"/>
                </a:ext>
              </a:extLst>
            </p:cNvPr>
            <p:cNvSpPr/>
            <p:nvPr/>
          </p:nvSpPr>
          <p:spPr>
            <a:xfrm>
              <a:off x="5651789" y="3218775"/>
              <a:ext cx="1502768" cy="5234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Header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2245FCA-F0A5-60CD-E6F2-146241782DD0}"/>
                </a:ext>
              </a:extLst>
            </p:cNvPr>
            <p:cNvSpPr/>
            <p:nvPr/>
          </p:nvSpPr>
          <p:spPr>
            <a:xfrm>
              <a:off x="5651789" y="3742236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x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811AAA-BC38-3C39-7ECB-E1029826F3C6}"/>
                </a:ext>
              </a:extLst>
            </p:cNvPr>
            <p:cNvSpPr/>
            <p:nvPr/>
          </p:nvSpPr>
          <p:spPr>
            <a:xfrm>
              <a:off x="5651789" y="4093419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y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32BDB9A-C269-2CC9-C822-4A67F52F039A}"/>
                </a:ext>
              </a:extLst>
            </p:cNvPr>
            <p:cNvSpPr/>
            <p:nvPr/>
          </p:nvSpPr>
          <p:spPr>
            <a:xfrm>
              <a:off x="5651789" y="4441288"/>
              <a:ext cx="1502768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z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BAF28A0-4025-E76C-B830-35BF10038BCF}"/>
                </a:ext>
              </a:extLst>
            </p:cNvPr>
            <p:cNvSpPr/>
            <p:nvPr/>
          </p:nvSpPr>
          <p:spPr>
            <a:xfrm>
              <a:off x="5651789" y="4792471"/>
              <a:ext cx="1502768" cy="13914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Consolas" panose="020B0609020204030204" pitchFamily="49" charset="0"/>
              </a:endParaRPr>
            </a:p>
          </p:txBody>
        </p:sp>
      </p:grp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C24E9A57-0E32-B272-C539-ADC350356583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3608508" y="3566103"/>
            <a:ext cx="1324593" cy="565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108A27FC-9BED-5742-F0A8-E098DF0BC58F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 flipV="1">
            <a:off x="3608508" y="4452717"/>
            <a:ext cx="3197660" cy="30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51348514-5A8F-055C-413C-466FD6A8CEF7}"/>
              </a:ext>
            </a:extLst>
          </p:cNvPr>
          <p:cNvCxnSpPr>
            <a:cxnSpLocks/>
            <a:stCxn id="9" idx="3"/>
            <a:endCxn id="25" idx="1"/>
          </p:cNvCxnSpPr>
          <p:nvPr/>
        </p:nvCxnSpPr>
        <p:spPr>
          <a:xfrm>
            <a:off x="3608508" y="4830740"/>
            <a:ext cx="5070726" cy="87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5">
            <a:extLst>
              <a:ext uri="{FF2B5EF4-FFF2-40B4-BE49-F238E27FC236}">
                <a16:creationId xmlns:a16="http://schemas.microsoft.com/office/drawing/2014/main" id="{0B0C54CB-FA29-9ECD-AC4B-C1F763E7A449}"/>
              </a:ext>
            </a:extLst>
          </p:cNvPr>
          <p:cNvSpPr txBox="1"/>
          <p:nvPr/>
        </p:nvSpPr>
        <p:spPr>
          <a:xfrm>
            <a:off x="5252315" y="2067720"/>
            <a:ext cx="8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latin typeface="Consolas" panose="020B0609020204030204" pitchFamily="49" charset="0"/>
              </a:rPr>
              <a:t>Vec3</a:t>
            </a:r>
            <a:endParaRPr lang="fr-FR" sz="2400" dirty="0">
              <a:latin typeface="Consolas" panose="020B0609020204030204" pitchFamily="49" charset="0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F2E19E0A-235B-EE77-691E-CBF14EE94CBE}"/>
              </a:ext>
            </a:extLst>
          </p:cNvPr>
          <p:cNvSpPr txBox="1"/>
          <p:nvPr/>
        </p:nvSpPr>
        <p:spPr>
          <a:xfrm>
            <a:off x="7125382" y="2924467"/>
            <a:ext cx="8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Vec3</a:t>
            </a:r>
            <a:endParaRPr lang="fr-FR" sz="2400" dirty="0">
              <a:latin typeface="Consolas" panose="020B0609020204030204" pitchFamily="49" charset="0"/>
            </a:endParaRP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A35D5464-083D-57B9-0F73-C9DC333E3FC8}"/>
              </a:ext>
            </a:extLst>
          </p:cNvPr>
          <p:cNvSpPr txBox="1"/>
          <p:nvPr/>
        </p:nvSpPr>
        <p:spPr>
          <a:xfrm>
            <a:off x="8998448" y="4190481"/>
            <a:ext cx="864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Vec3</a:t>
            </a:r>
            <a:endParaRPr lang="fr-FR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97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A292-93BA-531F-62DF-08DBCCFB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290BF-7D3B-6233-451B-F62A991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6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3D16D2B-FB67-AE6A-DC83-2F1D6AC1182F}"/>
              </a:ext>
            </a:extLst>
          </p:cNvPr>
          <p:cNvSpPr txBox="1"/>
          <p:nvPr/>
        </p:nvSpPr>
        <p:spPr>
          <a:xfrm>
            <a:off x="1996175" y="490008"/>
            <a:ext cx="8199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Flat </a:t>
            </a:r>
            <a:r>
              <a:rPr lang="en-US" sz="3600">
                <a:latin typeface="Fira Sans Condensed SemiBold" panose="020B0603050000020004" pitchFamily="34" charset="0"/>
              </a:rPr>
              <a:t>Memory Representation with Valhalla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DC8590E-D28E-D210-2F6A-9AA39E5D52E1}"/>
              </a:ext>
            </a:extLst>
          </p:cNvPr>
          <p:cNvSpPr txBox="1"/>
          <p:nvPr/>
        </p:nvSpPr>
        <p:spPr>
          <a:xfrm>
            <a:off x="5493912" y="1698350"/>
            <a:ext cx="1204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Vec3[]</a:t>
            </a:r>
            <a:endParaRPr lang="fr-FR" sz="2400" dirty="0">
              <a:latin typeface="Consolas" panose="020B0609020204030204" pitchFamily="49" charset="0"/>
            </a:endParaRP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9C283B99-FD59-0EBE-80C8-ABE3431E1422}"/>
              </a:ext>
            </a:extLst>
          </p:cNvPr>
          <p:cNvGrpSpPr/>
          <p:nvPr/>
        </p:nvGrpSpPr>
        <p:grpSpPr>
          <a:xfrm>
            <a:off x="5344616" y="2160015"/>
            <a:ext cx="1502768" cy="3810260"/>
            <a:chOff x="5344616" y="2160015"/>
            <a:chExt cx="1502768" cy="3810260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947DC2F4-6D6F-C5A7-C2A6-88D377502A89}"/>
                </a:ext>
              </a:extLst>
            </p:cNvPr>
            <p:cNvGrpSpPr/>
            <p:nvPr/>
          </p:nvGrpSpPr>
          <p:grpSpPr>
            <a:xfrm>
              <a:off x="5344616" y="2160015"/>
              <a:ext cx="1502768" cy="3810260"/>
              <a:chOff x="1331843" y="1855304"/>
              <a:chExt cx="1345096" cy="38102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A46C85C-28F4-F161-6870-5E49A00DE8DE}"/>
                  </a:ext>
                </a:extLst>
              </p:cNvPr>
              <p:cNvSpPr/>
              <p:nvPr/>
            </p:nvSpPr>
            <p:spPr>
              <a:xfrm>
                <a:off x="1331843" y="1855304"/>
                <a:ext cx="1345096" cy="52346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Header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890BBB-97ED-2DFA-C251-23DBD92BDD66}"/>
                  </a:ext>
                </a:extLst>
              </p:cNvPr>
              <p:cNvSpPr/>
              <p:nvPr/>
            </p:nvSpPr>
            <p:spPr>
              <a:xfrm>
                <a:off x="1331843" y="2378765"/>
                <a:ext cx="1345096" cy="3511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x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3D981B-0328-EAAD-9218-A9D380F85B84}"/>
                  </a:ext>
                </a:extLst>
              </p:cNvPr>
              <p:cNvSpPr/>
              <p:nvPr/>
            </p:nvSpPr>
            <p:spPr>
              <a:xfrm>
                <a:off x="1331843" y="2729948"/>
                <a:ext cx="1345096" cy="3511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y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B40FA9-48B0-E782-260E-6E28A04329E0}"/>
                  </a:ext>
                </a:extLst>
              </p:cNvPr>
              <p:cNvSpPr/>
              <p:nvPr/>
            </p:nvSpPr>
            <p:spPr>
              <a:xfrm>
                <a:off x="1331843" y="3077817"/>
                <a:ext cx="1345096" cy="3511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z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E182F9A-3332-A49D-A187-CB03188C62AC}"/>
                  </a:ext>
                </a:extLst>
              </p:cNvPr>
              <p:cNvSpPr/>
              <p:nvPr/>
            </p:nvSpPr>
            <p:spPr>
              <a:xfrm>
                <a:off x="1331843" y="5526416"/>
                <a:ext cx="1345096" cy="13914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F86F62-D840-B76D-B0C2-C2646DB9CDB3}"/>
                </a:ext>
              </a:extLst>
            </p:cNvPr>
            <p:cNvSpPr/>
            <p:nvPr/>
          </p:nvSpPr>
          <p:spPr>
            <a:xfrm>
              <a:off x="5344616" y="3730657"/>
              <a:ext cx="1502768" cy="35118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x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569941-7A19-BD99-CEAA-97C7AAB8A579}"/>
                </a:ext>
              </a:extLst>
            </p:cNvPr>
            <p:cNvSpPr/>
            <p:nvPr/>
          </p:nvSpPr>
          <p:spPr>
            <a:xfrm>
              <a:off x="5344616" y="4081840"/>
              <a:ext cx="1502768" cy="35118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y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915CA3-AD86-D5CC-8E16-E613BED99D1F}"/>
                </a:ext>
              </a:extLst>
            </p:cNvPr>
            <p:cNvSpPr/>
            <p:nvPr/>
          </p:nvSpPr>
          <p:spPr>
            <a:xfrm>
              <a:off x="5344616" y="4429709"/>
              <a:ext cx="1502768" cy="35118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z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5B5A1C-D3FC-D6B1-6391-831FD1197CB2}"/>
                </a:ext>
              </a:extLst>
            </p:cNvPr>
            <p:cNvSpPr/>
            <p:nvPr/>
          </p:nvSpPr>
          <p:spPr>
            <a:xfrm>
              <a:off x="5344616" y="4780892"/>
              <a:ext cx="1502768" cy="3511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x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97FD7BC-473C-C5D2-EC74-BEEFA9EE79B7}"/>
                </a:ext>
              </a:extLst>
            </p:cNvPr>
            <p:cNvSpPr/>
            <p:nvPr/>
          </p:nvSpPr>
          <p:spPr>
            <a:xfrm>
              <a:off x="5344616" y="5132075"/>
              <a:ext cx="1502768" cy="3511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y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C45D16-8DCE-6481-D4CD-ABC6F9E66620}"/>
                </a:ext>
              </a:extLst>
            </p:cNvPr>
            <p:cNvSpPr/>
            <p:nvPr/>
          </p:nvSpPr>
          <p:spPr>
            <a:xfrm>
              <a:off x="5344616" y="5479944"/>
              <a:ext cx="1502768" cy="3511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z</a:t>
              </a:r>
              <a:endParaRPr lang="fr-FR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08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A292-93BA-531F-62DF-08DBCCFB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290BF-7D3B-6233-451B-F62A991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7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3D16D2B-FB67-AE6A-DC83-2F1D6AC1182F}"/>
              </a:ext>
            </a:extLst>
          </p:cNvPr>
          <p:cNvSpPr txBox="1"/>
          <p:nvPr/>
        </p:nvSpPr>
        <p:spPr>
          <a:xfrm>
            <a:off x="4004722" y="490008"/>
            <a:ext cx="4182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Primitives vs Objects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6EC9123D-A953-7BD1-17D7-5BA953C78F9C}"/>
              </a:ext>
            </a:extLst>
          </p:cNvPr>
          <p:cNvSpPr txBox="1"/>
          <p:nvPr/>
        </p:nvSpPr>
        <p:spPr>
          <a:xfrm>
            <a:off x="3445178" y="2084528"/>
            <a:ext cx="53016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Fira Sans Condensed SemiBold" panose="020B0603050000020004" pitchFamily="34" charset="0"/>
              </a:rPr>
              <a:t>Primitives are second class citizens</a:t>
            </a:r>
            <a:br>
              <a:rPr lang="en-US" sz="2400" dirty="0">
                <a:latin typeface="Fira Sans Condensed SemiBold" panose="020B0603050000020004" pitchFamily="34" charset="0"/>
              </a:rPr>
            </a:br>
            <a:endParaRPr lang="en-US" sz="2400" dirty="0">
              <a:latin typeface="Fira Sans Condensed SemiBold" panose="020B06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Fira Sans Condensed SemiBold" panose="020B0603050000020004" pitchFamily="34" charset="0"/>
              </a:rPr>
              <a:t>No abstraction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Fira Sans Condensed SemiBold" panose="020B0603050000020004" pitchFamily="34" charset="0"/>
              </a:rPr>
              <a:t>no common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Fira Sans Condensed SemiBold" panose="020B0603050000020004" pitchFamily="34" charset="0"/>
              </a:rPr>
              <a:t>cannot be used as generics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>
              <a:latin typeface="Fira Sans Condensed SemiBold" panose="020B06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Fira Sans Condensed SemiBold" panose="020B0603050000020004" pitchFamily="34" charset="0"/>
              </a:rPr>
              <a:t>No method (</a:t>
            </a:r>
            <a:r>
              <a:rPr lang="en-US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toString</a:t>
            </a:r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()</a:t>
            </a:r>
            <a:r>
              <a:rPr lang="en-US" sz="2400" b="1" dirty="0">
                <a:latin typeface="Fira Sans Condensed SemiBold" panose="020B0603050000020004" pitchFamily="34" charset="0"/>
              </a:rPr>
              <a:t>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Fira Sans Condensed SemiBold" panose="020B06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== </a:t>
            </a:r>
            <a:r>
              <a:rPr lang="en-US" sz="2400" b="1">
                <a:latin typeface="Fira Sans Condensed SemiBold" panose="020B0603050000020004" pitchFamily="34" charset="0"/>
              </a:rPr>
              <a:t>vs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equals()</a:t>
            </a:r>
            <a:endParaRPr lang="en-US" sz="2400" dirty="0">
              <a:solidFill>
                <a:srgbClr val="0033B3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Fira Sans Condensed SemiBold" panose="020B06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Fira Sans Condensed SemiBold" panose="020B06030500000200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3A5F546-2AA3-A4C2-2C44-7D78D7841884}"/>
              </a:ext>
            </a:extLst>
          </p:cNvPr>
          <p:cNvSpPr/>
          <p:nvPr/>
        </p:nvSpPr>
        <p:spPr>
          <a:xfrm>
            <a:off x="43774" y="661190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93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900F922-237B-F17B-B1FD-EEBECA41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8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B9D201-FEF5-2ADB-A82A-64AB7B285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837" y="1348406"/>
            <a:ext cx="6630325" cy="4048690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D041EF67-AA86-24A3-4DEF-77F7AC204E46}"/>
              </a:ext>
            </a:extLst>
          </p:cNvPr>
          <p:cNvSpPr txBox="1"/>
          <p:nvPr/>
        </p:nvSpPr>
        <p:spPr>
          <a:xfrm>
            <a:off x="2063292" y="423187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Fira Sans Condensed SemiBold" panose="020B0603050000020004" pitchFamily="34" charset="0"/>
              </a:rPr>
              <a:t>JEP 401 introduces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Objects </a:t>
            </a:r>
            <a:r>
              <a:rPr lang="en-US" sz="2400" dirty="0">
                <a:latin typeface="Fira Sans Condensed SemiBold" panose="020B0603050000020004" pitchFamily="34" charset="0"/>
              </a:rPr>
              <a:t>in the language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D75CE977-5BB5-8DE9-0DCE-1DF232FB602E}"/>
              </a:ext>
            </a:extLst>
          </p:cNvPr>
          <p:cNvSpPr txBox="1"/>
          <p:nvPr/>
        </p:nvSpPr>
        <p:spPr>
          <a:xfrm>
            <a:off x="2063292" y="5860650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Fira Sans Condensed SemiBold" panose="020B0603050000020004" pitchFamily="34" charset="0"/>
              </a:rPr>
              <a:t>Available as a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preview</a:t>
            </a:r>
            <a:r>
              <a:rPr lang="en-US" sz="2400" dirty="0">
                <a:latin typeface="Fira Sans Condensed SemiBold" panose="020B0603050000020004" pitchFamily="34" charset="0"/>
              </a:rPr>
              <a:t> feature in JDK 28 early access build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35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612E88A-27B7-DF3D-DE72-EA6CB5DE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9</a:t>
            </a:fld>
            <a:endParaRPr lang="fr-FR"/>
          </a:p>
        </p:txBody>
      </p:sp>
      <p:pic>
        <p:nvPicPr>
          <p:cNvPr id="5122" name="Picture 2" descr="JEP 401 Pull Request">
            <a:extLst>
              <a:ext uri="{FF2B5EF4-FFF2-40B4-BE49-F238E27FC236}">
                <a16:creationId xmlns:a16="http://schemas.microsoft.com/office/drawing/2014/main" id="{D731EAAE-B7C6-0A0D-BA3A-1F913A473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0"/>
            <a:ext cx="11864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73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59C93DF-618F-2DFA-8969-3EA70E92D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3" b="2663"/>
          <a:stretch/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81B10-4E89-76EC-3D69-8F1D5C73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10</a:t>
            </a:fld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9FF59-39BF-ECB4-E23D-8B811783A144}"/>
              </a:ext>
            </a:extLst>
          </p:cNvPr>
          <p:cNvSpPr txBox="1"/>
          <p:nvPr/>
        </p:nvSpPr>
        <p:spPr>
          <a:xfrm>
            <a:off x="457200" y="581433"/>
            <a:ext cx="4330104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Fira Sans Condensed SemiBold" panose="020B0603050000020004" pitchFamily="34" charset="0"/>
                <a:ea typeface="+mj-ea"/>
                <a:cs typeface="+mj-cs"/>
              </a:rPr>
              <a:t>Clément de Tastes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A581052-A9F1-A62D-E34C-F392A03B4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589" y="2014031"/>
            <a:ext cx="877301" cy="928361"/>
          </a:xfrm>
          <a:prstGeom prst="rect">
            <a:avLst/>
          </a:prstGeom>
        </p:spPr>
      </p:pic>
      <p:sp>
        <p:nvSpPr>
          <p:cNvPr id="7" name="Google Shape;1035;p40">
            <a:extLst>
              <a:ext uri="{FF2B5EF4-FFF2-40B4-BE49-F238E27FC236}">
                <a16:creationId xmlns:a16="http://schemas.microsoft.com/office/drawing/2014/main" id="{99073F4C-2CFB-E5F5-FAE8-EF0AD850A681}"/>
              </a:ext>
            </a:extLst>
          </p:cNvPr>
          <p:cNvSpPr txBox="1">
            <a:spLocks/>
          </p:cNvSpPr>
          <p:nvPr/>
        </p:nvSpPr>
        <p:spPr>
          <a:xfrm>
            <a:off x="170653" y="2178636"/>
            <a:ext cx="4669797" cy="390858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Tech Lead @ SCIAM</a:t>
            </a:r>
          </a:p>
          <a:p>
            <a:pPr marL="285750"/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LinkedIn / BlueSky</a:t>
            </a: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github.com/</a:t>
            </a:r>
            <a:r>
              <a:rPr lang="en-US" sz="2400" dirty="0" err="1">
                <a:latin typeface="Fira Sans Condensed SemiBold" panose="020B0603050000020004" pitchFamily="34" charset="0"/>
              </a:rPr>
              <a:t>CodeSimcoe</a:t>
            </a:r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Java ☕ — JavaFX —  </a:t>
            </a:r>
            <a:r>
              <a:rPr lang="en-US" sz="2400" dirty="0" err="1">
                <a:latin typeface="Fira Sans Condensed SemiBold" panose="020B0603050000020004" pitchFamily="34" charset="0"/>
              </a:rPr>
              <a:t>Quarkus</a:t>
            </a:r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Toulon Dev</a:t>
            </a:r>
          </a:p>
        </p:txBody>
      </p:sp>
      <p:pic>
        <p:nvPicPr>
          <p:cNvPr id="5" name="Picture 6" descr="Toulon Dev">
            <a:extLst>
              <a:ext uri="{FF2B5EF4-FFF2-40B4-BE49-F238E27FC236}">
                <a16:creationId xmlns:a16="http://schemas.microsoft.com/office/drawing/2014/main" id="{3CA8A662-A1EB-A846-CA5A-A1DF9B66F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953" y="4831163"/>
            <a:ext cx="898598" cy="92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0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EA7D7-31AA-8392-AF67-1777F4D5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11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591D2CC-5838-48D5-FF1F-342E2EE9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32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Google Shape;1035;p40">
            <a:extLst>
              <a:ext uri="{FF2B5EF4-FFF2-40B4-BE49-F238E27FC236}">
                <a16:creationId xmlns:a16="http://schemas.microsoft.com/office/drawing/2014/main" id="{7C614D9A-8529-AA45-0C1E-9AEB4718CDCB}"/>
              </a:ext>
            </a:extLst>
          </p:cNvPr>
          <p:cNvSpPr txBox="1">
            <a:spLocks/>
          </p:cNvSpPr>
          <p:nvPr/>
        </p:nvSpPr>
        <p:spPr>
          <a:xfrm>
            <a:off x="6692590" y="2023505"/>
            <a:ext cx="5384042" cy="390858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Associate Professor at University Gustave Eiffel (Paris)</a:t>
            </a:r>
          </a:p>
          <a:p>
            <a:pPr marL="285750"/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github.com/</a:t>
            </a:r>
            <a:r>
              <a:rPr lang="en-US" sz="2400" dirty="0" err="1">
                <a:latin typeface="Fira Sans Condensed SemiBold" panose="020B0603050000020004" pitchFamily="34" charset="0"/>
              </a:rPr>
              <a:t>forax</a:t>
            </a:r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Java ☕ specs for </a:t>
            </a:r>
            <a:r>
              <a:rPr lang="en-US" sz="2400" dirty="0" err="1">
                <a:latin typeface="Fira Sans Condensed SemiBold" panose="020B0603050000020004" pitchFamily="34" charset="0"/>
              </a:rPr>
              <a:t>invokedynamic</a:t>
            </a:r>
            <a:r>
              <a:rPr lang="en-US" sz="2400" dirty="0">
                <a:latin typeface="Fira Sans Condensed SemiBold" panose="020B0603050000020004" pitchFamily="34" charset="0"/>
              </a:rPr>
              <a:t>, lambda, module, record, pattern-matching</a:t>
            </a:r>
            <a:r>
              <a:rPr lang="en-US" sz="2400">
                <a:latin typeface="Fira Sans Condensed SemiBold" panose="020B0603050000020004" pitchFamily="34" charset="0"/>
              </a:rPr>
              <a:t>, value-class</a:t>
            </a:r>
            <a:br>
              <a:rPr lang="en-US" sz="2400" dirty="0">
                <a:latin typeface="Fira Sans Condensed SemiBold" panose="020B0603050000020004" pitchFamily="34" charset="0"/>
              </a:rPr>
            </a:br>
            <a:endParaRPr lang="en-US" sz="2400" dirty="0">
              <a:latin typeface="Fira Sans Condensed SemiBold" panose="020B0603050000020004" pitchFamily="34" charset="0"/>
            </a:endParaRPr>
          </a:p>
          <a:p>
            <a:pPr marL="285750"/>
            <a:r>
              <a:rPr lang="en-US" sz="2400" dirty="0">
                <a:latin typeface="Fira Sans Condensed SemiBold" panose="020B0603050000020004" pitchFamily="34" charset="0"/>
              </a:rPr>
              <a:t>I maintain several open-source projects nobody 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D0DF8-3C59-4ED5-E268-98A12868ADEA}"/>
              </a:ext>
            </a:extLst>
          </p:cNvPr>
          <p:cNvSpPr txBox="1"/>
          <p:nvPr/>
        </p:nvSpPr>
        <p:spPr>
          <a:xfrm>
            <a:off x="7219559" y="431632"/>
            <a:ext cx="4330104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Fira Sans Condensed SemiBold" panose="020B0603050000020004" pitchFamily="34" charset="0"/>
                <a:ea typeface="+mj-ea"/>
                <a:cs typeface="+mj-cs"/>
              </a:rPr>
              <a:t>Rémi Forax</a:t>
            </a:r>
          </a:p>
        </p:txBody>
      </p:sp>
    </p:spTree>
    <p:extLst>
      <p:ext uri="{BB962C8B-B14F-4D97-AF65-F5344CB8AC3E}">
        <p14:creationId xmlns:p14="http://schemas.microsoft.com/office/powerpoint/2010/main" val="3467707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3B17-267A-FAD7-72F3-A4512D0E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C7E62C-3FFC-E229-3320-764578DBCBAA}"/>
              </a:ext>
            </a:extLst>
          </p:cNvPr>
          <p:cNvSpPr txBox="1"/>
          <p:nvPr/>
        </p:nvSpPr>
        <p:spPr>
          <a:xfrm>
            <a:off x="4995379" y="490008"/>
            <a:ext cx="220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Disclaimer</a:t>
            </a:r>
            <a:endParaRPr lang="fr-FR" sz="3600">
              <a:latin typeface="Fira Sans Condensed SemiBold" panose="020B060305000002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1ADED-9E38-8974-F7BE-D6B74297ECF0}"/>
              </a:ext>
            </a:extLst>
          </p:cNvPr>
          <p:cNvSpPr txBox="1"/>
          <p:nvPr/>
        </p:nvSpPr>
        <p:spPr>
          <a:xfrm>
            <a:off x="2751174" y="3167390"/>
            <a:ext cx="6689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Fira Sans Condensed SemiBold" panose="020B0603050000020004" pitchFamily="34" charset="0"/>
              </a:rPr>
              <a:t>These are </a:t>
            </a:r>
            <a:r>
              <a:rPr lang="en-US" sz="28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preview</a:t>
            </a:r>
            <a:r>
              <a:rPr lang="en-US" sz="2800">
                <a:latin typeface="Fira Sans Condensed SemiBold" panose="020B0603050000020004" pitchFamily="34" charset="0"/>
              </a:rPr>
              <a:t> or experimental features</a:t>
            </a:r>
            <a:endParaRPr lang="fr-FR" sz="2800" dirty="0">
              <a:latin typeface="Fira Sans Condensed SemiBold" panose="020B06030500000200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E535F-78F2-59DE-96E8-D62481E3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12</a:t>
            </a:fld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61677-B91B-280C-8D4A-65FB599F5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844" y="2471495"/>
            <a:ext cx="2554967" cy="4203333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01877502-B343-0F7F-E69B-F9E6D01F0945}"/>
              </a:ext>
            </a:extLst>
          </p:cNvPr>
          <p:cNvSpPr/>
          <p:nvPr/>
        </p:nvSpPr>
        <p:spPr>
          <a:xfrm>
            <a:off x="43774" y="661190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870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A292-93BA-531F-62DF-08DBCCFB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290BF-7D3B-6233-451B-F62A991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13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3D16D2B-FB67-AE6A-DC83-2F1D6AC1182F}"/>
              </a:ext>
            </a:extLst>
          </p:cNvPr>
          <p:cNvSpPr txBox="1"/>
          <p:nvPr/>
        </p:nvSpPr>
        <p:spPr>
          <a:xfrm>
            <a:off x="3758331" y="490008"/>
            <a:ext cx="4480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What is a </a:t>
            </a:r>
            <a:r>
              <a:rPr lang="en-US" sz="36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Class</a:t>
            </a:r>
            <a:r>
              <a:rPr lang="en-US" sz="3600">
                <a:latin typeface="Fira Sans Condensed SemiBold" panose="020B0603050000020004" pitchFamily="34" charset="0"/>
              </a:rPr>
              <a:t> </a:t>
            </a:r>
            <a:r>
              <a:rPr lang="en-US" sz="3600" dirty="0">
                <a:latin typeface="Fira Sans Condensed SemiBold" panose="020B0603050000020004" pitchFamily="34" charset="0"/>
              </a:rPr>
              <a:t>?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E1EB4B-4E15-B83A-C55F-424CC4899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228" y="3898909"/>
            <a:ext cx="7286920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value record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{}</a:t>
            </a:r>
            <a:endParaRPr kumimoji="0" lang="fr-FR" altLang="fr-F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E59D21A7-E586-E5CB-8DB4-2157497BDD20}"/>
              </a:ext>
            </a:extLst>
          </p:cNvPr>
          <p:cNvSpPr txBox="1"/>
          <p:nvPr/>
        </p:nvSpPr>
        <p:spPr>
          <a:xfrm>
            <a:off x="1965980" y="1980996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Fira Sans Condensed SemiBold" panose="020B0603050000020004" pitchFamily="34" charset="0"/>
              </a:rPr>
              <a:t>I</a:t>
            </a:r>
            <a:r>
              <a:rPr lang="en-US" sz="2400">
                <a:latin typeface="Fira Sans Condensed SemiBold" panose="020B0603050000020004" pitchFamily="34" charset="0"/>
              </a:rPr>
              <a:t>nstances </a:t>
            </a:r>
            <a:r>
              <a:rPr lang="en-US" sz="2400" dirty="0">
                <a:latin typeface="Fira Sans Condensed SemiBold" panose="020B0603050000020004" pitchFamily="34" charset="0"/>
              </a:rPr>
              <a:t>/ references / objects are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values</a:t>
            </a:r>
            <a:r>
              <a:rPr lang="en-US" sz="2400" dirty="0">
                <a:latin typeface="Fira Sans Condensed SemiBold" panose="020B0603050000020004" pitchFamily="34" charset="0"/>
              </a:rPr>
              <a:t>, not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pointers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BAE77C4-60D8-1E86-FA86-9C0CA19B9FEA}"/>
              </a:ext>
            </a:extLst>
          </p:cNvPr>
          <p:cNvSpPr txBox="1"/>
          <p:nvPr/>
        </p:nvSpPr>
        <p:spPr>
          <a:xfrm>
            <a:off x="1965980" y="3061447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Fira Sans Condensed SemiBold" panose="020B0603050000020004" pitchFamily="34" charset="0"/>
              </a:rPr>
              <a:t>New keyword : </a:t>
            </a:r>
            <a:r>
              <a:rPr lang="en-US" sz="24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9B49B8A-4048-D843-77D5-3B8941383126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51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F521E-D226-599D-0321-A5277AA4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E0E9D-3E94-2985-BE42-562122D6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14</a:t>
            </a:fld>
            <a:endParaRPr lang="fr-FR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1B633D86-26D3-FEB8-1ECF-106E4A9DB5DA}"/>
              </a:ext>
            </a:extLst>
          </p:cNvPr>
          <p:cNvSpPr txBox="1"/>
          <p:nvPr/>
        </p:nvSpPr>
        <p:spPr>
          <a:xfrm>
            <a:off x="1779355" y="337824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Fira Sans Condensed SemiBold" panose="020B0603050000020004" pitchFamily="34" charset="0"/>
              </a:rPr>
              <a:t>A value class instance is passed “</a:t>
            </a:r>
            <a:r>
              <a:rPr lang="en-US" sz="24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by value</a:t>
            </a:r>
            <a:r>
              <a:rPr lang="en-US" sz="2400">
                <a:latin typeface="Fira Sans Condensed SemiBold" panose="020B0603050000020004" pitchFamily="34" charset="0"/>
              </a:rPr>
              <a:t>”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1DCD4FB-30F5-955A-C171-089AEAE22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343" y="1306738"/>
            <a:ext cx="9355315" cy="10156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fr-FR" sz="2000" err="1">
                <a:solidFill>
                  <a:srgbClr val="0033B3"/>
                </a:solidFill>
                <a:latin typeface="Consolas" panose="020B0609020204030204" pitchFamily="49" charset="0"/>
              </a:rPr>
              <a:t>static</a:t>
            </a:r>
            <a:r>
              <a:rPr lang="fr-FR" sz="200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fr-FR" sz="2000">
                <a:solidFill>
                  <a:srgbClr val="000000"/>
                </a:solidFill>
                <a:latin typeface="Consolas" panose="020B0609020204030204" pitchFamily="49" charset="0"/>
              </a:rPr>
              <a:t>Point </a:t>
            </a:r>
            <a:r>
              <a:rPr lang="fr-FR" sz="2000">
                <a:solidFill>
                  <a:srgbClr val="00627A"/>
                </a:solidFill>
                <a:latin typeface="Consolas" panose="020B0609020204030204" pitchFamily="49" charset="0"/>
              </a:rPr>
              <a:t>translate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sz="2000">
                <a:solidFill>
                  <a:srgbClr val="000000"/>
                </a:solidFill>
                <a:latin typeface="Consolas" panose="020B0609020204030204" pitchFamily="49" charset="0"/>
              </a:rPr>
              <a:t>Point p, </a:t>
            </a:r>
            <a:r>
              <a:rPr lang="fr-FR" altLang="fr-FR" sz="200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rgbClr val="871094"/>
                </a:solidFill>
                <a:latin typeface="Consolas" panose="020B0609020204030204" pitchFamily="49" charset="0"/>
              </a:rPr>
              <a:t>dx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altLang="fr-FR" sz="200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000">
                <a:solidFill>
                  <a:srgbClr val="871094"/>
                </a:solidFill>
                <a:latin typeface="Consolas" panose="020B0609020204030204" pitchFamily="49" charset="0"/>
              </a:rPr>
              <a:t>dy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) </a:t>
            </a:r>
            <a: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fr-FR" sz="200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fr-FR" sz="2000">
                <a:solidFill>
                  <a:srgbClr val="000000"/>
                </a:solidFill>
                <a:latin typeface="Consolas" panose="020B0609020204030204" pitchFamily="49" charset="0"/>
              </a:rPr>
              <a:t>Point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p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x</a:t>
            </a:r>
            <a:r>
              <a:rPr lang="fr-FR" sz="20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fr-FR" sz="2000" dirty="0">
                <a:solidFill>
                  <a:srgbClr val="871094"/>
                </a:solidFill>
                <a:latin typeface="Consolas" panose="020B0609020204030204" pitchFamily="49" charset="0"/>
              </a:rPr>
              <a:t>dx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p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y</a:t>
            </a:r>
            <a:r>
              <a:rPr lang="fr-FR" sz="20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fr-FR" sz="2000">
                <a:solidFill>
                  <a:srgbClr val="871094"/>
                </a:solidFill>
                <a:latin typeface="Consolas" panose="020B0609020204030204" pitchFamily="49" charset="0"/>
              </a:rPr>
              <a:t>dy</a:t>
            </a:r>
            <a:r>
              <a:rPr lang="fr-FR" sz="200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5EC6A63-888D-9DE2-C0C2-1F0E0EB75269}"/>
              </a:ext>
            </a:extLst>
          </p:cNvPr>
          <p:cNvSpPr txBox="1"/>
          <p:nvPr/>
        </p:nvSpPr>
        <p:spPr>
          <a:xfrm>
            <a:off x="2063292" y="3490054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Fira Sans Condensed SemiBold" panose="020B0603050000020004" pitchFamily="34" charset="0"/>
              </a:rPr>
              <a:t>At runtime, </a:t>
            </a:r>
            <a:r>
              <a:rPr lang="en-US" sz="2400">
                <a:latin typeface="Fira Sans Condensed SemiBold" panose="020B0603050000020004" pitchFamily="34" charset="0"/>
              </a:rPr>
              <a:t>in “pseudo Java”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DC2F91FB-60D9-CD97-A419-5A68ED376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343" y="4432060"/>
            <a:ext cx="9355315" cy="92333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fr-FR">
                <a:solidFill>
                  <a:srgbClr val="0033B3"/>
                </a:solidFill>
                <a:latin typeface="Consolas" panose="020B0609020204030204" pitchFamily="49" charset="0"/>
              </a:rPr>
              <a:t>static </a:t>
            </a:r>
            <a:r>
              <a:rPr lang="fr-FR" sz="1400" i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altLang="fr-FR" sz="1400" i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sz="1400" i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altLang="fr-FR" sz="1400" i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sz="1400" i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>
                <a:solidFill>
                  <a:srgbClr val="00627A"/>
                </a:solidFill>
                <a:latin typeface="Consolas" panose="020B0609020204030204" pitchFamily="49" charset="0"/>
              </a:rPr>
              <a:t>translate</a:t>
            </a:r>
            <a: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altLang="fr-FR" sz="1400" i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sz="1400" i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i="1">
                <a:solidFill>
                  <a:srgbClr val="871094"/>
                </a:solidFill>
                <a:latin typeface="Consolas" panose="020B0609020204030204" pitchFamily="49" charset="0"/>
              </a:rPr>
              <a:t>x</a:t>
            </a:r>
            <a:r>
              <a:rPr lang="fr-FR" sz="1400" i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altLang="fr-FR" sz="1400" i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sz="1400" i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i="1">
                <a:solidFill>
                  <a:srgbClr val="871094"/>
                </a:solidFill>
                <a:latin typeface="Consolas" panose="020B0609020204030204" pitchFamily="49" charset="0"/>
              </a:rPr>
              <a:t>y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r>
              <a:rPr lang="fr-FR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altLang="fr-FR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>
                <a:solidFill>
                  <a:srgbClr val="871094"/>
                </a:solidFill>
                <a:latin typeface="Consolas" panose="020B0609020204030204" pitchFamily="49" charset="0"/>
              </a:rPr>
              <a:t>dx</a:t>
            </a:r>
            <a:r>
              <a:rPr lang="fr-FR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altLang="fr-FR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>
                <a:solidFill>
                  <a:srgbClr val="871094"/>
                </a:solidFill>
                <a:latin typeface="Consolas" panose="020B0609020204030204" pitchFamily="49" charset="0"/>
              </a:rPr>
              <a:t>dy</a:t>
            </a:r>
            <a: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  <a:t>) {</a:t>
            </a:r>
            <a:b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lang="fr-FR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sz="1400" i="1">
                <a:solidFill>
                  <a:srgbClr val="871094"/>
                </a:solidFill>
                <a:latin typeface="Consolas" panose="020B0609020204030204" pitchFamily="49" charset="0"/>
              </a:rPr>
              <a:t>x 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fr-FR" sz="1400" i="1">
                <a:solidFill>
                  <a:srgbClr val="871094"/>
                </a:solidFill>
                <a:latin typeface="Consolas" panose="020B0609020204030204" pitchFamily="49" charset="0"/>
              </a:rPr>
              <a:t>dx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fr-FR" sz="1400" i="1">
                <a:solidFill>
                  <a:srgbClr val="871094"/>
                </a:solidFill>
                <a:latin typeface="Consolas" panose="020B0609020204030204" pitchFamily="49" charset="0"/>
              </a:rPr>
              <a:t>y 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fr-FR" sz="1400" i="1">
                <a:solidFill>
                  <a:srgbClr val="871094"/>
                </a:solidFill>
                <a:latin typeface="Consolas" panose="020B0609020204030204" pitchFamily="49" charset="0"/>
              </a:rPr>
              <a:t>dy</a:t>
            </a:r>
            <a:r>
              <a:rPr lang="fr-FR" sz="1400" i="1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E0C08F18-1A06-F293-A7C8-CF8D28362611}"/>
              </a:ext>
            </a:extLst>
          </p:cNvPr>
          <p:cNvSpPr txBox="1"/>
          <p:nvPr/>
        </p:nvSpPr>
        <p:spPr>
          <a:xfrm>
            <a:off x="2063292" y="5831495"/>
            <a:ext cx="8065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Fira Sans Condensed SemiBold" panose="020B0603050000020004" pitchFamily="34" charset="0"/>
              </a:rPr>
              <a:t>The VM can eliminate allocation (</a:t>
            </a:r>
            <a:r>
              <a:rPr lang="en-US" sz="24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scalarization</a:t>
            </a:r>
            <a:r>
              <a:rPr lang="en-US" sz="2400">
                <a:latin typeface="Fira Sans Condensed SemiBold" panose="020B0603050000020004" pitchFamily="34" charset="0"/>
              </a:rPr>
              <a:t>)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A4C04FF-578A-A0E7-FB11-C915DB8D7CB9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33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C56C0-A7D0-8DE3-EB28-B7A9D61B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F2FDB-C6A2-243D-6DD7-21C1FBA8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15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B56E31CD-D051-83AB-F76F-7EB00CD0ADD6}"/>
              </a:ext>
            </a:extLst>
          </p:cNvPr>
          <p:cNvSpPr txBox="1"/>
          <p:nvPr/>
        </p:nvSpPr>
        <p:spPr>
          <a:xfrm>
            <a:off x="4131032" y="490008"/>
            <a:ext cx="3735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Objects</a:t>
            </a:r>
            <a:r>
              <a:rPr lang="en-US" sz="3600">
                <a:latin typeface="Fira Sans Condensed SemiBold" panose="020B0603050000020004" pitchFamily="34" charset="0"/>
              </a:rPr>
              <a:t> are :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FAB838EE-C6CF-D265-E24D-F5E5780FBE00}"/>
              </a:ext>
            </a:extLst>
          </p:cNvPr>
          <p:cNvSpPr txBox="1"/>
          <p:nvPr/>
        </p:nvSpPr>
        <p:spPr>
          <a:xfrm>
            <a:off x="1965980" y="1980996"/>
            <a:ext cx="8065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Identity-free</a:t>
            </a:r>
            <a:r>
              <a:rPr lang="en-US" sz="2400" dirty="0">
                <a:latin typeface="Fira Sans Condensed SemiBold" panose="020B0603050000020004" pitchFamily="34" charset="0"/>
              </a:rPr>
              <a:t> (no address in memory, no </a:t>
            </a:r>
            <a:r>
              <a:rPr lang="en-US" sz="2400">
                <a:latin typeface="Fira Sans Condensed SemiBold" panose="020B0603050000020004" pitchFamily="34" charset="0"/>
              </a:rPr>
              <a:t>header)</a:t>
            </a:r>
            <a:endParaRPr lang="en-US" sz="2400" dirty="0">
              <a:latin typeface="Fira Sans Condensed SemiBold" panose="020B06030500000200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Unmodifiable</a:t>
            </a:r>
            <a:r>
              <a:rPr lang="en-US" sz="2400">
                <a:latin typeface="Fira Sans Condensed SemiBold" panose="020B0603050000020004" pitchFamily="34" charset="0"/>
              </a:rPr>
              <a:t> </a:t>
            </a:r>
            <a:r>
              <a:rPr lang="en-US" sz="2400" dirty="0">
                <a:latin typeface="Fira Sans Condensed SemiBold" panose="020B0603050000020004" pitchFamily="34" charset="0"/>
              </a:rPr>
              <a:t>(fields are </a:t>
            </a:r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final</a:t>
            </a:r>
            <a:r>
              <a:rPr lang="en-US" sz="2400" dirty="0">
                <a:latin typeface="Fira Sans Condensed SemiBold" panose="020B0603050000020004" pitchFamily="34" charset="0"/>
              </a:rPr>
              <a:t>, class is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final</a:t>
            </a:r>
            <a:r>
              <a:rPr lang="en-US" sz="2400">
                <a:latin typeface="Fira Sans Condensed SemiBold" panose="020B0603050000020004" pitchFamily="34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Stored </a:t>
            </a:r>
            <a:r>
              <a:rPr lang="en-US" sz="2400" dirty="0">
                <a:latin typeface="Fira Sans Condensed SemiBold" panose="020B0603050000020004" pitchFamily="34" charset="0"/>
              </a:rPr>
              <a:t>and passed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by value</a:t>
            </a:r>
            <a:r>
              <a:rPr lang="en-US" sz="2400" dirty="0">
                <a:latin typeface="Fira Sans Condensed SemiBold" panose="020B0603050000020004" pitchFamily="34" charset="0"/>
              </a:rPr>
              <a:t> rather than by pointer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EB393-9B8C-CABF-79B8-501F733ACAD3}"/>
              </a:ext>
            </a:extLst>
          </p:cNvPr>
          <p:cNvSpPr txBox="1"/>
          <p:nvPr/>
        </p:nvSpPr>
        <p:spPr>
          <a:xfrm>
            <a:off x="1965980" y="4025982"/>
            <a:ext cx="69817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Fira Sans Condensed SemiBold" panose="020B0603050000020004" pitchFamily="34" charset="0"/>
              </a:rPr>
              <a:t>Goals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No pointer indirection</a:t>
            </a:r>
            <a:r>
              <a:rPr lang="en-US" sz="2400">
                <a:latin typeface="Fira Sans Condensed SemiBold" panose="020B0603050000020004" pitchFamily="34" charset="0"/>
              </a:rPr>
              <a:t> for small data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No overhead</a:t>
            </a:r>
            <a:r>
              <a:rPr lang="en-US" sz="2400">
                <a:latin typeface="Fira Sans Condensed SemiBold" panose="020B0603050000020004" pitchFamily="34" charset="0"/>
              </a:rPr>
              <a:t> for heap allocation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D207F42-AD34-6D29-34E5-FA685C49FFC2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54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70EA-5D1D-FBA5-8385-C7F083A8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DCA92-F775-E0D1-38C1-E210BE0A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16</a:t>
            </a:fld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4A713E5-5FC5-158E-4A77-0C7C0EE9A167}"/>
              </a:ext>
            </a:extLst>
          </p:cNvPr>
          <p:cNvSpPr txBox="1"/>
          <p:nvPr/>
        </p:nvSpPr>
        <p:spPr>
          <a:xfrm>
            <a:off x="3804832" y="3198167"/>
            <a:ext cx="4582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/>
              <a:t>🎬</a:t>
            </a:r>
            <a:r>
              <a:rPr lang="en-US" sz="4800">
                <a:latin typeface="Fira Sans Condensed SemiBold" panose="020B0603050000020004" pitchFamily="34" charset="0"/>
              </a:rPr>
              <a:t>Demo 01 &amp; 02</a:t>
            </a:r>
            <a:endParaRPr lang="en-US" sz="48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763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927B-A443-D269-A102-1CBFFF46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368F2-7903-DF12-5AE9-95D7135C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17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6EB2B6B-D73A-2E94-EDA6-54D023F4D0FA}"/>
              </a:ext>
            </a:extLst>
          </p:cNvPr>
          <p:cNvSpPr txBox="1"/>
          <p:nvPr/>
        </p:nvSpPr>
        <p:spPr>
          <a:xfrm>
            <a:off x="2038639" y="490008"/>
            <a:ext cx="8114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Classes</a:t>
            </a:r>
            <a:r>
              <a:rPr lang="en-US" sz="3600">
                <a:latin typeface="Fira Sans Condensed SemiBold" panose="020B0603050000020004" pitchFamily="34" charset="0"/>
              </a:rPr>
              <a:t> require strict initialization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2312EA3B-DD98-8346-5715-9BB1B8BF43CF}"/>
              </a:ext>
            </a:extLst>
          </p:cNvPr>
          <p:cNvSpPr txBox="1"/>
          <p:nvPr/>
        </p:nvSpPr>
        <p:spPr>
          <a:xfrm>
            <a:off x="1626880" y="1980996"/>
            <a:ext cx="89382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a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object</a:t>
            </a:r>
            <a:r>
              <a:rPr lang="en-US" sz="2400" dirty="0">
                <a:latin typeface="Fira Sans Condensed SemiBold" panose="020B0603050000020004" pitchFamily="34" charset="0"/>
              </a:rPr>
              <a:t> must never have an observable state that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there’s a place we can mutate </a:t>
            </a:r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final</a:t>
            </a:r>
            <a:r>
              <a:rPr lang="en-US" sz="2400" dirty="0">
                <a:latin typeface="Fira Sans Condensed SemiBold" panose="020B0603050000020004" pitchFamily="34" charset="0"/>
              </a:rPr>
              <a:t> fields : constructors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9108516-9423-A3FC-BEF2-A332A7E1C488}"/>
              </a:ext>
            </a:extLst>
          </p:cNvPr>
          <p:cNvSpPr txBox="1"/>
          <p:nvPr/>
        </p:nvSpPr>
        <p:spPr>
          <a:xfrm>
            <a:off x="5065090" y="4428663"/>
            <a:ext cx="2061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/>
              <a:t>🎬</a:t>
            </a:r>
            <a:r>
              <a:rPr lang="en-US" sz="2400">
                <a:latin typeface="Fira Sans Condensed SemiBold" panose="020B0603050000020004" pitchFamily="34" charset="0"/>
              </a:rPr>
              <a:t>Demo 03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231C7C-94E3-1C3B-7515-71556E9C59E9}"/>
              </a:ext>
            </a:extLst>
          </p:cNvPr>
          <p:cNvSpPr txBox="1"/>
          <p:nvPr/>
        </p:nvSpPr>
        <p:spPr>
          <a:xfrm>
            <a:off x="1626880" y="3137464"/>
            <a:ext cx="89382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JEP 513 : Flexible Constructor Bodies </a:t>
            </a:r>
            <a:r>
              <a:rPr lang="en-US" sz="2400" i="1">
                <a:latin typeface="Fira Sans Condensed SemiBold" panose="020B0603050000020004" pitchFamily="34" charset="0"/>
              </a:rPr>
              <a:t>(Java 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all fields can - </a:t>
            </a:r>
            <a:r>
              <a:rPr lang="en-US" sz="2400" i="1">
                <a:latin typeface="Fira Sans Condensed SemiBold" panose="020B0603050000020004" pitchFamily="34" charset="0"/>
              </a:rPr>
              <a:t>and must</a:t>
            </a:r>
            <a:r>
              <a:rPr lang="en-US" sz="2400">
                <a:latin typeface="Fira Sans Condensed SemiBold" panose="020B0603050000020004" pitchFamily="34" charset="0"/>
              </a:rPr>
              <a:t> - be initialized before the call to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super()</a:t>
            </a:r>
          </a:p>
        </p:txBody>
      </p:sp>
    </p:spTree>
    <p:extLst>
      <p:ext uri="{BB962C8B-B14F-4D97-AF65-F5344CB8AC3E}">
        <p14:creationId xmlns:p14="http://schemas.microsoft.com/office/powerpoint/2010/main" val="98563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7F15-9044-26C9-F637-4041CA12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5F5041-518B-9DDA-542A-34F347FB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18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9803458-973C-4EF8-3B93-2BA2BD7BAED5}"/>
              </a:ext>
            </a:extLst>
          </p:cNvPr>
          <p:cNvSpPr txBox="1"/>
          <p:nvPr/>
        </p:nvSpPr>
        <p:spPr>
          <a:xfrm>
            <a:off x="2681446" y="490008"/>
            <a:ext cx="6829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Are </a:t>
            </a:r>
            <a:r>
              <a:rPr lang="en-US" sz="36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Class </a:t>
            </a:r>
            <a:r>
              <a:rPr lang="en-US" sz="3600">
                <a:latin typeface="Fira Sans Condensed SemiBold" panose="020B0603050000020004" pitchFamily="34" charset="0"/>
              </a:rPr>
              <a:t>instances objects </a:t>
            </a:r>
            <a:r>
              <a:rPr lang="en-US" sz="3600" dirty="0">
                <a:latin typeface="Fira Sans Condensed SemiBold" panose="020B0603050000020004" pitchFamily="34" charset="0"/>
              </a:rPr>
              <a:t>?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22E063BD-09FE-07F6-F3AA-8D4903C83DF9}"/>
              </a:ext>
            </a:extLst>
          </p:cNvPr>
          <p:cNvSpPr txBox="1"/>
          <p:nvPr/>
        </p:nvSpPr>
        <p:spPr>
          <a:xfrm>
            <a:off x="2681443" y="2429337"/>
            <a:ext cx="6829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Yes !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They can even implement interfaces…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… or extend an abstract class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3E47F34-ECFF-0020-9ED4-16B24B2631E3}"/>
              </a:ext>
            </a:extLst>
          </p:cNvPr>
          <p:cNvSpPr txBox="1"/>
          <p:nvPr/>
        </p:nvSpPr>
        <p:spPr>
          <a:xfrm>
            <a:off x="5065090" y="4428663"/>
            <a:ext cx="2061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/>
              <a:t>🎬</a:t>
            </a:r>
            <a:r>
              <a:rPr lang="en-US" sz="2400">
                <a:latin typeface="Fira Sans Condensed SemiBold" panose="020B0603050000020004" pitchFamily="34" charset="0"/>
              </a:rPr>
              <a:t>Demo 04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88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73F-BEBD-6849-3874-92220E53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94B28-9B68-CA78-CA93-860C2CAB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19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036C476-2041-EA3E-BE32-21B6A74622FF}"/>
              </a:ext>
            </a:extLst>
          </p:cNvPr>
          <p:cNvSpPr txBox="1"/>
          <p:nvPr/>
        </p:nvSpPr>
        <p:spPr>
          <a:xfrm>
            <a:off x="2414543" y="490008"/>
            <a:ext cx="7362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Storing </a:t>
            </a:r>
            <a:r>
              <a:rPr lang="en-US" sz="36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Objects</a:t>
            </a:r>
            <a:r>
              <a:rPr lang="en-US" sz="3600">
                <a:latin typeface="Fira Sans Condensed SemiBold" panose="020B0603050000020004" pitchFamily="34" charset="0"/>
              </a:rPr>
              <a:t> in fields/array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2FBCB8AD-FD33-1FFF-1A95-A35F28DC0CB2}"/>
              </a:ext>
            </a:extLst>
          </p:cNvPr>
          <p:cNvSpPr txBox="1"/>
          <p:nvPr/>
        </p:nvSpPr>
        <p:spPr>
          <a:xfrm>
            <a:off x="2753543" y="1624940"/>
            <a:ext cx="6684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Fira Sans Condensed SemiBold" panose="020B0603050000020004" pitchFamily="34" charset="0"/>
              </a:rPr>
              <a:t>It works, but the VM might not be able to optimize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1F403E-CE2C-11A1-EEDF-6BBEB33DE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870" y="2853046"/>
            <a:ext cx="4221170" cy="13234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Ray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Vec3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fr-F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...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133BBD7D-A1C2-CE9B-3151-A2EA44912A15}"/>
              </a:ext>
            </a:extLst>
          </p:cNvPr>
          <p:cNvSpPr txBox="1"/>
          <p:nvPr/>
        </p:nvSpPr>
        <p:spPr>
          <a:xfrm>
            <a:off x="1126222" y="4942927"/>
            <a:ext cx="9939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Reading/storing the value instance </a:t>
            </a:r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origin</a:t>
            </a:r>
            <a:r>
              <a:rPr lang="en-US" sz="2400" dirty="0">
                <a:latin typeface="Fira Sans Condensed SemiBold" panose="020B0603050000020004" pitchFamily="34" charset="0"/>
              </a:rPr>
              <a:t> requires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several reads/writes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The VM spec mandates reference reads/writes to be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atomic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64</a:t>
            </a:r>
            <a:r>
              <a:rPr lang="en-US" sz="2400" dirty="0">
                <a:latin typeface="Fira Sans Condensed SemiBold" panose="020B0603050000020004" pitchFamily="34" charset="0"/>
              </a:rPr>
              <a:t> bit CPU vs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192</a:t>
            </a:r>
            <a:r>
              <a:rPr lang="en-US" sz="2400" dirty="0">
                <a:latin typeface="Fira Sans Condensed SemiBold" panose="020B0603050000020004" pitchFamily="34" charset="0"/>
              </a:rPr>
              <a:t> bits here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82EA566-F41D-5AF0-41B8-243FCA443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605" y="2545270"/>
            <a:ext cx="4221170" cy="193899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Ray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origin_x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    double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origin_y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    double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origin_z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fr-F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...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E8BF781-D795-032C-5C7D-919352ED5F72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17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73F-BEBD-6849-3874-92220E53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94B28-9B68-CA78-CA93-860C2CAB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20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036C476-2041-EA3E-BE32-21B6A74622FF}"/>
              </a:ext>
            </a:extLst>
          </p:cNvPr>
          <p:cNvSpPr txBox="1"/>
          <p:nvPr/>
        </p:nvSpPr>
        <p:spPr>
          <a:xfrm>
            <a:off x="2414543" y="490008"/>
            <a:ext cx="7362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Storing </a:t>
            </a:r>
            <a:r>
              <a:rPr lang="en-US" sz="360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Value Objects</a:t>
            </a:r>
            <a:r>
              <a:rPr lang="en-US" sz="3600">
                <a:latin typeface="Fira Sans Condensed SemiBold" panose="020B0603050000020004" pitchFamily="34" charset="0"/>
              </a:rPr>
              <a:t> in fields/array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82EA566-F41D-5AF0-41B8-243FCA443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415" y="2774325"/>
            <a:ext cx="4221170" cy="224676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Ray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boolean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origin_null</a:t>
            </a:r>
            <a:r>
              <a:rPr lang="fr-FR" altLang="fr-FR" sz="2000" dirty="0">
                <a:solidFill>
                  <a:srgbClr val="871094"/>
                </a:solidFill>
                <a:latin typeface="Consolas" panose="020B0609020204030204" pitchFamily="49" charset="0"/>
              </a:rPr>
              <a:t>;</a:t>
            </a:r>
            <a:endParaRPr lang="fr-FR" altLang="fr-FR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origin_x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    double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origin_y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33B3"/>
                </a:solidFill>
                <a:latin typeface="Consolas" panose="020B0609020204030204" pitchFamily="49" charset="0"/>
              </a:rPr>
              <a:t>    double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altLang="fr-FR" sz="2000" dirty="0" err="1">
                <a:solidFill>
                  <a:srgbClr val="871094"/>
                </a:solidFill>
                <a:latin typeface="Consolas" panose="020B0609020204030204" pitchFamily="49" charset="0"/>
              </a:rPr>
              <a:t>origin_z</a:t>
            </a: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altLang="fr-F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...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3EB0CBE-9B9A-ED1A-B2C3-9358716562EB}"/>
              </a:ext>
            </a:extLst>
          </p:cNvPr>
          <p:cNvSpPr txBox="1"/>
          <p:nvPr/>
        </p:nvSpPr>
        <p:spPr>
          <a:xfrm>
            <a:off x="2267761" y="2001738"/>
            <a:ext cx="7656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latin typeface="Fira Sans Condensed SemiBold" panose="020B0603050000020004" pitchFamily="34" charset="0"/>
              </a:rPr>
              <a:t>  marker required : 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7</a:t>
            </a:r>
            <a:r>
              <a:rPr lang="en-US" sz="2400" dirty="0">
                <a:latin typeface="Fira Sans Condensed SemiBold" panose="020B0603050000020004" pitchFamily="34" charset="0"/>
              </a:rPr>
              <a:t> bytes of useful payload (</a:t>
            </a:r>
            <a:r>
              <a:rPr lang="en-US" sz="2400" dirty="0">
                <a:solidFill>
                  <a:schemeClr val="accent1"/>
                </a:solidFill>
                <a:latin typeface="Fira Sans Condensed SemiBold" panose="020B0603050000020004" pitchFamily="34" charset="0"/>
              </a:rPr>
              <a:t>56</a:t>
            </a:r>
            <a:r>
              <a:rPr lang="en-US" sz="2400" dirty="0">
                <a:latin typeface="Fira Sans Condensed SemiBold" panose="020B0603050000020004" pitchFamily="34" charset="0"/>
              </a:rPr>
              <a:t> bits)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D6A652D-28C9-2507-9AD3-42AA7AFDE9F3}"/>
              </a:ext>
            </a:extLst>
          </p:cNvPr>
          <p:cNvSpPr/>
          <p:nvPr/>
        </p:nvSpPr>
        <p:spPr>
          <a:xfrm>
            <a:off x="43774" y="6602176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239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73F-BEBD-6849-3874-92220E53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94B28-9B68-CA78-CA93-860C2CAB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21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036C476-2041-EA3E-BE32-21B6A74622FF}"/>
              </a:ext>
            </a:extLst>
          </p:cNvPr>
          <p:cNvSpPr txBox="1"/>
          <p:nvPr/>
        </p:nvSpPr>
        <p:spPr>
          <a:xfrm>
            <a:off x="2520342" y="490008"/>
            <a:ext cx="7151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Flattening on heap : storing </a:t>
            </a:r>
            <a:r>
              <a:rPr lang="en-US" sz="3600" dirty="0">
                <a:solidFill>
                  <a:srgbClr val="0033B3"/>
                </a:solidFill>
                <a:latin typeface="Consolas" panose="020B0609020204030204" pitchFamily="49" charset="0"/>
              </a:rPr>
              <a:t>Vec3[]</a:t>
            </a:r>
            <a:r>
              <a:rPr lang="en-US" sz="3600" dirty="0">
                <a:latin typeface="Fira Sans Condensed SemiBold" panose="020B0603050000020004" pitchFamily="34" charset="0"/>
              </a:rPr>
              <a:t> 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15C2D2A-278C-3769-3406-C9383C4B605B}"/>
              </a:ext>
            </a:extLst>
          </p:cNvPr>
          <p:cNvSpPr txBox="1"/>
          <p:nvPr/>
        </p:nvSpPr>
        <p:spPr>
          <a:xfrm>
            <a:off x="2753543" y="1425850"/>
            <a:ext cx="6684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33B3"/>
                </a:solidFill>
                <a:latin typeface="Consolas" panose="020B0609020204030204" pitchFamily="49" charset="0"/>
              </a:rPr>
              <a:t>Vec3</a:t>
            </a:r>
            <a:r>
              <a:rPr lang="en-US" sz="2400" dirty="0">
                <a:latin typeface="Fira Sans Condensed SemiBold" panose="020B0603050000020004" pitchFamily="34" charset="0"/>
              </a:rPr>
              <a:t> is too “large” to be flattened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74C75F7-CE93-85B8-65D6-30D9A636572A}"/>
              </a:ext>
            </a:extLst>
          </p:cNvPr>
          <p:cNvGrpSpPr/>
          <p:nvPr/>
        </p:nvGrpSpPr>
        <p:grpSpPr>
          <a:xfrm>
            <a:off x="958332" y="3478862"/>
            <a:ext cx="5536429" cy="861775"/>
            <a:chOff x="2452539" y="3511139"/>
            <a:chExt cx="5536429" cy="861775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070AD4D8-8E1B-D8D7-2BD4-1FE3F899E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39" y="3972804"/>
              <a:ext cx="5536428" cy="4001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record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Vec3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byte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byte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byte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z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) {}</a:t>
              </a:r>
              <a:endParaRPr kumimoji="0" lang="fr-FR" altLang="fr-FR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F924E763-506C-1E29-EFBC-5CDF97E74A5A}"/>
                </a:ext>
              </a:extLst>
            </p:cNvPr>
            <p:cNvSpPr txBox="1"/>
            <p:nvPr/>
          </p:nvSpPr>
          <p:spPr>
            <a:xfrm>
              <a:off x="2753542" y="3511139"/>
              <a:ext cx="52354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Fira Sans Condensed SemiBold" panose="020B0603050000020004" pitchFamily="34" charset="0"/>
                </a:rPr>
                <a:t>A cheap version can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03A529-8E05-2E17-D67B-FEC07812CD6A}"/>
              </a:ext>
            </a:extLst>
          </p:cNvPr>
          <p:cNvGrpSpPr/>
          <p:nvPr/>
        </p:nvGrpSpPr>
        <p:grpSpPr>
          <a:xfrm>
            <a:off x="8533276" y="2207290"/>
            <a:ext cx="1502768" cy="4266694"/>
            <a:chOff x="710739" y="2694253"/>
            <a:chExt cx="1502768" cy="4266694"/>
          </a:xfrm>
        </p:grpSpPr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9688BB31-798B-2949-7407-6DBF3A35F69E}"/>
                </a:ext>
              </a:extLst>
            </p:cNvPr>
            <p:cNvSpPr txBox="1"/>
            <p:nvPr/>
          </p:nvSpPr>
          <p:spPr>
            <a:xfrm>
              <a:off x="860035" y="2694253"/>
              <a:ext cx="1204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</a:rPr>
                <a:t>Vec3[]</a:t>
              </a:r>
              <a:endParaRPr lang="fr-FR" sz="2400" dirty="0">
                <a:latin typeface="Consolas" panose="020B0609020204030204" pitchFamily="49" charset="0"/>
              </a:endParaRPr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CEB5CBB7-0271-E443-10CE-30B526F1CFB5}"/>
                </a:ext>
              </a:extLst>
            </p:cNvPr>
            <p:cNvGrpSpPr/>
            <p:nvPr/>
          </p:nvGrpSpPr>
          <p:grpSpPr>
            <a:xfrm>
              <a:off x="710739" y="3155918"/>
              <a:ext cx="1502768" cy="3805029"/>
              <a:chOff x="5344616" y="2160015"/>
              <a:chExt cx="1502768" cy="3805029"/>
            </a:xfrm>
          </p:grpSpPr>
          <p:grpSp>
            <p:nvGrpSpPr>
              <p:cNvPr id="11" name="Groupe 10">
                <a:extLst>
                  <a:ext uri="{FF2B5EF4-FFF2-40B4-BE49-F238E27FC236}">
                    <a16:creationId xmlns:a16="http://schemas.microsoft.com/office/drawing/2014/main" id="{DC737E34-2B07-815C-545B-19F50F406012}"/>
                  </a:ext>
                </a:extLst>
              </p:cNvPr>
              <p:cNvGrpSpPr/>
              <p:nvPr/>
            </p:nvGrpSpPr>
            <p:grpSpPr>
              <a:xfrm>
                <a:off x="5344616" y="2160015"/>
                <a:ext cx="1502768" cy="3805029"/>
                <a:chOff x="1331843" y="1855304"/>
                <a:chExt cx="1345096" cy="3805029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A4A4E52-3CEB-C44B-7DEE-43C71689AFB0}"/>
                    </a:ext>
                  </a:extLst>
                </p:cNvPr>
                <p:cNvSpPr/>
                <p:nvPr/>
              </p:nvSpPr>
              <p:spPr>
                <a:xfrm>
                  <a:off x="1331843" y="1855304"/>
                  <a:ext cx="1345096" cy="52346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Consolas" panose="020B0609020204030204" pitchFamily="49" charset="0"/>
                    </a:rPr>
                    <a:t>Header</a:t>
                  </a:r>
                  <a:endParaRPr lang="fr-FR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C82633F9-877F-EA0B-367D-4853D61A0282}"/>
                    </a:ext>
                  </a:extLst>
                </p:cNvPr>
                <p:cNvSpPr/>
                <p:nvPr/>
              </p:nvSpPr>
              <p:spPr>
                <a:xfrm>
                  <a:off x="1331843" y="2378765"/>
                  <a:ext cx="1345096" cy="35118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Consolas" panose="020B0609020204030204" pitchFamily="49" charset="0"/>
                    </a:rPr>
                    <a:t>x</a:t>
                  </a:r>
                  <a:endParaRPr lang="fr-FR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2B035FF-2607-E4F5-2752-5EB14A38712D}"/>
                    </a:ext>
                  </a:extLst>
                </p:cNvPr>
                <p:cNvSpPr/>
                <p:nvPr/>
              </p:nvSpPr>
              <p:spPr>
                <a:xfrm>
                  <a:off x="1331843" y="2729948"/>
                  <a:ext cx="1345096" cy="35118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Consolas" panose="020B0609020204030204" pitchFamily="49" charset="0"/>
                    </a:rPr>
                    <a:t>y</a:t>
                  </a:r>
                  <a:endParaRPr lang="fr-FR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4E60E47-3AB5-D9E8-B520-0073D859B515}"/>
                    </a:ext>
                  </a:extLst>
                </p:cNvPr>
                <p:cNvSpPr/>
                <p:nvPr/>
              </p:nvSpPr>
              <p:spPr>
                <a:xfrm>
                  <a:off x="1331843" y="3077817"/>
                  <a:ext cx="1345096" cy="35118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Consolas" panose="020B0609020204030204" pitchFamily="49" charset="0"/>
                    </a:rPr>
                    <a:t>z</a:t>
                  </a:r>
                  <a:endParaRPr lang="fr-FR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D722396-DF5E-1A71-7121-8756E7E79EA1}"/>
                    </a:ext>
                  </a:extLst>
                </p:cNvPr>
                <p:cNvSpPr/>
                <p:nvPr/>
              </p:nvSpPr>
              <p:spPr>
                <a:xfrm>
                  <a:off x="1331843" y="5521185"/>
                  <a:ext cx="1345096" cy="13914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04077CD-57BC-FFC6-4A85-322701B81360}"/>
                  </a:ext>
                </a:extLst>
              </p:cNvPr>
              <p:cNvSpPr/>
              <p:nvPr/>
            </p:nvSpPr>
            <p:spPr>
              <a:xfrm>
                <a:off x="5344616" y="4079923"/>
                <a:ext cx="1502768" cy="3511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x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9305327-AC04-6E05-7491-627A805B1418}"/>
                  </a:ext>
                </a:extLst>
              </p:cNvPr>
              <p:cNvSpPr/>
              <p:nvPr/>
            </p:nvSpPr>
            <p:spPr>
              <a:xfrm>
                <a:off x="5344616" y="4431106"/>
                <a:ext cx="1502768" cy="3511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y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3EF0DD-F5AF-9D89-55F6-322B576A045B}"/>
                  </a:ext>
                </a:extLst>
              </p:cNvPr>
              <p:cNvSpPr/>
              <p:nvPr/>
            </p:nvSpPr>
            <p:spPr>
              <a:xfrm>
                <a:off x="5344616" y="4778975"/>
                <a:ext cx="1502768" cy="3511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</a:rPr>
                  <a:t>z</a:t>
                </a:r>
                <a:endParaRPr lang="fr-FR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121AF1-75F7-0650-C361-A0601375ABED}"/>
                  </a:ext>
                </a:extLst>
              </p:cNvPr>
              <p:cNvSpPr/>
              <p:nvPr/>
            </p:nvSpPr>
            <p:spPr>
              <a:xfrm>
                <a:off x="5344616" y="5478027"/>
                <a:ext cx="1502768" cy="35118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Consolas" panose="020B0609020204030204" pitchFamily="49" charset="0"/>
                  </a:rPr>
                  <a:t>…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B65101-BA0E-2AEC-AC56-3FA79363B269}"/>
                </a:ext>
              </a:extLst>
            </p:cNvPr>
            <p:cNvSpPr/>
            <p:nvPr/>
          </p:nvSpPr>
          <p:spPr>
            <a:xfrm>
              <a:off x="710739" y="4727957"/>
              <a:ext cx="1502768" cy="3511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latin typeface="Consolas" panose="020B0609020204030204" pitchFamily="49" charset="0"/>
                </a:rPr>
                <a:t>null_marker</a:t>
              </a:r>
              <a:endParaRPr lang="fr-FR" sz="1600" dirty="0">
                <a:latin typeface="Consolas" panose="020B06090202040302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1C69D66-70F9-596F-D3A1-4ED8C2342667}"/>
                </a:ext>
              </a:extLst>
            </p:cNvPr>
            <p:cNvSpPr/>
            <p:nvPr/>
          </p:nvSpPr>
          <p:spPr>
            <a:xfrm>
              <a:off x="710739" y="6126061"/>
              <a:ext cx="1502768" cy="35118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Consolas" panose="020B0609020204030204" pitchFamily="49" charset="0"/>
                </a:rPr>
                <a:t>null_marker</a:t>
              </a:r>
              <a:endParaRPr lang="fr-FR" sz="1600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57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78C9-D527-4707-96C7-022193C3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3C4A9-5841-7515-5FFF-7EFC7910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22</a:t>
            </a:fld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F425E-FC57-B3F5-24AB-108B23FFF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38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E332-B134-7554-2F12-E8DF14FC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E95868F-3048-77AB-E274-DBA1768EF1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B0055-0FFA-B157-7C03-62A5BF65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23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706AC4D-FEF8-088C-C5C7-2BF2635AB28C}"/>
              </a:ext>
            </a:extLst>
          </p:cNvPr>
          <p:cNvSpPr txBox="1"/>
          <p:nvPr/>
        </p:nvSpPr>
        <p:spPr>
          <a:xfrm>
            <a:off x="1741283" y="5766532"/>
            <a:ext cx="8709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2"/>
                </a:solidFill>
                <a:latin typeface="Fira Sans Condensed SemiBold" panose="020B0603050000020004" pitchFamily="34" charset="0"/>
              </a:rPr>
              <a:t>Let’s generate a proper blackhole, shall we ?</a:t>
            </a:r>
            <a:endParaRPr lang="fr-FR" sz="3600" dirty="0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B9C46D8C-6F7B-6469-63DA-476129B0F557}"/>
              </a:ext>
            </a:extLst>
          </p:cNvPr>
          <p:cNvSpPr txBox="1">
            <a:spLocks/>
          </p:cNvSpPr>
          <p:nvPr/>
        </p:nvSpPr>
        <p:spPr>
          <a:xfrm>
            <a:off x="9449844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Fira Sans Condensed SemiBold" panose="020B0603050000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FBCAFE-9BA5-4F25-83BC-8351B4665D24}" type="slidenum">
              <a:rPr lang="fr-FR" smtClean="0">
                <a:solidFill>
                  <a:schemeClr val="bg2"/>
                </a:solidFill>
              </a:rPr>
              <a:pPr/>
              <a:t>23</a:t>
            </a:fld>
            <a:endParaRPr lang="fr-FR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446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7A99-3222-AC27-12F7-F2CB58F3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CCED2D-A115-D0DE-A2E3-3140078F2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9184"/>
            <a:ext cx="1219200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A333F-1D41-4FA0-4BD3-9E31334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>
                <a:solidFill>
                  <a:schemeClr val="bg2"/>
                </a:solidFill>
              </a:rPr>
              <a:t>24</a:t>
            </a:fld>
            <a:endParaRPr lang="fr-FR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04B39-9DF1-0958-4E9D-56B7378F4005}"/>
              </a:ext>
            </a:extLst>
          </p:cNvPr>
          <p:cNvSpPr txBox="1"/>
          <p:nvPr/>
        </p:nvSpPr>
        <p:spPr>
          <a:xfrm>
            <a:off x="543140" y="399448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  <a:t>camera</a:t>
            </a:r>
            <a:endParaRPr lang="fr-FR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CA29D-CE20-E014-3AED-68E50EB35EC1}"/>
              </a:ext>
            </a:extLst>
          </p:cNvPr>
          <p:cNvSpPr txBox="1"/>
          <p:nvPr/>
        </p:nvSpPr>
        <p:spPr>
          <a:xfrm>
            <a:off x="3012479" y="5405044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  <a:t>image</a:t>
            </a:r>
            <a:b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</a:br>
            <a:r>
              <a:rPr lang="en-US" i="1">
                <a:solidFill>
                  <a:schemeClr val="bg2"/>
                </a:solidFill>
                <a:latin typeface="Fira Sans Condensed SemiBold" panose="020B0603050000020004" pitchFamily="34" charset="0"/>
              </a:rPr>
              <a:t>1 ray / pixel</a:t>
            </a:r>
            <a:endParaRPr lang="fr-FR" i="1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37E9D-C03F-C07F-D835-74F8148A2D57}"/>
              </a:ext>
            </a:extLst>
          </p:cNvPr>
          <p:cNvSpPr txBox="1"/>
          <p:nvPr/>
        </p:nvSpPr>
        <p:spPr>
          <a:xfrm>
            <a:off x="9069518" y="1273229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  <a:t>photon sphere</a:t>
            </a:r>
            <a:endParaRPr lang="fr-FR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94CD94-36E8-67E2-9E05-F01E11AB04A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9563386" y="1642561"/>
            <a:ext cx="301382" cy="50249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28539F-A4D8-D407-6200-B8E9BB39498B}"/>
              </a:ext>
            </a:extLst>
          </p:cNvPr>
          <p:cNvSpPr txBox="1"/>
          <p:nvPr/>
        </p:nvSpPr>
        <p:spPr>
          <a:xfrm>
            <a:off x="5410930" y="783478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  <a:t>ray-marching step</a:t>
            </a:r>
            <a:endParaRPr lang="fr-FR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FFDA0C2-5B68-488C-8295-E98087B9B938}"/>
              </a:ext>
            </a:extLst>
          </p:cNvPr>
          <p:cNvSpPr/>
          <p:nvPr/>
        </p:nvSpPr>
        <p:spPr>
          <a:xfrm rot="16385211">
            <a:off x="6288867" y="955554"/>
            <a:ext cx="180876" cy="607859"/>
          </a:xfrm>
          <a:prstGeom prst="rightBrac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367073-E4E6-2EE8-6296-EC0DEA9DEF2F}"/>
              </a:ext>
            </a:extLst>
          </p:cNvPr>
          <p:cNvSpPr txBox="1"/>
          <p:nvPr/>
        </p:nvSpPr>
        <p:spPr>
          <a:xfrm>
            <a:off x="6070946" y="457417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  <a:t>accretion disk</a:t>
            </a:r>
            <a:endParaRPr lang="fr-FR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8EA53A-0B01-2359-9EFC-B77F70FDA803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6836540" y="3667565"/>
            <a:ext cx="444284" cy="9066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2AAAE6A-A24B-2990-C09A-4C7CEF3F762D}"/>
              </a:ext>
            </a:extLst>
          </p:cNvPr>
          <p:cNvSpPr txBox="1"/>
          <p:nvPr/>
        </p:nvSpPr>
        <p:spPr>
          <a:xfrm>
            <a:off x="9894121" y="5215439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Fira Sans Condensed SemiBold" panose="020B0603050000020004" pitchFamily="34" charset="0"/>
              </a:rPr>
              <a:t>event horizon</a:t>
            </a:r>
            <a:endParaRPr lang="fr-FR">
              <a:solidFill>
                <a:schemeClr val="bg2"/>
              </a:solidFill>
              <a:latin typeface="Fira Sans Condensed SemiBold" panose="020B06030500000200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DEAA7B-E0E5-3C4F-2C00-F13C8CCCF1FB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9449844" y="4120869"/>
            <a:ext cx="1190635" cy="109457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385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8613-08E0-BD74-9A67-DB5B2D75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6EEC2D-2D02-B68C-DE54-C456414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25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38C4249D-E540-B4B0-C3DC-535FDE9F9899}"/>
              </a:ext>
            </a:extLst>
          </p:cNvPr>
          <p:cNvSpPr txBox="1"/>
          <p:nvPr/>
        </p:nvSpPr>
        <p:spPr>
          <a:xfrm>
            <a:off x="3411617" y="490008"/>
            <a:ext cx="5368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Defining the Domain Model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4B02D644-FFBD-1C50-CF49-899C86865A0B}"/>
              </a:ext>
            </a:extLst>
          </p:cNvPr>
          <p:cNvGrpSpPr/>
          <p:nvPr/>
        </p:nvGrpSpPr>
        <p:grpSpPr>
          <a:xfrm>
            <a:off x="1773827" y="5074495"/>
            <a:ext cx="8644344" cy="890652"/>
            <a:chOff x="1773827" y="5210682"/>
            <a:chExt cx="8644344" cy="890652"/>
          </a:xfrm>
        </p:grpSpPr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EAF201C6-28DE-58EB-2DAD-6A4DEF48AC00}"/>
                </a:ext>
              </a:extLst>
            </p:cNvPr>
            <p:cNvSpPr txBox="1"/>
            <p:nvPr/>
          </p:nvSpPr>
          <p:spPr>
            <a:xfrm>
              <a:off x="1773827" y="5210682"/>
              <a:ext cx="864434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Fira Sans Condensed SemiBold" panose="020B0603050000020004" pitchFamily="34" charset="0"/>
                </a:rPr>
                <a:t>Accumulate encountered light and produce the pixel’s final </a:t>
              </a:r>
              <a:r>
                <a:rPr lang="en-US" sz="24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Color</a:t>
              </a:r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1CE785D7-A4B9-7FAD-D5DC-0D295C60F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39" y="5701224"/>
              <a:ext cx="7286920" cy="4001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record 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Color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fr-FR" altLang="fr-FR" sz="2000">
                  <a:solidFill>
                    <a:srgbClr val="0033B3"/>
                  </a:solidFill>
                  <a:latin typeface="Consolas" panose="020B0609020204030204" pitchFamily="49" charset="0"/>
                </a:rPr>
                <a:t>double </a:t>
              </a:r>
              <a:r>
                <a:rPr lang="fr-FR" altLang="fr-FR" sz="2000">
                  <a:solidFill>
                    <a:srgbClr val="871094"/>
                  </a:solidFill>
                  <a:latin typeface="Consolas" panose="020B0609020204030204" pitchFamily="49" charset="0"/>
                </a:rPr>
                <a:t>r</a:t>
              </a:r>
              <a:r>
                <a:rPr lang="fr-FR" altLang="fr-FR" sz="2000">
                  <a:solidFill>
                    <a:srgbClr val="080808"/>
                  </a:solidFill>
                  <a:latin typeface="Consolas" panose="020B0609020204030204" pitchFamily="49" charset="0"/>
                </a:rPr>
                <a:t>, </a:t>
              </a:r>
              <a:r>
                <a:rPr lang="fr-FR" altLang="fr-FR" sz="2000">
                  <a:solidFill>
                    <a:srgbClr val="0033B3"/>
                  </a:solidFill>
                  <a:latin typeface="Consolas" panose="020B0609020204030204" pitchFamily="49" charset="0"/>
                </a:rPr>
                <a:t>double </a:t>
              </a:r>
              <a:r>
                <a:rPr lang="fr-FR" altLang="fr-FR" sz="2000">
                  <a:solidFill>
                    <a:srgbClr val="871094"/>
                  </a:solidFill>
                  <a:latin typeface="Consolas" panose="020B0609020204030204" pitchFamily="49" charset="0"/>
                </a:rPr>
                <a:t>g</a:t>
              </a:r>
              <a:r>
                <a:rPr lang="fr-FR" altLang="fr-FR" sz="2000">
                  <a:solidFill>
                    <a:srgbClr val="080808"/>
                  </a:solidFill>
                  <a:latin typeface="Consolas" panose="020B0609020204030204" pitchFamily="49" charset="0"/>
                </a:rPr>
                <a:t>, </a:t>
              </a:r>
              <a:r>
                <a:rPr lang="fr-FR" altLang="fr-FR" sz="2000">
                  <a:solidFill>
                    <a:srgbClr val="0033B3"/>
                  </a:solidFill>
                  <a:latin typeface="Consolas" panose="020B0609020204030204" pitchFamily="49" charset="0"/>
                </a:rPr>
                <a:t>double </a:t>
              </a:r>
              <a:r>
                <a:rPr lang="fr-FR" altLang="fr-FR" sz="2000">
                  <a:solidFill>
                    <a:srgbClr val="871094"/>
                  </a:solidFill>
                  <a:latin typeface="Consolas" panose="020B0609020204030204" pitchFamily="49" charset="0"/>
                </a:rPr>
                <a:t>b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{}</a:t>
              </a:r>
              <a:endParaRPr kumimoji="0" lang="fr-FR" altLang="fr-FR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226FAFF-3F63-286C-AECB-314D123D14E5}"/>
              </a:ext>
            </a:extLst>
          </p:cNvPr>
          <p:cNvGrpSpPr/>
          <p:nvPr/>
        </p:nvGrpSpPr>
        <p:grpSpPr>
          <a:xfrm>
            <a:off x="2452539" y="1837560"/>
            <a:ext cx="7286920" cy="914939"/>
            <a:chOff x="2452539" y="1875349"/>
            <a:chExt cx="7286920" cy="914939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7B9E3728-5C13-7F5B-9C72-4C6B88A9A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39" y="2390178"/>
              <a:ext cx="7286920" cy="4001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record 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Ray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fr-FR" altLang="fr-FR" sz="2000">
                  <a:solidFill>
                    <a:srgbClr val="000000"/>
                  </a:solidFill>
                  <a:latin typeface="Consolas" panose="020B0609020204030204" pitchFamily="49" charset="0"/>
                </a:rPr>
                <a:t>Vec3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origin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fr-FR" altLang="fr-FR" sz="2000">
                  <a:solidFill>
                    <a:srgbClr val="000000"/>
                  </a:solidFill>
                  <a:latin typeface="Consolas" panose="020B0609020204030204" pitchFamily="49" charset="0"/>
                </a:rPr>
                <a:t>Vec3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direction</a:t>
              </a:r>
              <a:r>
                <a:rPr kumimoji="0" lang="fr-FR" altLang="fr-FR" sz="2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{}</a:t>
              </a:r>
              <a:endParaRPr kumimoji="0" lang="fr-FR" altLang="fr-FR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29A5C77-880A-CE38-B38C-094C5935E6E5}"/>
                </a:ext>
              </a:extLst>
            </p:cNvPr>
            <p:cNvSpPr txBox="1"/>
            <p:nvPr/>
          </p:nvSpPr>
          <p:spPr>
            <a:xfrm>
              <a:off x="3046379" y="1875349"/>
              <a:ext cx="609924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ira Sans Condensed SemiBold" panose="020B0603050000020004" pitchFamily="34" charset="0"/>
                  <a:ea typeface="+mn-ea"/>
                  <a:cs typeface="+mn-cs"/>
                </a:rPr>
                <a:t>Trace millions of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Ray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ira Sans Condensed SemiBold" panose="020B0603050000020004" pitchFamily="34" charset="0"/>
                  <a:ea typeface="+mn-ea"/>
                  <a:cs typeface="+mn-cs"/>
                </a:rPr>
                <a:t> from the camera 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64864278-88EB-D11B-BA2C-C690294B0D7C}"/>
              </a:ext>
            </a:extLst>
          </p:cNvPr>
          <p:cNvGrpSpPr/>
          <p:nvPr/>
        </p:nvGrpSpPr>
        <p:grpSpPr>
          <a:xfrm>
            <a:off x="2180617" y="3453720"/>
            <a:ext cx="7830765" cy="919194"/>
            <a:chOff x="2180617" y="3453720"/>
            <a:chExt cx="7830765" cy="919194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161A580C-5E28-E439-3273-1AD4A8DCA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39" y="3972804"/>
              <a:ext cx="7286920" cy="4001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record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Vec3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double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double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</a:rPr>
                <a:t>double 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</a:rPr>
                <a:t>z</a:t>
              </a:r>
              <a:r>
                <a: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</a:rPr>
                <a:t>) {}</a:t>
              </a:r>
              <a:endParaRPr kumimoji="0" lang="fr-FR" altLang="fr-FR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3E0458FA-647B-459C-BD13-B0E858412638}"/>
                </a:ext>
              </a:extLst>
            </p:cNvPr>
            <p:cNvSpPr txBox="1"/>
            <p:nvPr/>
          </p:nvSpPr>
          <p:spPr>
            <a:xfrm>
              <a:off x="2180617" y="3453720"/>
              <a:ext cx="783076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ira Sans Condensed SemiBold" panose="020B0603050000020004" pitchFamily="34" charset="0"/>
                  <a:ea typeface="+mn-ea"/>
                  <a:cs typeface="+mn-cs"/>
                </a:rPr>
                <a:t>Use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B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Vec3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ira Sans Condensed SemiBold" panose="020B0603050000020004" pitchFamily="34" charset="0"/>
                  <a:ea typeface="+mn-ea"/>
                  <a:cs typeface="+mn-cs"/>
                </a:rPr>
                <a:t> to represent and update positions and directions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13998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8613-08E0-BD74-9A67-DB5B2D75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6EEC2D-2D02-B68C-DE54-C456414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26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38C4249D-E540-B4B0-C3DC-535FDE9F9899}"/>
              </a:ext>
            </a:extLst>
          </p:cNvPr>
          <p:cNvSpPr txBox="1"/>
          <p:nvPr/>
        </p:nvSpPr>
        <p:spPr>
          <a:xfrm>
            <a:off x="3411617" y="490008"/>
            <a:ext cx="5368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Defining the Domain Model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1A580C-5E28-E439-3273-1AD4A8DCA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991" y="1389310"/>
            <a:ext cx="9572017" cy="532453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value record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 o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new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Vec3(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 o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new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Vec3(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Vec3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new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Vec3(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mag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2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0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271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7D6D-117F-B43E-4D41-47D36309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6F527-AC4A-0E38-4B45-594B359B99B6}"/>
              </a:ext>
            </a:extLst>
          </p:cNvPr>
          <p:cNvSpPr txBox="1"/>
          <p:nvPr/>
        </p:nvSpPr>
        <p:spPr>
          <a:xfrm>
            <a:off x="4940876" y="1508596"/>
            <a:ext cx="2310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latin typeface="Fira Sans Condensed SemiBold" panose="020B0603050000020004" pitchFamily="34" charset="0"/>
              </a:rPr>
              <a:t>Identity vs Value</a:t>
            </a:r>
            <a:endParaRPr lang="fr-FR" sz="2400">
              <a:latin typeface="Fira Sans Condensed SemiBold" panose="020B060305000002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B3C1C-33AD-9FA6-E394-614F0D9B1EE3}"/>
              </a:ext>
            </a:extLst>
          </p:cNvPr>
          <p:cNvSpPr txBox="1"/>
          <p:nvPr/>
        </p:nvSpPr>
        <p:spPr>
          <a:xfrm>
            <a:off x="1196281" y="2378890"/>
            <a:ext cx="979943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u="sng">
                <a:latin typeface="Consolas" panose="020B0609020204030204" pitchFamily="49" charset="0"/>
              </a:rPr>
              <a:t>Benchmark                 Mode  Cnt          Score    Error   Units</a:t>
            </a:r>
            <a:br>
              <a:rPr lang="fr-FR" sz="2000" u="sng">
                <a:latin typeface="Consolas" panose="020B0609020204030204" pitchFamily="49" charset="0"/>
              </a:rPr>
            </a:br>
            <a:endParaRPr lang="fr-FR" sz="2000" u="sng">
              <a:latin typeface="Consolas" panose="020B0609020204030204" pitchFamily="49" charset="0"/>
            </a:endParaRPr>
          </a:p>
          <a:p>
            <a:r>
              <a:rPr lang="fr-FR" sz="200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renderWithIdentity        avgt    5         52,593 ±  1,389   ms/op</a:t>
            </a:r>
          </a:p>
          <a:p>
            <a:r>
              <a:rPr lang="fr-FR" sz="200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gc.alloc.rate             avgt    5       2022,373 ± 53,553  MB/sec</a:t>
            </a:r>
          </a:p>
          <a:p>
            <a:r>
              <a:rPr lang="fr-FR" sz="200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gc.count                  avgt    5        128,000           counts</a:t>
            </a:r>
          </a:p>
          <a:p>
            <a:r>
              <a:rPr lang="fr-FR" sz="200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gc.time                   avgt    5         51,000               ms</a:t>
            </a:r>
          </a:p>
          <a:p>
            <a:endParaRPr lang="fr-FR" sz="2000">
              <a:latin typeface="Consolas" panose="020B0609020204030204" pitchFamily="49" charset="0"/>
            </a:endParaRPr>
          </a:p>
          <a:p>
            <a:r>
              <a:rPr lang="fr-FR" sz="20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renderWithValue           avgt    5         48,566 ±  1,727   ms/op</a:t>
            </a:r>
          </a:p>
          <a:p>
            <a:r>
              <a:rPr lang="fr-FR" sz="20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gc.alloc.rate             avgt    5          4,151 ±  0,147  MB/sec</a:t>
            </a:r>
          </a:p>
          <a:p>
            <a:r>
              <a:rPr lang="fr-FR" sz="20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gc.count                  avgt    5            ≈ 0           counts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A3B12-534F-64E7-98A3-584C6A62F7B4}"/>
              </a:ext>
            </a:extLst>
          </p:cNvPr>
          <p:cNvSpPr txBox="1"/>
          <p:nvPr/>
        </p:nvSpPr>
        <p:spPr>
          <a:xfrm>
            <a:off x="4928048" y="463504"/>
            <a:ext cx="233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Benchmark</a:t>
            </a:r>
            <a:endParaRPr lang="fr-FR" sz="3600">
              <a:latin typeface="Fira Sans Condensed SemiBold" panose="020B06030500000200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583F3-3EB9-FAB3-4F35-E7CFA3DC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83FBCAFE-9BA5-4F25-83BC-8351B4665D24}" type="slidenum">
              <a:rPr lang="fr-FR" smtClean="0"/>
              <a:t>27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3781554-B900-5704-E2A0-F3E7F3C51F6F}"/>
              </a:ext>
            </a:extLst>
          </p:cNvPr>
          <p:cNvSpPr/>
          <p:nvPr/>
        </p:nvSpPr>
        <p:spPr>
          <a:xfrm>
            <a:off x="43774" y="661190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55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D85D-5E8C-D4CC-A4F8-9A89FABF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BE3330-0952-87D5-7C09-C7A19BF216AD}"/>
              </a:ext>
            </a:extLst>
          </p:cNvPr>
          <p:cNvSpPr txBox="1"/>
          <p:nvPr/>
        </p:nvSpPr>
        <p:spPr>
          <a:xfrm>
            <a:off x="5251858" y="359770"/>
            <a:ext cx="1688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Identity</a:t>
            </a:r>
            <a:endParaRPr lang="fr-FR" sz="3600">
              <a:latin typeface="Fira Sans Condensed SemiBold" panose="020B06030500000200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01F543-7508-E795-3099-BB3A16CF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28</a:t>
            </a:fld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8D8A8-1918-398D-80F3-F9626AF9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980"/>
            <a:ext cx="12192000" cy="541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7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C116-8761-0BA1-5D8C-3B4F4CA1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DA9582-5CE7-27C9-1D6F-0A70A686BE9F}"/>
              </a:ext>
            </a:extLst>
          </p:cNvPr>
          <p:cNvSpPr txBox="1"/>
          <p:nvPr/>
        </p:nvSpPr>
        <p:spPr>
          <a:xfrm>
            <a:off x="5469867" y="359770"/>
            <a:ext cx="1252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Value</a:t>
            </a:r>
            <a:endParaRPr lang="fr-FR" sz="3600">
              <a:latin typeface="Fira Sans Condensed SemiBold" panose="020B06030500000200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44CE8-5284-3BB7-0102-1E625B9A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29</a:t>
            </a:fld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392ED-488B-B9A3-BF50-E89549DA3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101"/>
            <a:ext cx="12192000" cy="54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28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5D2B-C30E-7AC6-AE6B-F118DC7B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9">
            <a:extLst>
              <a:ext uri="{FF2B5EF4-FFF2-40B4-BE49-F238E27FC236}">
                <a16:creationId xmlns:a16="http://schemas.microsoft.com/office/drawing/2014/main" id="{A35402DB-77AE-FD8E-387D-76BA8F479D90}"/>
              </a:ext>
            </a:extLst>
          </p:cNvPr>
          <p:cNvSpPr txBox="1"/>
          <p:nvPr/>
        </p:nvSpPr>
        <p:spPr>
          <a:xfrm>
            <a:off x="1668379" y="3105835"/>
            <a:ext cx="88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This is not </a:t>
            </a:r>
            <a:r>
              <a:rPr lang="en-US" sz="3600" i="1">
                <a:latin typeface="Fira Sans Condensed SemiBold" panose="020B0603050000020004" pitchFamily="34" charset="0"/>
              </a:rPr>
              <a:t>“just”</a:t>
            </a:r>
            <a:r>
              <a:rPr lang="en-US" sz="3600">
                <a:latin typeface="Fira Sans Condensed SemiBold" panose="020B0603050000020004" pitchFamily="34" charset="0"/>
              </a:rPr>
              <a:t> a performance improvement</a:t>
            </a:r>
            <a:endParaRPr lang="fr-FR" sz="3600" b="1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A954F8-6912-5C1E-770E-CDEE3872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202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8613-08E0-BD74-9A67-DB5B2D75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6EEC2D-2D02-B68C-DE54-C456414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31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38C4249D-E540-B4B0-C3DC-535FDE9F9899}"/>
              </a:ext>
            </a:extLst>
          </p:cNvPr>
          <p:cNvSpPr txBox="1"/>
          <p:nvPr/>
        </p:nvSpPr>
        <p:spPr>
          <a:xfrm>
            <a:off x="4130558" y="119512"/>
            <a:ext cx="3930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Algorithm’s snippet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5DF5256-B858-24B9-23DD-7A1340936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289" y="2386302"/>
            <a:ext cx="8307422" cy="4278094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forwardX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rightX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* u 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trueUpX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* v;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forwardY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rightY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* u 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trueUpY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* v;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velZ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forwardZ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rightZ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* u 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trueUpZ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* v;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velZ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velZ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1.0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velZ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invMag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155E4C8-3497-5C8C-19BF-8DE3381E7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289" y="1037463"/>
            <a:ext cx="8307422" cy="10772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 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vel</a:t>
            </a: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forward</a:t>
            </a:r>
            <a:endParaRPr lang="fr-FR" alt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right.mul</a:t>
            </a: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(u))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trueUp.mul</a:t>
            </a: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(v))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alt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norm</a:t>
            </a:r>
            <a:r>
              <a:rPr lang="fr-FR" alt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A9534-F64D-CEA8-BAE9-09A8E2B4563E}"/>
              </a:ext>
            </a:extLst>
          </p:cNvPr>
          <p:cNvSpPr txBox="1"/>
          <p:nvPr/>
        </p:nvSpPr>
        <p:spPr>
          <a:xfrm>
            <a:off x="8372274" y="1037462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Fira Sans SemiBold" panose="020B0603050000020004" pitchFamily="34" charset="0"/>
              </a:rPr>
              <a:t>With value class</a:t>
            </a:r>
            <a:endParaRPr lang="fr-FR">
              <a:solidFill>
                <a:schemeClr val="accent1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72C23-0020-7CEF-663C-660BC7ABD56A}"/>
              </a:ext>
            </a:extLst>
          </p:cNvPr>
          <p:cNvSpPr txBox="1"/>
          <p:nvPr/>
        </p:nvSpPr>
        <p:spPr>
          <a:xfrm>
            <a:off x="8016407" y="2386301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Fira Sans SemiBold" panose="020B0603050000020004" pitchFamily="34" charset="0"/>
              </a:rPr>
              <a:t>Without value class</a:t>
            </a:r>
            <a:endParaRPr lang="fr-FR">
              <a:solidFill>
                <a:schemeClr val="accent1"/>
              </a:solidFill>
              <a:latin typeface="Fira Sans SemiBold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7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B811-C1EC-1F1B-C202-B237CD1A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150643-66FF-05EB-6913-E9B69BE52258}"/>
              </a:ext>
            </a:extLst>
          </p:cNvPr>
          <p:cNvSpPr txBox="1"/>
          <p:nvPr/>
        </p:nvSpPr>
        <p:spPr>
          <a:xfrm>
            <a:off x="4216319" y="463504"/>
            <a:ext cx="3759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Changes in the JDK</a:t>
            </a:r>
            <a:endParaRPr lang="fr-FR" sz="3600">
              <a:latin typeface="Fira Sans Condensed SemiBold" panose="020B0603050000020004" pitchFamily="34" charset="0"/>
            </a:endParaRPr>
          </a:p>
        </p:txBody>
      </p:sp>
      <p:sp>
        <p:nvSpPr>
          <p:cNvPr id="2" name="ZoneTexte 9">
            <a:extLst>
              <a:ext uri="{FF2B5EF4-FFF2-40B4-BE49-F238E27FC236}">
                <a16:creationId xmlns:a16="http://schemas.microsoft.com/office/drawing/2014/main" id="{84FBF85E-2FF7-B9B1-D2BF-83C849C5DD75}"/>
              </a:ext>
            </a:extLst>
          </p:cNvPr>
          <p:cNvSpPr txBox="1"/>
          <p:nvPr/>
        </p:nvSpPr>
        <p:spPr>
          <a:xfrm>
            <a:off x="1206690" y="1966419"/>
            <a:ext cx="97786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@ValueBased</a:t>
            </a:r>
            <a:r>
              <a:rPr lang="en-US" sz="2400" b="1">
                <a:latin typeface="Consolas" panose="020B0609020204030204" pitchFamily="49" charset="0"/>
              </a:rPr>
              <a:t> -&gt; </a:t>
            </a:r>
            <a:r>
              <a:rPr lang="en-US" sz="2400" b="1">
                <a:latin typeface="Fira Sans Condensed SemiBold" panose="020B0603050000020004" pitchFamily="34" charset="0"/>
              </a:rPr>
              <a:t>Value Classes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>
              <a:latin typeface="Fira Sans Condensed SemiBold" panose="020B06030500000200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>
                <a:latin typeface="Consolas" panose="020B0609020204030204" pitchFamily="49" charset="0"/>
              </a:rPr>
              <a:t>java.lang :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Integer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Long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sz="2400">
                <a:latin typeface="Consolas" panose="020B0609020204030204" pitchFamily="49" charset="0"/>
              </a:rPr>
              <a:t>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Consolas" panose="020B0609020204030204" pitchFamily="49" charset="0"/>
              </a:rPr>
              <a:t>java.util :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Optional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OptionalInt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OptionalLong</a:t>
            </a:r>
            <a:r>
              <a:rPr lang="en-US" sz="2400">
                <a:latin typeface="Consolas" panose="020B0609020204030204" pitchFamily="49" charset="0"/>
              </a:rPr>
              <a:t> …</a:t>
            </a:r>
            <a:endParaRPr lang="en-US" sz="2400" i="1">
              <a:latin typeface="Consolas" panose="020B0609020204030204" pitchFamily="49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>
                <a:latin typeface="Consolas" panose="020B0609020204030204" pitchFamily="49" charset="0"/>
              </a:rPr>
              <a:t>java.time :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LocalDate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LocalTime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Duration</a:t>
            </a:r>
            <a:r>
              <a:rPr lang="en-US" sz="2400">
                <a:latin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Instant</a:t>
            </a:r>
            <a:r>
              <a:rPr lang="en-US" sz="2400">
                <a:latin typeface="Consolas" panose="020B0609020204030204" pitchFamily="49" charset="0"/>
              </a:rPr>
              <a:t> …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b="1">
              <a:solidFill>
                <a:schemeClr val="accent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JEP 390: Warnings for Value-Based Classes </a:t>
            </a:r>
            <a:r>
              <a:rPr lang="en-US" sz="2400" i="1">
                <a:latin typeface="Fira Sans Condensed SemiBold" panose="020B0603050000020004" pitchFamily="34" charset="0"/>
              </a:rPr>
              <a:t>(JDK 16)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2AF909-34C6-55C3-6372-46200972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32</a:t>
            </a:fld>
            <a:endParaRPr lang="fr-FR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D71D6A6-CE90-BEDE-E8C5-2D9D0EB8A5C3}"/>
              </a:ext>
            </a:extLst>
          </p:cNvPr>
          <p:cNvSpPr txBox="1"/>
          <p:nvPr/>
        </p:nvSpPr>
        <p:spPr>
          <a:xfrm>
            <a:off x="5065090" y="5415294"/>
            <a:ext cx="20618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/>
              <a:t>🎬</a:t>
            </a:r>
            <a:r>
              <a:rPr lang="en-US" sz="2400">
                <a:latin typeface="Fira Sans Condensed SemiBold" panose="020B0603050000020004" pitchFamily="34" charset="0"/>
              </a:rPr>
              <a:t>Demo 05</a:t>
            </a:r>
            <a:endParaRPr lang="en-US" sz="2400" b="1" i="1" dirty="0">
              <a:solidFill>
                <a:schemeClr val="accent1"/>
              </a:solidFill>
              <a:latin typeface="Fira Sans Condensed SemiBold" panose="020B06030500000200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868387B-50E5-FE83-81B9-E2F3C0D3510C}"/>
              </a:ext>
            </a:extLst>
          </p:cNvPr>
          <p:cNvSpPr/>
          <p:nvPr/>
        </p:nvSpPr>
        <p:spPr>
          <a:xfrm>
            <a:off x="43774" y="661190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98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643B-9BEB-1189-D79E-CA73D26E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093943-F75F-8912-14EE-7665FAF591C1}"/>
              </a:ext>
            </a:extLst>
          </p:cNvPr>
          <p:cNvSpPr txBox="1"/>
          <p:nvPr/>
        </p:nvSpPr>
        <p:spPr>
          <a:xfrm>
            <a:off x="3085406" y="463504"/>
            <a:ext cx="6021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Java compiler and VM </a:t>
            </a:r>
            <a:r>
              <a:rPr lang="en-US" sz="3600" i="1">
                <a:latin typeface="Fira Sans Condensed SemiBold" panose="020B0603050000020004" pitchFamily="34" charset="0"/>
              </a:rPr>
              <a:t>(JEP 539)</a:t>
            </a:r>
            <a:endParaRPr lang="fr-FR" sz="3600" i="1">
              <a:latin typeface="Fira Sans Condensed SemiBold" panose="020B0603050000020004" pitchFamily="34" charset="0"/>
            </a:endParaRPr>
          </a:p>
        </p:txBody>
      </p:sp>
      <p:sp>
        <p:nvSpPr>
          <p:cNvPr id="2" name="ZoneTexte 9">
            <a:extLst>
              <a:ext uri="{FF2B5EF4-FFF2-40B4-BE49-F238E27FC236}">
                <a16:creationId xmlns:a16="http://schemas.microsoft.com/office/drawing/2014/main" id="{A01DD33D-04C9-8028-DE32-1A24EF864AE1}"/>
              </a:ext>
            </a:extLst>
          </p:cNvPr>
          <p:cNvSpPr txBox="1"/>
          <p:nvPr/>
        </p:nvSpPr>
        <p:spPr>
          <a:xfrm>
            <a:off x="1438619" y="1980169"/>
            <a:ext cx="93147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400" b="1">
                <a:latin typeface="Fira Sans Condensed SemiBold" panose="020B0603050000020004" pitchFamily="34" charset="0"/>
              </a:rPr>
              <a:t>When compiling a value class, the compiler :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b="1">
                <a:latin typeface="Fira Sans Condensed SemiBold" panose="020B0603050000020004" pitchFamily="34" charset="0"/>
              </a:rPr>
              <a:t>clears the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ACC_IDENTITY</a:t>
            </a:r>
            <a:r>
              <a:rPr lang="en-US" sz="2400" b="1">
                <a:latin typeface="Fira Sans Condensed SemiBold" panose="020B0603050000020004" pitchFamily="34" charset="0"/>
              </a:rPr>
              <a:t> modifier bit of the class file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b="1">
                <a:latin typeface="Fira Sans Condensed SemiBold" panose="020B0603050000020004" pitchFamily="34" charset="0"/>
              </a:rPr>
              <a:t>sets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ACC_STRICT_INIT</a:t>
            </a:r>
            <a:r>
              <a:rPr lang="en-US" sz="2400" b="1">
                <a:latin typeface="Fira Sans Condensed SemiBold" panose="020B0603050000020004" pitchFamily="34" charset="0"/>
              </a:rPr>
              <a:t> on all fields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400">
              <a:latin typeface="Fira Sans Condensed SemiBold" panose="020B06030500000200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no need to recompile old external code using value classes…</a:t>
            </a:r>
          </a:p>
          <a:p>
            <a:pPr lvl="0"/>
            <a:r>
              <a:rPr lang="en-US" sz="2400">
                <a:latin typeface="Fira Sans Condensed SemiBold" panose="020B0603050000020004" pitchFamily="34" charset="0"/>
              </a:rPr>
              <a:t>    … but this may help : the compiler adds a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LoadableDescriptors</a:t>
            </a:r>
            <a:r>
              <a:rPr lang="en-US" sz="2400">
                <a:solidFill>
                  <a:srgbClr val="0033B3"/>
                </a:solidFill>
                <a:latin typeface="Fira Sans SemiBold" panose="020B0603050000020004" pitchFamily="34" charset="0"/>
              </a:rPr>
              <a:t> </a:t>
            </a:r>
            <a:r>
              <a:rPr lang="en-US" sz="2400">
                <a:latin typeface="Fira Sans Condensed SemiBold" panose="020B0603050000020004" pitchFamily="34" charset="0"/>
              </a:rPr>
              <a:t>attribute to ask to load value classes early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>
              <a:latin typeface="Fira Sans Condensed SemiBold" panose="020B06030500000200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BFAF50-ACA9-3925-7157-135D7665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33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24D5D40-0516-8469-0128-42494C35A3FC}"/>
              </a:ext>
            </a:extLst>
          </p:cNvPr>
          <p:cNvSpPr/>
          <p:nvPr/>
        </p:nvSpPr>
        <p:spPr>
          <a:xfrm>
            <a:off x="43774" y="661190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05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C0E4-29DB-8659-8507-4A006DE8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375C65-2869-A98D-F6E4-7F31BD7CE4E3}"/>
              </a:ext>
            </a:extLst>
          </p:cNvPr>
          <p:cNvSpPr txBox="1"/>
          <p:nvPr/>
        </p:nvSpPr>
        <p:spPr>
          <a:xfrm>
            <a:off x="4952123" y="463504"/>
            <a:ext cx="2287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Conclusion</a:t>
            </a:r>
            <a:endParaRPr lang="fr-FR" sz="3600" i="1">
              <a:latin typeface="Fira Sans Condensed SemiBold" panose="020B060305000002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9CB6D-2607-4721-532D-8A024C62D44B}"/>
              </a:ext>
            </a:extLst>
          </p:cNvPr>
          <p:cNvSpPr txBox="1"/>
          <p:nvPr/>
        </p:nvSpPr>
        <p:spPr>
          <a:xfrm>
            <a:off x="1041355" y="2056730"/>
            <a:ext cx="102699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Fira Sans SemiBold" panose="020B0603050000020004" pitchFamily="34" charset="0"/>
              </a:rPr>
              <a:t>No-cost 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Fira Sans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Fira Sans SemiBold" panose="020B0603050000020004" pitchFamily="34" charset="0"/>
              </a:rPr>
              <a:t>Encapsulation (OOP) with primitive performance</a:t>
            </a:r>
          </a:p>
          <a:p>
            <a:endParaRPr lang="en-US" sz="2400">
              <a:latin typeface="Fira Sans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Fira Sans SemiBold" panose="020B0603050000020004" pitchFamily="34" charset="0"/>
              </a:rPr>
              <a:t>Will change the way you write Java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>
              <a:latin typeface="Fira Sans SemiBold" panose="020B06030500000200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F7E78-FA7D-49D3-BC1C-A3749175ACF5}"/>
              </a:ext>
            </a:extLst>
          </p:cNvPr>
          <p:cNvSpPr txBox="1"/>
          <p:nvPr/>
        </p:nvSpPr>
        <p:spPr>
          <a:xfrm>
            <a:off x="3016653" y="6441949"/>
            <a:ext cx="6158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>
                <a:latin typeface="Fira Sans SemiBold" panose="020B0603050000020004" pitchFamily="34" charset="0"/>
              </a:rPr>
              <a:t>https://github.com/CodeSimcoe/blackhole-devoxx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F5F51A-979D-631C-22AF-B39E449D6C2F}"/>
              </a:ext>
            </a:extLst>
          </p:cNvPr>
          <p:cNvSpPr txBox="1"/>
          <p:nvPr/>
        </p:nvSpPr>
        <p:spPr>
          <a:xfrm>
            <a:off x="1041355" y="1430772"/>
            <a:ext cx="2186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1"/>
                </a:solidFill>
                <a:latin typeface="Fira Sans SemiBold" panose="020B0603050000020004" pitchFamily="34" charset="0"/>
              </a:rPr>
              <a:t>Value Classes</a:t>
            </a:r>
            <a:endParaRPr lang="fr-FR" sz="2400">
              <a:solidFill>
                <a:schemeClr val="accent1"/>
              </a:solidFill>
              <a:latin typeface="Fira Sans SemiBold" panose="020B06030500000200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1FC32-14AC-C039-AD96-EFD3E431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34</a:t>
            </a:fld>
            <a:endParaRPr lang="fr-FR"/>
          </a:p>
        </p:txBody>
      </p:sp>
      <p:pic>
        <p:nvPicPr>
          <p:cNvPr id="7" name="Picture 6" descr="QR Code Image">
            <a:extLst>
              <a:ext uri="{FF2B5EF4-FFF2-40B4-BE49-F238E27FC236}">
                <a16:creationId xmlns:a16="http://schemas.microsoft.com/office/drawing/2014/main" id="{4E6588ED-DAD8-3857-59AD-6698AA9C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189" y="4882049"/>
            <a:ext cx="1583622" cy="1583622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BC4CD9BA-DC91-B922-303D-4F0761CF378D}"/>
              </a:ext>
            </a:extLst>
          </p:cNvPr>
          <p:cNvSpPr/>
          <p:nvPr/>
        </p:nvSpPr>
        <p:spPr>
          <a:xfrm>
            <a:off x="43774" y="661190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026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73F-BEBD-6849-3874-92220E53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94B28-9B68-CA78-CA93-860C2CAB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35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036C476-2041-EA3E-BE32-21B6A74622FF}"/>
              </a:ext>
            </a:extLst>
          </p:cNvPr>
          <p:cNvSpPr txBox="1"/>
          <p:nvPr/>
        </p:nvSpPr>
        <p:spPr>
          <a:xfrm>
            <a:off x="3862063" y="490008"/>
            <a:ext cx="4467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Fira Sans Condensed SemiBold" panose="020B0603050000020004" pitchFamily="34" charset="0"/>
              </a:rPr>
              <a:t>Flattening for </a:t>
            </a:r>
            <a:r>
              <a:rPr lang="en-US" sz="3600" dirty="0" err="1">
                <a:latin typeface="Fira Sans Condensed SemiBold" panose="020B0603050000020004" pitchFamily="34" charset="0"/>
              </a:rPr>
              <a:t>HotSpot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5C4FAA36-7A19-A5BD-5345-7AA9D5729866}"/>
              </a:ext>
            </a:extLst>
          </p:cNvPr>
          <p:cNvGraphicFramePr>
            <a:graphicFrameLocks noGrp="1"/>
          </p:cNvGraphicFramePr>
          <p:nvPr/>
        </p:nvGraphicFramePr>
        <p:xfrm>
          <a:off x="346953" y="2208180"/>
          <a:ext cx="11498094" cy="2071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698">
                  <a:extLst>
                    <a:ext uri="{9D8B030D-6E8A-4147-A177-3AD203B41FA5}">
                      <a16:colId xmlns:a16="http://schemas.microsoft.com/office/drawing/2014/main" val="1105050186"/>
                    </a:ext>
                  </a:extLst>
                </a:gridCol>
                <a:gridCol w="3832698">
                  <a:extLst>
                    <a:ext uri="{9D8B030D-6E8A-4147-A177-3AD203B41FA5}">
                      <a16:colId xmlns:a16="http://schemas.microsoft.com/office/drawing/2014/main" val="473807918"/>
                    </a:ext>
                  </a:extLst>
                </a:gridCol>
                <a:gridCol w="3832698">
                  <a:extLst>
                    <a:ext uri="{9D8B030D-6E8A-4147-A177-3AD203B41FA5}">
                      <a16:colId xmlns:a16="http://schemas.microsoft.com/office/drawing/2014/main" val="2952751683"/>
                    </a:ext>
                  </a:extLst>
                </a:gridCol>
              </a:tblGrid>
              <a:tr h="690664">
                <a:tc>
                  <a:txBody>
                    <a:bodyPr/>
                    <a:lstStyle/>
                    <a:p>
                      <a:endParaRPr lang="fr-FR" sz="2400">
                        <a:latin typeface="Fira Sans SemiBold" panose="020B06030500000200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 err="1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null</a:t>
                      </a:r>
                      <a:r>
                        <a:rPr lang="fr-FR" sz="2400" dirty="0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 marker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 err="1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null</a:t>
                      </a:r>
                      <a:r>
                        <a:rPr lang="fr-FR" sz="2400" dirty="0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 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080007"/>
                  </a:ext>
                </a:extLst>
              </a:tr>
              <a:tr h="690664">
                <a:tc>
                  <a:txBody>
                    <a:bodyPr/>
                    <a:lstStyle/>
                    <a:p>
                      <a:r>
                        <a:rPr lang="fr-FR" sz="2400" dirty="0" err="1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atomic</a:t>
                      </a:r>
                      <a:endParaRPr lang="fr-FR" sz="2400" dirty="0">
                        <a:solidFill>
                          <a:schemeClr val="accent1"/>
                        </a:solidFill>
                        <a:latin typeface="Fira Sans SemiBold" panose="020B06030500000200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Fira Sans SemiBold" panose="020B0603050000020004" pitchFamily="34" charset="0"/>
                        </a:rPr>
                        <a:t>56 bits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Fira Sans SemiBold" panose="020B0603050000020004" pitchFamily="34" charset="0"/>
                        </a:rPr>
                        <a:t>64 bits*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604896"/>
                  </a:ext>
                </a:extLst>
              </a:tr>
              <a:tr h="690664"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non-</a:t>
                      </a:r>
                      <a:r>
                        <a:rPr lang="fr-FR" sz="2400" dirty="0" err="1">
                          <a:solidFill>
                            <a:schemeClr val="accent1"/>
                          </a:solidFill>
                          <a:latin typeface="Fira Sans SemiBold" panose="020B0603050000020004" pitchFamily="34" charset="0"/>
                        </a:rPr>
                        <a:t>atomic</a:t>
                      </a:r>
                      <a:endParaRPr lang="fr-FR" sz="2400" dirty="0">
                        <a:solidFill>
                          <a:schemeClr val="accent1"/>
                        </a:solidFill>
                        <a:latin typeface="Fira Sans SemiBold" panose="020B06030500000200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Fira Sans SemiBold" panose="020B0603050000020004" pitchFamily="34" charset="0"/>
                        </a:rPr>
                        <a:t>must </a:t>
                      </a:r>
                      <a:r>
                        <a:rPr lang="fr-FR" sz="2400" dirty="0" err="1">
                          <a:latin typeface="Fira Sans SemiBold" panose="020B0603050000020004" pitchFamily="34" charset="0"/>
                        </a:rPr>
                        <a:t>be</a:t>
                      </a:r>
                      <a:r>
                        <a:rPr lang="fr-FR" sz="2400" dirty="0">
                          <a:latin typeface="Fira Sans SemiBold" panose="020B0603050000020004" pitchFamily="34" charset="0"/>
                        </a:rPr>
                        <a:t> strict final*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Fira Sans SemiBold" panose="020B0603050000020004" pitchFamily="34" charset="0"/>
                        </a:rPr>
                        <a:t>no restriction*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93250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0A439666-DC65-3B55-658D-06C0376F0159}"/>
              </a:ext>
            </a:extLst>
          </p:cNvPr>
          <p:cNvSpPr txBox="1"/>
          <p:nvPr/>
        </p:nvSpPr>
        <p:spPr>
          <a:xfrm>
            <a:off x="2267760" y="4732358"/>
            <a:ext cx="7656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Fira Sans Condensed SemiBold" panose="020B0603050000020004" pitchFamily="34" charset="0"/>
              </a:rPr>
              <a:t>(*) not yet fully implemented</a:t>
            </a:r>
          </a:p>
        </p:txBody>
      </p:sp>
    </p:spTree>
    <p:extLst>
      <p:ext uri="{BB962C8B-B14F-4D97-AF65-F5344CB8AC3E}">
        <p14:creationId xmlns:p14="http://schemas.microsoft.com/office/powerpoint/2010/main" val="135358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8808-CE46-D49A-7A0C-4761EFE0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35A2F7-4B2E-F857-C071-32BA8D9BDDA4}"/>
              </a:ext>
            </a:extLst>
          </p:cNvPr>
          <p:cNvSpPr txBox="1"/>
          <p:nvPr/>
        </p:nvSpPr>
        <p:spPr>
          <a:xfrm>
            <a:off x="4273256" y="463504"/>
            <a:ext cx="3645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latin typeface="Fira Sans Condensed SemiBold" panose="020B0603050000020004" pitchFamily="34" charset="0"/>
              </a:rPr>
              <a:t>Valhalla Roadmap</a:t>
            </a:r>
            <a:endParaRPr lang="fr-FR" sz="3600" i="1">
              <a:latin typeface="Fira Sans Condensed SemiBold" panose="020B060305000002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F19C-560B-2605-01BC-3FD8D015F55B}"/>
              </a:ext>
            </a:extLst>
          </p:cNvPr>
          <p:cNvSpPr txBox="1"/>
          <p:nvPr/>
        </p:nvSpPr>
        <p:spPr>
          <a:xfrm>
            <a:off x="2882324" y="2037908"/>
            <a:ext cx="83141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SemiBold" panose="020B0603050000020004" pitchFamily="34" charset="0"/>
              </a:rPr>
              <a:t>JEP 401 : Value Classes &amp;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Fira Sans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SemiBold" panose="020B0603050000020004" pitchFamily="34" charset="0"/>
              </a:rPr>
              <a:t>Null-Restricted and Nullable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SemiBold" panose="020B0603050000020004" pitchFamily="34" charset="0"/>
              </a:rPr>
              <a:t>Null-Restricted Value Class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Fira Sans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SemiBold" panose="020B0603050000020004" pitchFamily="34" charset="0"/>
              </a:rPr>
              <a:t>JEP 402 : Enhanced Primitive Boxing (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 ≈ Integer!</a:t>
            </a:r>
            <a:r>
              <a:rPr lang="en-US" sz="2400" dirty="0">
                <a:latin typeface="Fira Sans SemiBold" panose="020B0603050000020004" pitchFamily="34" charset="0"/>
              </a:rPr>
              <a:t>)</a:t>
            </a:r>
          </a:p>
          <a:p>
            <a:endParaRPr lang="en-US" sz="2400" dirty="0">
              <a:latin typeface="Fira Sans SemiBold" panose="020B06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SemiBold" panose="020B0603050000020004" pitchFamily="34" charset="0"/>
              </a:rPr>
              <a:t>Parametric JVM (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List&lt;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ValueType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latin typeface="Fira Sans SemiBold" panose="020B06030500000200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latin typeface="Fira Sans SemiBold" panose="020B06030500000200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7A3B2A-B129-D0B3-8BE0-FC400345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36</a:t>
            </a:fld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CB3D92-97E3-A7A7-F998-40A4995F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9" y="5075997"/>
            <a:ext cx="2553282" cy="16894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8B3322-E666-D2C2-09E5-B6F9E30B5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5" y="4125091"/>
            <a:ext cx="2172195" cy="1181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C64553-763B-EDC9-36A4-BA07A8AA7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04" y="2948823"/>
            <a:ext cx="2324630" cy="1232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17C72C-56BE-CE25-DF4D-81DFEAC16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80" y="2284582"/>
            <a:ext cx="1664079" cy="1206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A860F6-4AF6-C730-9DDA-3D8A93FB8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752" y="1120894"/>
            <a:ext cx="342978" cy="8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7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15D4-B452-9816-18B2-1E89033C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893284-0E96-7FDB-0038-E36D348D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37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F8C0A50-25E7-E8CD-3538-9A983A8D897F}"/>
              </a:ext>
            </a:extLst>
          </p:cNvPr>
          <p:cNvSpPr txBox="1"/>
          <p:nvPr/>
        </p:nvSpPr>
        <p:spPr>
          <a:xfrm>
            <a:off x="4386710" y="490008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altLang="fr-FR" sz="3600" dirty="0">
                <a:solidFill>
                  <a:srgbClr val="0033B3"/>
                </a:solidFill>
                <a:latin typeface="Consolas" panose="020B0609020204030204" pitchFamily="49" charset="0"/>
              </a:rPr>
              <a:t>synchronized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83A4E09-7E81-20F4-CA26-64C5195B3645}"/>
              </a:ext>
            </a:extLst>
          </p:cNvPr>
          <p:cNvSpPr txBox="1"/>
          <p:nvPr/>
        </p:nvSpPr>
        <p:spPr>
          <a:xfrm>
            <a:off x="3067318" y="2558512"/>
            <a:ext cx="6057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>
                <a:solidFill>
                  <a:srgbClr val="0033B3"/>
                </a:solidFill>
                <a:latin typeface="Consolas" panose="020B0609020204030204" pitchFamily="49" charset="0"/>
              </a:rPr>
              <a:t>synchronized</a:t>
            </a:r>
            <a:r>
              <a:rPr lang="en-US" sz="2400" dirty="0">
                <a:latin typeface="Fira Sans Condensed SemiBold" panose="020B0603050000020004" pitchFamily="34" charset="0"/>
              </a:rPr>
              <a:t> needs a bit in the 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A value class has no header</a:t>
            </a:r>
          </a:p>
        </p:txBody>
      </p:sp>
    </p:spTree>
    <p:extLst>
      <p:ext uri="{BB962C8B-B14F-4D97-AF65-F5344CB8AC3E}">
        <p14:creationId xmlns:p14="http://schemas.microsoft.com/office/powerpoint/2010/main" val="982367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63B2-6FCA-869F-0B3D-9405A3ED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E7F0B7-AF05-7B15-55C1-B3A6D23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38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004A7F3-6834-0FF3-2F25-A8366CCB53E2}"/>
              </a:ext>
            </a:extLst>
          </p:cNvPr>
          <p:cNvSpPr txBox="1"/>
          <p:nvPr/>
        </p:nvSpPr>
        <p:spPr>
          <a:xfrm>
            <a:off x="4639985" y="490008"/>
            <a:ext cx="271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altLang="fr-FR" sz="3600">
                <a:solidFill>
                  <a:srgbClr val="0033B3"/>
                </a:solidFill>
                <a:latin typeface="Consolas" panose="020B0609020204030204" pitchFamily="49" charset="0"/>
              </a:rPr>
              <a:t>hashCode()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0072132-0C2B-8D63-4B34-4D167EF44967}"/>
              </a:ext>
            </a:extLst>
          </p:cNvPr>
          <p:cNvSpPr txBox="1"/>
          <p:nvPr/>
        </p:nvSpPr>
        <p:spPr>
          <a:xfrm>
            <a:off x="1144413" y="2558512"/>
            <a:ext cx="99031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Fira Sans Condensed SemiBold" panose="020B0603050000020004" pitchFamily="34" charset="0"/>
              </a:rPr>
              <a:t>Default </a:t>
            </a:r>
            <a:r>
              <a:rPr lang="fr-FR" altLang="fr-FR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hashCode</a:t>
            </a:r>
            <a:r>
              <a:rPr lang="fr-FR" altLang="fr-FR" sz="2400" dirty="0">
                <a:solidFill>
                  <a:srgbClr val="0033B3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>
                <a:latin typeface="Fira Sans Condensed SemiBold" panose="020B0603050000020004" pitchFamily="34" charset="0"/>
              </a:rPr>
              <a:t> picks a random number and stores it in the 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A value class </a:t>
            </a:r>
            <a:r>
              <a:rPr lang="en-US" sz="2400" i="1" dirty="0">
                <a:latin typeface="Fira Sans Condensed SemiBold" panose="020B0603050000020004" pitchFamily="34" charset="0"/>
              </a:rPr>
              <a:t>still</a:t>
            </a:r>
            <a:r>
              <a:rPr lang="en-US" sz="2400" dirty="0">
                <a:latin typeface="Fira Sans Condensed SemiBold" panose="020B0603050000020004" pitchFamily="34" charset="0"/>
              </a:rPr>
              <a:t> has no 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Condensed SemiBold" panose="020B0603050000020004" pitchFamily="34" charset="0"/>
              </a:rPr>
              <a:t>Relies on the fields’ values to compute the hash</a:t>
            </a:r>
          </a:p>
        </p:txBody>
      </p:sp>
    </p:spTree>
    <p:extLst>
      <p:ext uri="{BB962C8B-B14F-4D97-AF65-F5344CB8AC3E}">
        <p14:creationId xmlns:p14="http://schemas.microsoft.com/office/powerpoint/2010/main" val="1365020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4618A-E230-1BB1-7F4C-29C6E8DF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5A61D-ADEB-8DE3-2532-4C97857E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BCAFE-9BA5-4F25-83BC-8351B4665D24}" type="slidenum">
              <a:rPr lang="fr-FR" smtClean="0"/>
              <a:t>39</a:t>
            </a:fld>
            <a:endParaRPr lang="fr-F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75D730B-BDA0-B09D-A480-6CA0CFD742BE}"/>
              </a:ext>
            </a:extLst>
          </p:cNvPr>
          <p:cNvSpPr txBox="1"/>
          <p:nvPr/>
        </p:nvSpPr>
        <p:spPr>
          <a:xfrm>
            <a:off x="4358185" y="490008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altLang="fr-FR" sz="3600">
                <a:latin typeface="Fira Sans Condensed SemiBold" panose="020B0603050000020004" pitchFamily="34" charset="0"/>
              </a:rPr>
              <a:t>Weak References</a:t>
            </a:r>
            <a:endParaRPr lang="fr-FR" sz="3600" dirty="0">
              <a:latin typeface="Fira Sans Condensed SemiBold" panose="020B0603050000020004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5B92562-2071-5613-5805-E6D14618999D}"/>
              </a:ext>
            </a:extLst>
          </p:cNvPr>
          <p:cNvSpPr txBox="1"/>
          <p:nvPr/>
        </p:nvSpPr>
        <p:spPr>
          <a:xfrm>
            <a:off x="1723219" y="3623139"/>
            <a:ext cx="8745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>
                <a:solidFill>
                  <a:srgbClr val="0033B3"/>
                </a:solidFill>
                <a:latin typeface="Consolas" panose="020B0609020204030204" pitchFamily="49" charset="0"/>
              </a:rPr>
              <a:t>WeakReference</a:t>
            </a:r>
            <a:r>
              <a:rPr lang="en-US" sz="2400">
                <a:latin typeface="Fira Sans Condensed SemiBold" panose="020B0603050000020004" pitchFamily="34" charset="0"/>
              </a:rPr>
              <a:t> leaves B collectible by GC </a:t>
            </a:r>
            <a:r>
              <a:rPr lang="en-US" sz="2400" i="1">
                <a:latin typeface="Fira Sans Condensed SemiBold" panose="020B0603050000020004" pitchFamily="34" charset="0"/>
              </a:rPr>
              <a:t>(if only reference)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Can’t make a reference to a non-existing address in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Fira Sans Condensed SemiBold" panose="020B0603050000020004" pitchFamily="34" charset="0"/>
              </a:rPr>
              <a:t>Throws </a:t>
            </a:r>
            <a:r>
              <a:rPr lang="en-US" sz="2400">
                <a:solidFill>
                  <a:srgbClr val="0033B3"/>
                </a:solidFill>
                <a:latin typeface="Consolas" panose="020B0609020204030204" pitchFamily="49" charset="0"/>
              </a:rPr>
              <a:t>(No)</a:t>
            </a:r>
            <a:r>
              <a:rPr lang="fr-FR" altLang="fr-FR" sz="2400">
                <a:solidFill>
                  <a:srgbClr val="0033B3"/>
                </a:solidFill>
                <a:latin typeface="Consolas" panose="020B0609020204030204" pitchFamily="49" charset="0"/>
              </a:rPr>
              <a:t>IdentityException</a:t>
            </a:r>
            <a:endParaRPr lang="en-US" sz="2400">
              <a:latin typeface="Consolas" panose="020B0609020204030204" pitchFamily="49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B2C74E-B6CE-F16C-42B7-4455CE8ED643}"/>
              </a:ext>
            </a:extLst>
          </p:cNvPr>
          <p:cNvGrpSpPr/>
          <p:nvPr/>
        </p:nvGrpSpPr>
        <p:grpSpPr>
          <a:xfrm>
            <a:off x="1991030" y="2459103"/>
            <a:ext cx="8209937" cy="351185"/>
            <a:chOff x="550982" y="5485075"/>
            <a:chExt cx="8209937" cy="3511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CBE930-3C8C-6440-2B1D-5BA2F67B33D9}"/>
                </a:ext>
              </a:extLst>
            </p:cNvPr>
            <p:cNvSpPr/>
            <p:nvPr/>
          </p:nvSpPr>
          <p:spPr>
            <a:xfrm>
              <a:off x="550982" y="5485075"/>
              <a:ext cx="1833743" cy="3511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Consolas" panose="020B0609020204030204" pitchFamily="49" charset="0"/>
                </a:rPr>
                <a:t>GC root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C99179-370B-91CC-83D4-E57E51ECFC32}"/>
                </a:ext>
              </a:extLst>
            </p:cNvPr>
            <p:cNvSpPr/>
            <p:nvPr/>
          </p:nvSpPr>
          <p:spPr>
            <a:xfrm>
              <a:off x="2676380" y="5485077"/>
              <a:ext cx="1833743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Consolas" panose="020B0609020204030204" pitchFamily="49" charset="0"/>
                </a:rPr>
                <a:t>A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28D222-A506-250A-7200-1C215499926F}"/>
                </a:ext>
              </a:extLst>
            </p:cNvPr>
            <p:cNvSpPr/>
            <p:nvPr/>
          </p:nvSpPr>
          <p:spPr>
            <a:xfrm>
              <a:off x="4801778" y="5485076"/>
              <a:ext cx="1833743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Consolas" panose="020B0609020204030204" pitchFamily="49" charset="0"/>
                </a:rPr>
                <a:t>WeakReference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759AEE-C22A-80E6-5B44-F91024C923E8}"/>
                </a:ext>
              </a:extLst>
            </p:cNvPr>
            <p:cNvSpPr/>
            <p:nvPr/>
          </p:nvSpPr>
          <p:spPr>
            <a:xfrm>
              <a:off x="6927176" y="5485075"/>
              <a:ext cx="1833743" cy="3511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Consolas" panose="020B0609020204030204" pitchFamily="49" charset="0"/>
                </a:rPr>
                <a:t>B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cxnSp>
          <p:nvCxnSpPr>
            <p:cNvPr id="14" name="Connecteur droit avec flèche 33">
              <a:extLst>
                <a:ext uri="{FF2B5EF4-FFF2-40B4-BE49-F238E27FC236}">
                  <a16:creationId xmlns:a16="http://schemas.microsoft.com/office/drawing/2014/main" id="{168BCAF3-EB51-05C1-5213-7D536177646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384725" y="5660667"/>
              <a:ext cx="291655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avec flèche 33">
              <a:extLst>
                <a:ext uri="{FF2B5EF4-FFF2-40B4-BE49-F238E27FC236}">
                  <a16:creationId xmlns:a16="http://schemas.microsoft.com/office/drawing/2014/main" id="{4BC99D1E-A79A-E4C4-6D14-7F6A62E71E97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 flipV="1">
              <a:off x="4510123" y="5660668"/>
              <a:ext cx="29165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33">
              <a:extLst>
                <a:ext uri="{FF2B5EF4-FFF2-40B4-BE49-F238E27FC236}">
                  <a16:creationId xmlns:a16="http://schemas.microsoft.com/office/drawing/2014/main" id="{06F505F7-53A4-D89C-8FFA-0F4B0E1691F1}"/>
                </a:ext>
              </a:extLst>
            </p:cNvPr>
            <p:cNvCxnSpPr>
              <a:cxnSpLocks/>
              <a:stCxn id="10" idx="3"/>
              <a:endCxn id="13" idx="1"/>
            </p:cNvCxnSpPr>
            <p:nvPr/>
          </p:nvCxnSpPr>
          <p:spPr>
            <a:xfrm flipV="1">
              <a:off x="6635521" y="5660667"/>
              <a:ext cx="291655" cy="1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449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AB0324-0823-428D-9D93-FEEADD32F87E}">
  <we:reference id="4defab0e-9c81-47f2-ac62-1298126f1299" version="1.0.0.0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8573</TotalTime>
  <Words>1565</Words>
  <Application>Microsoft Office PowerPoint</Application>
  <PresentationFormat>Grand écran</PresentationFormat>
  <Paragraphs>303</Paragraphs>
  <Slides>39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Consolas</vt:lpstr>
      <vt:lpstr>Fira Sans Condensed</vt:lpstr>
      <vt:lpstr>Fira Sans Condensed SemiBold</vt:lpstr>
      <vt:lpstr>Fira Sans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Clément de Tastes</dc:creator>
  <cp:lastModifiedBy>Clément de Tastes</cp:lastModifiedBy>
  <cp:revision>539</cp:revision>
  <cp:lastPrinted>2026-09-26T13:38:52Z</cp:lastPrinted>
  <dcterms:created xsi:type="dcterms:W3CDTF">2025-12-16T09:28:58Z</dcterms:created>
  <dcterms:modified xsi:type="dcterms:W3CDTF">2026-10-08T21:39:16Z</dcterms:modified>
</cp:coreProperties>
</file>