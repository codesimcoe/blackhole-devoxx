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438" r:id="rId2"/>
    <p:sldId id="442" r:id="rId3"/>
    <p:sldId id="468" r:id="rId4"/>
    <p:sldId id="443" r:id="rId5"/>
    <p:sldId id="445" r:id="rId6"/>
    <p:sldId id="446" r:id="rId7"/>
    <p:sldId id="448" r:id="rId8"/>
    <p:sldId id="449" r:id="rId9"/>
    <p:sldId id="447" r:id="rId10"/>
    <p:sldId id="439" r:id="rId11"/>
    <p:sldId id="440" r:id="rId12"/>
    <p:sldId id="453" r:id="rId13"/>
    <p:sldId id="444" r:id="rId14"/>
    <p:sldId id="450" r:id="rId15"/>
    <p:sldId id="451" r:id="rId16"/>
    <p:sldId id="469" r:id="rId17"/>
    <p:sldId id="456" r:id="rId18"/>
    <p:sldId id="457" r:id="rId19"/>
    <p:sldId id="462" r:id="rId20"/>
    <p:sldId id="466" r:id="rId21"/>
    <p:sldId id="465" r:id="rId22"/>
    <p:sldId id="470" r:id="rId23"/>
    <p:sldId id="458" r:id="rId24"/>
    <p:sldId id="460" r:id="rId25"/>
    <p:sldId id="459" r:id="rId26"/>
    <p:sldId id="471" r:id="rId27"/>
    <p:sldId id="441" r:id="rId28"/>
    <p:sldId id="287" r:id="rId29"/>
    <p:sldId id="461" r:id="rId30"/>
    <p:sldId id="273" r:id="rId31"/>
    <p:sldId id="464" r:id="rId32"/>
    <p:sldId id="463" r:id="rId33"/>
    <p:sldId id="309" r:id="rId34"/>
    <p:sldId id="467" r:id="rId35"/>
    <p:sldId id="317" r:id="rId36"/>
    <p:sldId id="452" r:id="rId37"/>
    <p:sldId id="454" r:id="rId38"/>
    <p:sldId id="455" r:id="rId3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6" autoAdjust="0"/>
    <p:restoredTop sz="92342" autoAdjust="0"/>
  </p:normalViewPr>
  <p:slideViewPr>
    <p:cSldViewPr snapToGrid="0">
      <p:cViewPr varScale="1">
        <p:scale>
          <a:sx n="110" d="100"/>
          <a:sy n="110" d="100"/>
        </p:scale>
        <p:origin x="91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26/09/2026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26/09/2026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26/09/2026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26/09/2026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26/09/2026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26/09/2026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26/09/2026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26/09/2026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7378" y="1234795"/>
            <a:ext cx="3728636" cy="40800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817101" y="1759225"/>
            <a:ext cx="629531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Platform (Loom, Panama, Leyden, Lilliput, </a:t>
            </a:r>
            <a:r>
              <a:rPr lang="en-US" sz="2000" i="1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 dirty="0">
                <a:latin typeface="Fira Sans Condensed SemiBold" panose="020B06030500000200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1794176" y="4052298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5626279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8A4050-8EED-70EB-84A7-53FC8E77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2794B-8C53-08FF-82E5-6B53D2ABB19B}"/>
              </a:ext>
            </a:extLst>
          </p:cNvPr>
          <p:cNvSpPr txBox="1"/>
          <p:nvPr/>
        </p:nvSpPr>
        <p:spPr>
          <a:xfrm>
            <a:off x="3926932" y="2459504"/>
            <a:ext cx="43381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Primitive type rehabilitation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404AC-B1C5-A965-89ED-AC515CAA4B20}"/>
              </a:ext>
            </a:extLst>
          </p:cNvPr>
          <p:cNvSpPr txBox="1"/>
          <p:nvPr/>
        </p:nvSpPr>
        <p:spPr>
          <a:xfrm>
            <a:off x="4624285" y="490008"/>
            <a:ext cx="29434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Why Valhalla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39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2928541"/>
            <a:ext cx="10642861" cy="286232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final double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1996175" y="490008"/>
            <a:ext cx="8199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</a:t>
            </a:r>
            <a:r>
              <a:rPr lang="en-US" sz="3600">
                <a:latin typeface="Fira Sans Condensed SemiBold" panose="020B0603050000020004" pitchFamily="34" charset="0"/>
              </a:rPr>
              <a:t>Memory Representation with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6EC9123D-A953-7BD1-17D7-5BA953C78F9C}"/>
              </a:ext>
            </a:extLst>
          </p:cNvPr>
          <p:cNvSpPr txBox="1"/>
          <p:nvPr/>
        </p:nvSpPr>
        <p:spPr>
          <a:xfrm>
            <a:off x="3445178" y="2084528"/>
            <a:ext cx="5301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Fira Sans Condensed SemiBold" panose="020B0603050000020004" pitchFamily="34" charset="0"/>
              </a:rPr>
              <a:t>Primitives are second class citizens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abstraction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common array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cannot be used as generics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method (</a:t>
            </a:r>
            <a:r>
              <a:rPr lang="en-US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toString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b="1" dirty="0">
                <a:latin typeface="Fira Sans Condensed SemiBold" panose="020B0603050000020004" pitchFamily="34" charset="0"/>
              </a:rPr>
              <a:t>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== </a:t>
            </a:r>
            <a:r>
              <a:rPr lang="en-US" sz="2400" b="1">
                <a:latin typeface="Fira Sans Condensed SemiBold" panose="020B0603050000020004" pitchFamily="34" charset="0"/>
              </a:rPr>
              <a:t>vs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equals()</a:t>
            </a:r>
            <a:endParaRPr lang="en-US" sz="2400" dirty="0">
              <a:solidFill>
                <a:srgbClr val="0033B3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</a:t>
            </a:r>
            <a:r>
              <a:rPr lang="en-US" sz="2400">
                <a:latin typeface="Fira Sans Condensed SemiBold" panose="020B0603050000020004" pitchFamily="34" charset="0"/>
              </a:rPr>
              <a:t>, value-class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1306738"/>
            <a:ext cx="9355315" cy="101566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 err="1">
                <a:solidFill>
                  <a:srgbClr val="0033B3"/>
                </a:solidFill>
                <a:latin typeface="Consolas" panose="020B0609020204030204" pitchFamily="49" charset="0"/>
              </a:rPr>
              <a:t>static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p,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{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new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At runtime, </a:t>
            </a:r>
            <a:r>
              <a:rPr lang="en-US" sz="2400">
                <a:latin typeface="Fira Sans Condensed SemiBold" panose="020B0603050000020004" pitchFamily="34" charset="0"/>
              </a:rPr>
              <a:t>in “pseudo Java”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4432060"/>
            <a:ext cx="9355315" cy="92333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The VM can eliminate allocation (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scalarization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 dirty="0">
                <a:latin typeface="Fira Sans Condensed SemiBold" panose="020B0603050000020004" pitchFamily="34" charset="0"/>
              </a:rPr>
              <a:t> (no address in memory, no </a:t>
            </a:r>
            <a:r>
              <a:rPr lang="en-US" sz="2400">
                <a:latin typeface="Fira Sans Condensed SemiBold" panose="020B0603050000020004" pitchFamily="34" charset="0"/>
              </a:rPr>
              <a:t>header)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</a:t>
            </a:r>
            <a:r>
              <a:rPr lang="en-US" sz="2400" dirty="0">
                <a:latin typeface="Fira Sans Condensed SemiBold" panose="020B0603050000020004" pitchFamily="34" charset="0"/>
              </a:rPr>
              <a:t>(fields are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, class is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</a:t>
            </a:r>
            <a:r>
              <a:rPr lang="en-US" sz="2400" dirty="0">
                <a:latin typeface="Fira Sans Condensed SemiBold" panose="020B0603050000020004" pitchFamily="34" charset="0"/>
              </a:rPr>
              <a:t>and passed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 dirty="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70EA-5D1D-FBA5-8385-C7F083A8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DCA92-F775-E0D1-38C1-E210BE0A2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4A713E5-5FC5-158E-4A77-0C7C0EE9A167}"/>
              </a:ext>
            </a:extLst>
          </p:cNvPr>
          <p:cNvSpPr txBox="1"/>
          <p:nvPr/>
        </p:nvSpPr>
        <p:spPr>
          <a:xfrm>
            <a:off x="3804832" y="3198167"/>
            <a:ext cx="45823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/>
              <a:t>🎬</a:t>
            </a:r>
            <a:r>
              <a:rPr lang="en-US" sz="4800">
                <a:latin typeface="Fira Sans Condensed SemiBold" panose="020B0603050000020004" pitchFamily="34" charset="0"/>
              </a:rPr>
              <a:t>Demo 01 &amp; 02</a:t>
            </a:r>
            <a:endParaRPr lang="en-US" sz="48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3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constructors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03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</a:t>
            </a:r>
            <a:r>
              <a:rPr lang="en-US" sz="2400" i="1">
                <a:latin typeface="Fira Sans Condensed SemiBold" panose="020B0603050000020004" pitchFamily="34" charset="0"/>
              </a:rPr>
              <a:t>and must</a:t>
            </a:r>
            <a:r>
              <a:rPr lang="en-US" sz="2400">
                <a:latin typeface="Fira Sans Condensed SemiBold" panose="020B0603050000020004" pitchFamily="34" charset="0"/>
              </a:rPr>
              <a:t>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04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414543" y="490008"/>
            <a:ext cx="7362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870" y="2853046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126222" y="4942927"/>
            <a:ext cx="9939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 dirty="0">
                <a:latin typeface="Fira Sans Condensed SemiBold" panose="020B0603050000020004" pitchFamily="34" charset="0"/>
              </a:rPr>
              <a:t> requires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 dirty="0">
                <a:latin typeface="Fira Sans Condensed SemiBold" panose="020B0603050000020004" pitchFamily="34" charset="0"/>
              </a:rPr>
              <a:t> bit CPU vs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192</a:t>
            </a:r>
            <a:r>
              <a:rPr lang="en-US" sz="2400" dirty="0">
                <a:latin typeface="Fira Sans Condensed SemiBold" panose="020B0603050000020004" pitchFamily="34" charset="0"/>
              </a:rPr>
              <a:t> bits here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6605" y="2545270"/>
            <a:ext cx="4221170" cy="193899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414543" y="490008"/>
            <a:ext cx="7362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774325"/>
            <a:ext cx="4221170" cy="224676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boolean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origin_null</a:t>
            </a:r>
            <a:r>
              <a:rPr lang="fr-FR" alt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;</a:t>
            </a:r>
            <a:endParaRPr lang="fr-FR" altLang="fr-FR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EB0CBE-9B9A-ED1A-B2C3-9358716562EB}"/>
              </a:ext>
            </a:extLst>
          </p:cNvPr>
          <p:cNvSpPr txBox="1"/>
          <p:nvPr/>
        </p:nvSpPr>
        <p:spPr>
          <a:xfrm>
            <a:off x="2267761" y="200173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latin typeface="Fira Sans Condensed SemiBold" panose="020B0603050000020004" pitchFamily="34" charset="0"/>
              </a:rPr>
              <a:t>  marker required :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 dirty="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 dirty="0">
                <a:latin typeface="Fira Sans Condensed SemiBold" panose="020B0603050000020004" pitchFamily="34" charset="0"/>
              </a:rPr>
              <a:t> bits)</a:t>
            </a:r>
          </a:p>
        </p:txBody>
      </p:sp>
    </p:spTree>
    <p:extLst>
      <p:ext uri="{BB962C8B-B14F-4D97-AF65-F5344CB8AC3E}">
        <p14:creationId xmlns:p14="http://schemas.microsoft.com/office/powerpoint/2010/main" val="2673239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520342" y="490008"/>
            <a:ext cx="7151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on heap : storing </a:t>
            </a:r>
            <a:r>
              <a:rPr lang="en-US" sz="3600" dirty="0">
                <a:solidFill>
                  <a:srgbClr val="0033B3"/>
                </a:solidFill>
                <a:latin typeface="Consolas" panose="020B0609020204030204" pitchFamily="49" charset="0"/>
              </a:rPr>
              <a:t>Vec3[]</a:t>
            </a:r>
            <a:r>
              <a:rPr lang="en-US" sz="3600" dirty="0">
                <a:latin typeface="Fira Sans Condensed SemiBold" panose="020B0603050000020004" pitchFamily="34" charset="0"/>
              </a:rPr>
              <a:t> 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D15C2D2A-278C-3769-3406-C9383C4B605B}"/>
              </a:ext>
            </a:extLst>
          </p:cNvPr>
          <p:cNvSpPr txBox="1"/>
          <p:nvPr/>
        </p:nvSpPr>
        <p:spPr>
          <a:xfrm>
            <a:off x="2753543" y="142585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 dirty="0">
                <a:latin typeface="Fira Sans Condensed SemiBold" panose="020B0603050000020004" pitchFamily="34" charset="0"/>
              </a:rPr>
              <a:t> is too “large” to be flattened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874C75F7-CE93-85B8-65D6-30D9A636572A}"/>
              </a:ext>
            </a:extLst>
          </p:cNvPr>
          <p:cNvGrpSpPr/>
          <p:nvPr/>
        </p:nvGrpSpPr>
        <p:grpSpPr>
          <a:xfrm>
            <a:off x="958332" y="3478862"/>
            <a:ext cx="5536429" cy="861775"/>
            <a:chOff x="2452539" y="3511139"/>
            <a:chExt cx="5536429" cy="861775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070AD4D8-8E1B-D8D7-2BD4-1FE3F899E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5536428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TextBox 9">
              <a:extLst>
                <a:ext uri="{FF2B5EF4-FFF2-40B4-BE49-F238E27FC236}">
                  <a16:creationId xmlns:a16="http://schemas.microsoft.com/office/drawing/2014/main" id="{F924E763-506C-1E29-EFBC-5CDF97E74A5A}"/>
                </a:ext>
              </a:extLst>
            </p:cNvPr>
            <p:cNvSpPr txBox="1"/>
            <p:nvPr/>
          </p:nvSpPr>
          <p:spPr>
            <a:xfrm>
              <a:off x="2753542" y="3511139"/>
              <a:ext cx="523542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>
                  <a:latin typeface="Fira Sans Condensed SemiBold" panose="020B0603050000020004" pitchFamily="34" charset="0"/>
                </a:rPr>
                <a:t>A cheap version can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03A529-8E05-2E17-D67B-FEC07812CD6A}"/>
              </a:ext>
            </a:extLst>
          </p:cNvPr>
          <p:cNvGrpSpPr/>
          <p:nvPr/>
        </p:nvGrpSpPr>
        <p:grpSpPr>
          <a:xfrm>
            <a:off x="8533276" y="2207290"/>
            <a:ext cx="1502768" cy="4266694"/>
            <a:chOff x="710739" y="2694253"/>
            <a:chExt cx="1502768" cy="4266694"/>
          </a:xfrm>
        </p:grpSpPr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9688BB31-798B-2949-7407-6DBF3A35F69E}"/>
                </a:ext>
              </a:extLst>
            </p:cNvPr>
            <p:cNvSpPr txBox="1"/>
            <p:nvPr/>
          </p:nvSpPr>
          <p:spPr>
            <a:xfrm>
              <a:off x="860035" y="2694253"/>
              <a:ext cx="1204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</a:rPr>
                <a:t>Vec3[]</a:t>
              </a:r>
              <a:endParaRPr lang="fr-FR" sz="2400" dirty="0">
                <a:latin typeface="Consolas" panose="020B0609020204030204" pitchFamily="49" charset="0"/>
              </a:endParaRPr>
            </a:p>
          </p:txBody>
        </p: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CEB5CBB7-0271-E443-10CE-30B526F1CFB5}"/>
                </a:ext>
              </a:extLst>
            </p:cNvPr>
            <p:cNvGrpSpPr/>
            <p:nvPr/>
          </p:nvGrpSpPr>
          <p:grpSpPr>
            <a:xfrm>
              <a:off x="710739" y="3155918"/>
              <a:ext cx="1502768" cy="3805029"/>
              <a:chOff x="5344616" y="2160015"/>
              <a:chExt cx="1502768" cy="3805029"/>
            </a:xfrm>
          </p:grpSpPr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C737E34-2B07-815C-545B-19F50F406012}"/>
                  </a:ext>
                </a:extLst>
              </p:cNvPr>
              <p:cNvGrpSpPr/>
              <p:nvPr/>
            </p:nvGrpSpPr>
            <p:grpSpPr>
              <a:xfrm>
                <a:off x="5344616" y="2160015"/>
                <a:ext cx="1502768" cy="3805029"/>
                <a:chOff x="1331843" y="1855304"/>
                <a:chExt cx="1345096" cy="3805029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8A4A4E52-3CEB-C44B-7DEE-43C71689AFB0}"/>
                    </a:ext>
                  </a:extLst>
                </p:cNvPr>
                <p:cNvSpPr/>
                <p:nvPr/>
              </p:nvSpPr>
              <p:spPr>
                <a:xfrm>
                  <a:off x="1331843" y="1855304"/>
                  <a:ext cx="1345096" cy="52346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Header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C82633F9-877F-EA0B-367D-4853D61A0282}"/>
                    </a:ext>
                  </a:extLst>
                </p:cNvPr>
                <p:cNvSpPr/>
                <p:nvPr/>
              </p:nvSpPr>
              <p:spPr>
                <a:xfrm>
                  <a:off x="1331843" y="2378765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x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2B035FF-2607-E4F5-2752-5EB14A38712D}"/>
                    </a:ext>
                  </a:extLst>
                </p:cNvPr>
                <p:cNvSpPr/>
                <p:nvPr/>
              </p:nvSpPr>
              <p:spPr>
                <a:xfrm>
                  <a:off x="1331843" y="2729948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y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4E60E47-3AB5-D9E8-B520-0073D859B515}"/>
                    </a:ext>
                  </a:extLst>
                </p:cNvPr>
                <p:cNvSpPr/>
                <p:nvPr/>
              </p:nvSpPr>
              <p:spPr>
                <a:xfrm>
                  <a:off x="1331843" y="3077817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z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D722396-DF5E-1A71-7121-8756E7E79EA1}"/>
                    </a:ext>
                  </a:extLst>
                </p:cNvPr>
                <p:cNvSpPr/>
                <p:nvPr/>
              </p:nvSpPr>
              <p:spPr>
                <a:xfrm>
                  <a:off x="1331843" y="5521185"/>
                  <a:ext cx="1345096" cy="13914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latin typeface="Consolas" panose="020B0609020204030204" pitchFamily="49" charset="0"/>
                  </a:endParaRPr>
                </a:p>
              </p:txBody>
            </p:sp>
          </p:grp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4077CD-57BC-FFC6-4A85-322701B81360}"/>
                  </a:ext>
                </a:extLst>
              </p:cNvPr>
              <p:cNvSpPr/>
              <p:nvPr/>
            </p:nvSpPr>
            <p:spPr>
              <a:xfrm>
                <a:off x="5344616" y="4079923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9305327-AC04-6E05-7491-627A805B1418}"/>
                  </a:ext>
                </a:extLst>
              </p:cNvPr>
              <p:cNvSpPr/>
              <p:nvPr/>
            </p:nvSpPr>
            <p:spPr>
              <a:xfrm>
                <a:off x="5344616" y="4431106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3EF0DD-F5AF-9D89-55F6-322B576A045B}"/>
                  </a:ext>
                </a:extLst>
              </p:cNvPr>
              <p:cNvSpPr/>
              <p:nvPr/>
            </p:nvSpPr>
            <p:spPr>
              <a:xfrm>
                <a:off x="5344616" y="4778975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121AF1-75F7-0650-C361-A0601375ABED}"/>
                  </a:ext>
                </a:extLst>
              </p:cNvPr>
              <p:cNvSpPr/>
              <p:nvPr/>
            </p:nvSpPr>
            <p:spPr>
              <a:xfrm>
                <a:off x="5344616" y="5478027"/>
                <a:ext cx="1502768" cy="35118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latin typeface="Consolas" panose="020B0609020204030204" pitchFamily="49" charset="0"/>
                  </a:rPr>
                  <a:t>…</a:t>
                </a: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BB65101-BA0E-2AEC-AC56-3FA79363B269}"/>
                </a:ext>
              </a:extLst>
            </p:cNvPr>
            <p:cNvSpPr/>
            <p:nvPr/>
          </p:nvSpPr>
          <p:spPr>
            <a:xfrm>
              <a:off x="710739" y="4727957"/>
              <a:ext cx="1502768" cy="35118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latin typeface="Consolas" panose="020B0609020204030204" pitchFamily="49" charset="0"/>
                </a:rPr>
                <a:t>null_marker</a:t>
              </a:r>
              <a:endParaRPr lang="fr-FR" sz="1600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1C69D66-70F9-596F-D3A1-4ED8C2342667}"/>
                </a:ext>
              </a:extLst>
            </p:cNvPr>
            <p:cNvSpPr/>
            <p:nvPr/>
          </p:nvSpPr>
          <p:spPr>
            <a:xfrm>
              <a:off x="710739" y="6126061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latin typeface="Consolas" panose="020B0609020204030204" pitchFamily="49" charset="0"/>
                </a:rPr>
                <a:t>null_marker</a:t>
              </a:r>
              <a:endParaRPr lang="fr-FR" sz="1600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572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78C9-D527-4707-96C7-022193C36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13C4A9-5841-7515-5FFF-7EFC7910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6F425E-FC57-B3F5-24AB-108B23FFF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3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23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24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411617" y="490008"/>
            <a:ext cx="53687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Defining the Domain Model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4B02D644-FFBD-1C50-CF49-899C86865A0B}"/>
              </a:ext>
            </a:extLst>
          </p:cNvPr>
          <p:cNvGrpSpPr/>
          <p:nvPr/>
        </p:nvGrpSpPr>
        <p:grpSpPr>
          <a:xfrm>
            <a:off x="1773827" y="5074495"/>
            <a:ext cx="8644344" cy="890652"/>
            <a:chOff x="1773827" y="5210682"/>
            <a:chExt cx="8644344" cy="890652"/>
          </a:xfrm>
        </p:grpSpPr>
        <p:sp>
          <p:nvSpPr>
            <p:cNvPr id="5" name="TextBox 9">
              <a:extLst>
                <a:ext uri="{FF2B5EF4-FFF2-40B4-BE49-F238E27FC236}">
                  <a16:creationId xmlns:a16="http://schemas.microsoft.com/office/drawing/2014/main" id="{EAF201C6-28DE-58EB-2DAD-6A4DEF48AC00}"/>
                </a:ext>
              </a:extLst>
            </p:cNvPr>
            <p:cNvSpPr txBox="1"/>
            <p:nvPr/>
          </p:nvSpPr>
          <p:spPr>
            <a:xfrm>
              <a:off x="1773827" y="5210682"/>
              <a:ext cx="864434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dirty="0">
                  <a:latin typeface="Fira Sans Condensed SemiBold" panose="020B0603050000020004" pitchFamily="34" charset="0"/>
                </a:rPr>
                <a:t>Accumulate encountered light and produce the pixel’s final </a:t>
              </a:r>
              <a:r>
                <a:rPr lang="en-US" sz="2400" dirty="0">
                  <a:solidFill>
                    <a:srgbClr val="0033B3"/>
                  </a:solidFill>
                  <a:latin typeface="Consolas" panose="020B0609020204030204" pitchFamily="49" charset="0"/>
                </a:rPr>
                <a:t>Color</a:t>
              </a:r>
            </a:p>
          </p:txBody>
        </p:sp>
        <p:sp>
          <p:nvSpPr>
            <p:cNvPr id="8" name="Rectangle 1">
              <a:extLst>
                <a:ext uri="{FF2B5EF4-FFF2-40B4-BE49-F238E27FC236}">
                  <a16:creationId xmlns:a16="http://schemas.microsoft.com/office/drawing/2014/main" id="{1CE785D7-A4B9-7FAD-D5DC-0D295C60F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570122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Color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r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g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b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226FAFF-3F63-286C-AECB-314D123D14E5}"/>
              </a:ext>
            </a:extLst>
          </p:cNvPr>
          <p:cNvGrpSpPr/>
          <p:nvPr/>
        </p:nvGrpSpPr>
        <p:grpSpPr>
          <a:xfrm>
            <a:off x="2452539" y="1837560"/>
            <a:ext cx="7286920" cy="914939"/>
            <a:chOff x="2452539" y="1875349"/>
            <a:chExt cx="7286920" cy="914939"/>
          </a:xfrm>
        </p:grpSpPr>
        <p:sp>
          <p:nvSpPr>
            <p:cNvPr id="7" name="Rectangle 1">
              <a:extLst>
                <a:ext uri="{FF2B5EF4-FFF2-40B4-BE49-F238E27FC236}">
                  <a16:creationId xmlns:a16="http://schemas.microsoft.com/office/drawing/2014/main" id="{7B9E3728-5C13-7F5B-9C72-4C6B88A9A6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2390178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Ray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origin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direction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229A5C77-880A-CE38-B38C-094C5935E6E5}"/>
                </a:ext>
              </a:extLst>
            </p:cNvPr>
            <p:cNvSpPr txBox="1"/>
            <p:nvPr/>
          </p:nvSpPr>
          <p:spPr>
            <a:xfrm>
              <a:off x="3046379" y="1875349"/>
              <a:ext cx="60992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Trace thousands of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Ray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from the camera 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64864278-88EB-D11B-BA2C-C690294B0D7C}"/>
              </a:ext>
            </a:extLst>
          </p:cNvPr>
          <p:cNvGrpSpPr/>
          <p:nvPr/>
        </p:nvGrpSpPr>
        <p:grpSpPr>
          <a:xfrm>
            <a:off x="2180617" y="3453720"/>
            <a:ext cx="7830765" cy="919194"/>
            <a:chOff x="2180617" y="3453720"/>
            <a:chExt cx="7830765" cy="919194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161A580C-5E28-E439-3273-1AD4A8DCA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3E0458FA-647B-459C-BD13-B0E858412638}"/>
                </a:ext>
              </a:extLst>
            </p:cNvPr>
            <p:cNvSpPr txBox="1"/>
            <p:nvPr/>
          </p:nvSpPr>
          <p:spPr>
            <a:xfrm>
              <a:off x="2180617" y="3453720"/>
              <a:ext cx="783076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Use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Vec3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to represent and update positions and directions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4130558" y="119512"/>
            <a:ext cx="3930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Algorithm’s snippet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25DF5256-B858-24B9-23DD-7A13409362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2386302"/>
            <a:ext cx="8307422" cy="42780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!=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1.0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155E4C8-3497-5C8C-19BF-8DE3381E7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1037463"/>
            <a:ext cx="8307422" cy="10772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var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vel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forward</a:t>
            </a:r>
            <a:endParaRPr lang="fr-FR" altLang="fr-F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right.mul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(u))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trueUp.mul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(v))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norm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9A9534-F64D-CEA8-BAE9-09A8E2B4563E}"/>
              </a:ext>
            </a:extLst>
          </p:cNvPr>
          <p:cNvSpPr txBox="1"/>
          <p:nvPr/>
        </p:nvSpPr>
        <p:spPr>
          <a:xfrm>
            <a:off x="8372274" y="1037462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Fira Sans SemiBold" panose="020B0603050000020004" pitchFamily="34" charset="0"/>
              </a:rPr>
              <a:t>With value class</a:t>
            </a:r>
            <a:endParaRPr lang="fr-FR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972C23-0020-7CEF-663C-660BC7ABD56A}"/>
              </a:ext>
            </a:extLst>
          </p:cNvPr>
          <p:cNvSpPr txBox="1"/>
          <p:nvPr/>
        </p:nvSpPr>
        <p:spPr>
          <a:xfrm>
            <a:off x="8016407" y="23863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Fira Sans SemiBold" panose="020B0603050000020004" pitchFamily="34" charset="0"/>
              </a:rPr>
              <a:t>Without value class</a:t>
            </a:r>
            <a:endParaRPr lang="fr-FR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105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111536309,830 ±  9,108    B/op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   211368,714 ±  7,780    B/op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88249-B58B-19C0-5777-891AD835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388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1AC5E7-0899-9B8A-F910-161B65F8B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1131"/>
            <a:ext cx="12192000" cy="541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Classes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05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1438619" y="1980169"/>
            <a:ext cx="93147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clears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sets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classes…</a:t>
            </a:r>
          </a:p>
          <a:p>
            <a:pPr lvl="0"/>
            <a:r>
              <a:rPr lang="en-US" sz="2400">
                <a:latin typeface="Fira Sans Condensed SemiBold" panose="020B0603050000020004" pitchFamily="34" charset="0"/>
              </a:rPr>
              <a:t>    … but this may help : the compiler adds a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solidFill>
                  <a:srgbClr val="0033B3"/>
                </a:solidFill>
                <a:latin typeface="Fira Sans SemiBold" panose="020B0603050000020004" pitchFamily="34" charset="0"/>
              </a:rPr>
              <a:t> </a:t>
            </a:r>
            <a:r>
              <a:rPr lang="en-US" sz="2400">
                <a:latin typeface="Fira Sans Condensed SemiBold" panose="020B0603050000020004" pitchFamily="34" charset="0"/>
              </a:rPr>
              <a:t>attribute to ask to load value classes early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056730"/>
            <a:ext cx="102699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No-cost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(OOP) with primitive performance</a:t>
            </a:r>
          </a:p>
          <a:p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Will change the way you write Java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41949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https://github.com/CodeSimcoe/blackhole-devoxx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430772"/>
            <a:ext cx="2186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Classes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  <p:pic>
        <p:nvPicPr>
          <p:cNvPr id="7" name="Picture 6" descr="QR Code Image">
            <a:extLst>
              <a:ext uri="{FF2B5EF4-FFF2-40B4-BE49-F238E27FC236}">
                <a16:creationId xmlns:a16="http://schemas.microsoft.com/office/drawing/2014/main" id="{4E6588ED-DAD8-3857-59AD-6698AA9C6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189" y="4882049"/>
            <a:ext cx="1583622" cy="1583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453568" y="490008"/>
            <a:ext cx="3284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types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4" name="Tableau 4">
            <a:extLst>
              <a:ext uri="{FF2B5EF4-FFF2-40B4-BE49-F238E27FC236}">
                <a16:creationId xmlns:a16="http://schemas.microsoft.com/office/drawing/2014/main" id="{5C4FAA36-7A19-A5BD-5345-7AA9D5729866}"/>
              </a:ext>
            </a:extLst>
          </p:cNvPr>
          <p:cNvGraphicFramePr>
            <a:graphicFrameLocks noGrp="1"/>
          </p:cNvGraphicFramePr>
          <p:nvPr/>
        </p:nvGraphicFramePr>
        <p:xfrm>
          <a:off x="346953" y="2208180"/>
          <a:ext cx="11498094" cy="207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2698">
                  <a:extLst>
                    <a:ext uri="{9D8B030D-6E8A-4147-A177-3AD203B41FA5}">
                      <a16:colId xmlns:a16="http://schemas.microsoft.com/office/drawing/2014/main" val="1105050186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473807918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2952751683"/>
                    </a:ext>
                  </a:extLst>
                </a:gridCol>
              </a:tblGrid>
              <a:tr h="690664">
                <a:tc>
                  <a:txBody>
                    <a:bodyPr/>
                    <a:lstStyle/>
                    <a:p>
                      <a:endParaRPr lang="fr-FR" sz="2400"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marker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1080007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56 bits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64 bits*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7604896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non-</a:t>
                      </a:r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must </a:t>
                      </a:r>
                      <a:r>
                        <a:rPr lang="fr-FR" sz="2400" dirty="0" err="1">
                          <a:latin typeface="Fira Sans SemiBold" panose="020B0603050000020004" pitchFamily="34" charset="0"/>
                        </a:rPr>
                        <a:t>be</a:t>
                      </a:r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 strict final*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no restriction*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9325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0A439666-DC65-3B55-658D-06C0376F0159}"/>
              </a:ext>
            </a:extLst>
          </p:cNvPr>
          <p:cNvSpPr txBox="1"/>
          <p:nvPr/>
        </p:nvSpPr>
        <p:spPr>
          <a:xfrm>
            <a:off x="2267760" y="473235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(*) not yet fully implemented</a:t>
            </a:r>
          </a:p>
        </p:txBody>
      </p:sp>
    </p:spTree>
    <p:extLst>
      <p:ext uri="{BB962C8B-B14F-4D97-AF65-F5344CB8AC3E}">
        <p14:creationId xmlns:p14="http://schemas.microsoft.com/office/powerpoint/2010/main" val="1353586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6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Valhalla Roadmap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 dirty="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982367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144413" y="2558512"/>
            <a:ext cx="99031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latin typeface="Fira Sans Condensed SemiBold" panose="020B0603050000020004" pitchFamily="34" charset="0"/>
              </a:rPr>
              <a:t>Default </a:t>
            </a:r>
            <a:r>
              <a:rPr lang="fr-FR" altLang="fr-FR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hashCode</a:t>
            </a: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</a:t>
            </a:r>
            <a:r>
              <a:rPr lang="en-US" sz="2400" i="1" dirty="0">
                <a:latin typeface="Fira Sans Condensed SemiBold" panose="020B0603050000020004" pitchFamily="34" charset="0"/>
              </a:rPr>
              <a:t>still</a:t>
            </a:r>
            <a:r>
              <a:rPr lang="en-US" sz="2400" dirty="0">
                <a:latin typeface="Fira Sans Condensed SemiBold" panose="020B0603050000020004" pitchFamily="34" charset="0"/>
              </a:rPr>
              <a:t> has no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Relies on the fields’ values to compute the hash</a:t>
            </a:r>
          </a:p>
        </p:txBody>
      </p:sp>
    </p:spTree>
    <p:extLst>
      <p:ext uri="{BB962C8B-B14F-4D97-AF65-F5344CB8AC3E}">
        <p14:creationId xmlns:p14="http://schemas.microsoft.com/office/powerpoint/2010/main" val="1365020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4494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8343</TotalTime>
  <Words>1454</Words>
  <Application>Microsoft Office PowerPoint</Application>
  <PresentationFormat>Widescreen</PresentationFormat>
  <Paragraphs>288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509</cp:revision>
  <cp:lastPrinted>2026-09-26T13:38:52Z</cp:lastPrinted>
  <dcterms:created xsi:type="dcterms:W3CDTF">2025-12-16T09:28:58Z</dcterms:created>
  <dcterms:modified xsi:type="dcterms:W3CDTF">2026-09-26T15:23:48Z</dcterms:modified>
</cp:coreProperties>
</file>