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438" r:id="rId2"/>
    <p:sldId id="442" r:id="rId3"/>
    <p:sldId id="468" r:id="rId4"/>
    <p:sldId id="443" r:id="rId5"/>
    <p:sldId id="445" r:id="rId6"/>
    <p:sldId id="446" r:id="rId7"/>
    <p:sldId id="448" r:id="rId8"/>
    <p:sldId id="449" r:id="rId9"/>
    <p:sldId id="447" r:id="rId10"/>
    <p:sldId id="439" r:id="rId11"/>
    <p:sldId id="440" r:id="rId12"/>
    <p:sldId id="453" r:id="rId13"/>
    <p:sldId id="444" r:id="rId14"/>
    <p:sldId id="450" r:id="rId15"/>
    <p:sldId id="451" r:id="rId16"/>
    <p:sldId id="469" r:id="rId17"/>
    <p:sldId id="456" r:id="rId18"/>
    <p:sldId id="457" r:id="rId19"/>
    <p:sldId id="462" r:id="rId20"/>
    <p:sldId id="466" r:id="rId21"/>
    <p:sldId id="465" r:id="rId22"/>
    <p:sldId id="470" r:id="rId23"/>
    <p:sldId id="458" r:id="rId24"/>
    <p:sldId id="460" r:id="rId25"/>
    <p:sldId id="459" r:id="rId26"/>
    <p:sldId id="471" r:id="rId27"/>
    <p:sldId id="441" r:id="rId28"/>
    <p:sldId id="287" r:id="rId29"/>
    <p:sldId id="461" r:id="rId30"/>
    <p:sldId id="273" r:id="rId31"/>
    <p:sldId id="464" r:id="rId32"/>
    <p:sldId id="463" r:id="rId33"/>
    <p:sldId id="309" r:id="rId34"/>
    <p:sldId id="467" r:id="rId35"/>
    <p:sldId id="317" r:id="rId36"/>
    <p:sldId id="452" r:id="rId37"/>
    <p:sldId id="454" r:id="rId38"/>
    <p:sldId id="455" r:id="rId3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6" autoAdjust="0"/>
    <p:restoredTop sz="92342" autoAdjust="0"/>
  </p:normalViewPr>
  <p:slideViewPr>
    <p:cSldViewPr snapToGrid="0">
      <p:cViewPr varScale="1">
        <p:scale>
          <a:sx n="98" d="100"/>
          <a:sy n="98" d="100"/>
        </p:scale>
        <p:origin x="3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22/09/2026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22/09/2026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22/09/2026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22/09/2026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22/09/2026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22/09/2026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22/09/2026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22/09/2026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22/09/2026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22/09/2026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22/09/2026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22/09/2026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‹N°›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7378" y="1234795"/>
            <a:ext cx="3728636" cy="40800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817101" y="1759225"/>
            <a:ext cx="629531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>
                <a:latin typeface="Fira Sans Condensed SemiBold" panose="020B0603050000020004" pitchFamily="34" charset="0"/>
              </a:rPr>
              <a:t>Platform (Loom, Panama, Leyden, Lilliput, </a:t>
            </a:r>
            <a:r>
              <a:rPr lang="en-US" sz="2000" i="1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 dirty="0">
                <a:latin typeface="Fira Sans Condensed SemiBold" panose="020B06030500000200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1794176" y="4052298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5626279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8A4050-8EED-70EB-84A7-53FC8E77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2794B-8C53-08FF-82E5-6B53D2ABB19B}"/>
              </a:ext>
            </a:extLst>
          </p:cNvPr>
          <p:cNvSpPr txBox="1"/>
          <p:nvPr/>
        </p:nvSpPr>
        <p:spPr>
          <a:xfrm>
            <a:off x="3926933" y="3518205"/>
            <a:ext cx="43381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Primitives vs </a:t>
            </a:r>
            <a:r>
              <a:rPr lang="fr-FR" sz="2400" dirty="0" err="1">
                <a:latin typeface="Fira Sans Condensed SemiBold" panose="020B0603050000020004" pitchFamily="34" charset="0"/>
              </a:rPr>
              <a:t>Objects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E404AC-B1C5-A965-89ED-AC515CAA4B20}"/>
              </a:ext>
            </a:extLst>
          </p:cNvPr>
          <p:cNvSpPr txBox="1"/>
          <p:nvPr/>
        </p:nvSpPr>
        <p:spPr>
          <a:xfrm>
            <a:off x="4624285" y="490008"/>
            <a:ext cx="29434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Why Valhalla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13ABFFE-7CD6-C520-153E-38B2171A55E5}"/>
              </a:ext>
            </a:extLst>
          </p:cNvPr>
          <p:cNvSpPr txBox="1"/>
          <p:nvPr/>
        </p:nvSpPr>
        <p:spPr>
          <a:xfrm>
            <a:off x="2063292" y="2290899"/>
            <a:ext cx="80654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latin typeface="Fira Sans Condensed SemiBold" panose="020B0603050000020004" pitchFamily="34" charset="0"/>
              </a:rPr>
              <a:t>Goals</a:t>
            </a:r>
            <a:endParaRPr lang="en-US" sz="32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39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final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6EC9123D-A953-7BD1-17D7-5BA953C78F9C}"/>
              </a:ext>
            </a:extLst>
          </p:cNvPr>
          <p:cNvSpPr txBox="1"/>
          <p:nvPr/>
        </p:nvSpPr>
        <p:spPr>
          <a:xfrm>
            <a:off x="3445178" y="2084528"/>
            <a:ext cx="5301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Fira Sans Condensed SemiBold" panose="020B0603050000020004" pitchFamily="34" charset="0"/>
              </a:rPr>
              <a:t>Primitives are second class citizens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abstraction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common array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cannot be used as generics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No method (</a:t>
            </a:r>
            <a:r>
              <a:rPr lang="en-US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toString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b="1" dirty="0">
                <a:latin typeface="Fira Sans Condensed SemiBold" panose="020B0603050000020004" pitchFamily="34" charset="0"/>
              </a:rPr>
              <a:t>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latin typeface="Fira Sans Condensed SemiBold" panose="020B0603050000020004" pitchFamily="34" charset="0"/>
              </a:rPr>
              <a:t>== vs equals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A3B17-267A-FAD7-72F3-A4512D0E3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C7E62C-3FFC-E229-3320-764578DBCBAA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1ADED-9E38-8974-F7BE-D6B74297ECF0}"/>
              </a:ext>
            </a:extLst>
          </p:cNvPr>
          <p:cNvSpPr txBox="1"/>
          <p:nvPr/>
        </p:nvSpPr>
        <p:spPr>
          <a:xfrm>
            <a:off x="2751174" y="3167390"/>
            <a:ext cx="66896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latin typeface="Fira Sans Condensed SemiBold" panose="020B0603050000020004" pitchFamily="34" charset="0"/>
              </a:rPr>
              <a:t>These are </a:t>
            </a:r>
            <a:r>
              <a:rPr lang="en-US" sz="28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800">
                <a:latin typeface="Fira Sans Condensed SemiBold" panose="020B0603050000020004" pitchFamily="34" charset="0"/>
              </a:rPr>
              <a:t> or experimental features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DE535F-78F2-59DE-96E8-D62481E3E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E61677-B91B-280C-8D4A-65FB599F5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70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758331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</a:t>
            </a:r>
            <a:r>
              <a:rPr lang="en-US" sz="2400">
                <a:latin typeface="Fira Sans Condensed SemiBold" panose="020B0603050000020004" pitchFamily="34" charset="0"/>
              </a:rPr>
              <a:t>nstances </a:t>
            </a:r>
            <a:r>
              <a:rPr lang="en-US" sz="2400" dirty="0">
                <a:latin typeface="Fira Sans Condensed SemiBold" panose="020B0603050000020004" pitchFamily="34" charset="0"/>
              </a:rPr>
              <a:t>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F521E-D226-599D-0321-A5277AA48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3E0E9D-3E94-2985-BE42-562122D6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1B633D86-26D3-FEB8-1ECF-106E4A9DB5DA}"/>
              </a:ext>
            </a:extLst>
          </p:cNvPr>
          <p:cNvSpPr txBox="1"/>
          <p:nvPr/>
        </p:nvSpPr>
        <p:spPr>
          <a:xfrm>
            <a:off x="1779355" y="33782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A value class instance is passed “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>
                <a:latin typeface="Fira Sans Condensed SemiBold" panose="020B0603050000020004" pitchFamily="34" charset="0"/>
              </a:rPr>
              <a:t>”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F1DCD4FB-30F5-955A-C171-089AEAE22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1306738"/>
            <a:ext cx="9355315" cy="101566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 sz="2000" err="1">
                <a:solidFill>
                  <a:srgbClr val="0033B3"/>
                </a:solidFill>
                <a:latin typeface="Consolas" panose="020B0609020204030204" pitchFamily="49" charset="0"/>
              </a:rPr>
              <a:t>static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</a:t>
            </a:r>
            <a:r>
              <a:rPr lang="fr-FR" sz="2000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 p,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20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{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2000">
                <a:solidFill>
                  <a:srgbClr val="0033B3"/>
                </a:solidFill>
                <a:latin typeface="Consolas" panose="020B0609020204030204" pitchFamily="49" charset="0"/>
              </a:rPr>
              <a:t>new </a:t>
            </a:r>
            <a:r>
              <a:rPr lang="fr-FR" sz="2000">
                <a:solidFill>
                  <a:srgbClr val="000000"/>
                </a:solidFill>
                <a:latin typeface="Consolas" panose="020B0609020204030204" pitchFamily="49" charset="0"/>
              </a:rPr>
              <a:t>Point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p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.</a:t>
            </a:r>
            <a:r>
              <a:rPr 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 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2000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2000">
                <a:solidFill>
                  <a:srgbClr val="080808"/>
                </a:solidFill>
                <a:latin typeface="Consolas" panose="020B0609020204030204" pitchFamily="49" charset="0"/>
              </a:rPr>
              <a:t>);</a:t>
            </a:r>
            <a:b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 sz="2000" dirty="0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5EC6A63-888D-9DE2-C0C2-1F0E0EB75269}"/>
              </a:ext>
            </a:extLst>
          </p:cNvPr>
          <p:cNvSpPr txBox="1"/>
          <p:nvPr/>
        </p:nvSpPr>
        <p:spPr>
          <a:xfrm>
            <a:off x="2063292" y="3490054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At runtime, in pseudo Java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DC2F91FB-60D9-CD97-A419-5A68ED376B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8343" y="4432060"/>
            <a:ext cx="9355315" cy="92333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None/>
            </a:pP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static 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00627A"/>
                </a:solidFill>
                <a:latin typeface="Consolas" panose="020B0609020204030204" pitchFamily="49" charset="0"/>
              </a:rPr>
              <a:t>translate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 sz="1400" i="1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sz="1400" i="1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fr-FR" altLang="fr-FR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) {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  </a:t>
            </a:r>
            <a:r>
              <a:rPr lang="fr-FR">
                <a:solidFill>
                  <a:srgbClr val="0033B3"/>
                </a:solidFill>
                <a:latin typeface="Consolas" panose="020B0609020204030204" pitchFamily="49" charset="0"/>
              </a:rPr>
              <a:t>return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(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x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dx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,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y 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+ </a:t>
            </a:r>
            <a:r>
              <a:rPr lang="fr-FR" sz="1400" i="1">
                <a:solidFill>
                  <a:srgbClr val="871094"/>
                </a:solidFill>
                <a:latin typeface="Consolas" panose="020B0609020204030204" pitchFamily="49" charset="0"/>
              </a:rPr>
              <a:t>dy</a:t>
            </a:r>
            <a:r>
              <a:rPr lang="fr-FR" sz="1400" i="1">
                <a:solidFill>
                  <a:srgbClr val="080808"/>
                </a:solidFill>
                <a:latin typeface="Consolas" panose="020B0609020204030204" pitchFamily="49" charset="0"/>
              </a:rPr>
              <a:t>)</a:t>
            </a: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;</a:t>
            </a:r>
            <a:b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</a:br>
            <a:r>
              <a:rPr lang="fr-FR">
                <a:solidFill>
                  <a:srgbClr val="080808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E0C08F18-1A06-F293-A7C8-CF8D28362611}"/>
              </a:ext>
            </a:extLst>
          </p:cNvPr>
          <p:cNvSpPr txBox="1"/>
          <p:nvPr/>
        </p:nvSpPr>
        <p:spPr>
          <a:xfrm>
            <a:off x="2063292" y="5831495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May eliminate allocation (scalarization)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33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56C0-A7D0-8DE3-EB28-B7A9D61BA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4F2FDB-C6A2-243D-6DD7-21C1FBA8E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B56E31CD-D051-83AB-F76F-7EB00CD0ADD6}"/>
              </a:ext>
            </a:extLst>
          </p:cNvPr>
          <p:cNvSpPr txBox="1"/>
          <p:nvPr/>
        </p:nvSpPr>
        <p:spPr>
          <a:xfrm>
            <a:off x="4131032" y="490008"/>
            <a:ext cx="3735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  <a:r>
              <a:rPr lang="en-US" sz="3600">
                <a:latin typeface="Fira Sans Condensed SemiBold" panose="020B0603050000020004" pitchFamily="34" charset="0"/>
              </a:rPr>
              <a:t> are :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AB838EE-C6CF-D265-E24D-F5E5780FBE00}"/>
              </a:ext>
            </a:extLst>
          </p:cNvPr>
          <p:cNvSpPr txBox="1"/>
          <p:nvPr/>
        </p:nvSpPr>
        <p:spPr>
          <a:xfrm>
            <a:off x="1965980" y="1980996"/>
            <a:ext cx="80654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Identity-free</a:t>
            </a:r>
            <a:r>
              <a:rPr lang="en-US" sz="2400" dirty="0">
                <a:latin typeface="Fira Sans Condensed SemiBold" panose="020B0603050000020004" pitchFamily="34" charset="0"/>
              </a:rPr>
              <a:t> (no address in memory, no </a:t>
            </a:r>
            <a:r>
              <a:rPr lang="en-US" sz="2400">
                <a:latin typeface="Fira Sans Condensed SemiBold" panose="020B0603050000020004" pitchFamily="34" charset="0"/>
              </a:rPr>
              <a:t>header)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Unmodifiable</a:t>
            </a:r>
            <a:r>
              <a:rPr lang="en-US" sz="2400">
                <a:latin typeface="Fira Sans Condensed SemiBold" panose="020B0603050000020004" pitchFamily="34" charset="0"/>
              </a:rPr>
              <a:t> </a:t>
            </a:r>
            <a:r>
              <a:rPr lang="en-US" sz="2400" dirty="0">
                <a:latin typeface="Fira Sans Condensed SemiBold" panose="020B0603050000020004" pitchFamily="34" charset="0"/>
              </a:rPr>
              <a:t>(fields are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 dirty="0">
                <a:latin typeface="Fira Sans Condensed SemiBold" panose="020B0603050000020004" pitchFamily="34" charset="0"/>
              </a:rPr>
              <a:t>, class is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Stored </a:t>
            </a:r>
            <a:r>
              <a:rPr lang="en-US" sz="2400" dirty="0">
                <a:latin typeface="Fira Sans Condensed SemiBold" panose="020B0603050000020004" pitchFamily="34" charset="0"/>
              </a:rPr>
              <a:t>and passed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by value</a:t>
            </a:r>
            <a:r>
              <a:rPr lang="en-US" sz="2400" dirty="0">
                <a:latin typeface="Fira Sans Condensed SemiBold" panose="020B0603050000020004" pitchFamily="34" charset="0"/>
              </a:rPr>
              <a:t> rather than by pointer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FEB393-9B8C-CABF-79B8-501F733ACAD3}"/>
              </a:ext>
            </a:extLst>
          </p:cNvPr>
          <p:cNvSpPr txBox="1"/>
          <p:nvPr/>
        </p:nvSpPr>
        <p:spPr>
          <a:xfrm>
            <a:off x="1965980" y="4025982"/>
            <a:ext cx="69817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Goals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pointer indirection</a:t>
            </a:r>
            <a:r>
              <a:rPr lang="en-US" sz="2400">
                <a:latin typeface="Fira Sans Condensed SemiBold" panose="020B0603050000020004" pitchFamily="34" charset="0"/>
              </a:rPr>
              <a:t> for small data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No overhead</a:t>
            </a:r>
            <a:r>
              <a:rPr lang="en-US" sz="2400">
                <a:latin typeface="Fira Sans Condensed SemiBold" panose="020B0603050000020004" pitchFamily="34" charset="0"/>
              </a:rPr>
              <a:t> for heap allocation</a:t>
            </a:r>
          </a:p>
        </p:txBody>
      </p:sp>
    </p:spTree>
    <p:extLst>
      <p:ext uri="{BB962C8B-B14F-4D97-AF65-F5344CB8AC3E}">
        <p14:creationId xmlns:p14="http://schemas.microsoft.com/office/powerpoint/2010/main" val="1607546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70EA-5D1D-FBA5-8385-C7F083A8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ADCA92-F775-E0D1-38C1-E210BE0A2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4A713E5-5FC5-158E-4A77-0C7C0EE9A167}"/>
              </a:ext>
            </a:extLst>
          </p:cNvPr>
          <p:cNvSpPr txBox="1"/>
          <p:nvPr/>
        </p:nvSpPr>
        <p:spPr>
          <a:xfrm>
            <a:off x="3979772" y="3198167"/>
            <a:ext cx="4232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dirty="0"/>
              <a:t>🎬</a:t>
            </a:r>
            <a:r>
              <a:rPr lang="en-US" sz="4800" dirty="0">
                <a:latin typeface="Fira Sans Condensed SemiBold" panose="020B0603050000020004" pitchFamily="34" charset="0"/>
              </a:rPr>
              <a:t>Demo</a:t>
            </a:r>
            <a:endParaRPr lang="en-US" sz="48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763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C927B-A443-D269-A102-1CBFFF46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2368F2-7903-DF12-5AE9-95D7135CF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EB2B6B-D73A-2E94-EDA6-54D023F4D0FA}"/>
              </a:ext>
            </a:extLst>
          </p:cNvPr>
          <p:cNvSpPr txBox="1"/>
          <p:nvPr/>
        </p:nvSpPr>
        <p:spPr>
          <a:xfrm>
            <a:off x="2038639" y="490008"/>
            <a:ext cx="8114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Classes</a:t>
            </a:r>
            <a:r>
              <a:rPr lang="en-US" sz="3600">
                <a:latin typeface="Fira Sans Condensed SemiBold" panose="020B0603050000020004" pitchFamily="34" charset="0"/>
              </a:rPr>
              <a:t> require strict initialization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312EA3B-DD98-8346-5715-9BB1B8BF43CF}"/>
              </a:ext>
            </a:extLst>
          </p:cNvPr>
          <p:cNvSpPr txBox="1"/>
          <p:nvPr/>
        </p:nvSpPr>
        <p:spPr>
          <a:xfrm>
            <a:off x="1626880" y="1980996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</a:t>
            </a:r>
            <a:r>
              <a:rPr lang="en-US" sz="2400">
                <a:latin typeface="Fira Sans Condensed SemiBold" panose="020B0603050000020004" pitchFamily="34" charset="0"/>
              </a:rPr>
              <a:t> must never have an observable state that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there’s a place we can mutate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final</a:t>
            </a:r>
            <a:r>
              <a:rPr lang="en-US" sz="2400">
                <a:latin typeface="Fira Sans Condensed SemiBold" panose="020B0603050000020004" pitchFamily="34" charset="0"/>
              </a:rPr>
              <a:t> fields : the constructor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19108516-9423-A3FC-BEF2-A332A7E1C488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231C7C-94E3-1C3B-7515-71556E9C59E9}"/>
              </a:ext>
            </a:extLst>
          </p:cNvPr>
          <p:cNvSpPr txBox="1"/>
          <p:nvPr/>
        </p:nvSpPr>
        <p:spPr>
          <a:xfrm>
            <a:off x="1626880" y="3137464"/>
            <a:ext cx="8938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513 : Flexible Constructor Bodies </a:t>
            </a:r>
            <a:r>
              <a:rPr lang="en-US" sz="2400" i="1">
                <a:latin typeface="Fira Sans Condensed SemiBold" panose="020B0603050000020004" pitchFamily="34" charset="0"/>
              </a:rPr>
              <a:t>(Java 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all fields can - and must - be initialized before the call to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super()</a:t>
            </a:r>
          </a:p>
        </p:txBody>
      </p:sp>
    </p:spTree>
    <p:extLst>
      <p:ext uri="{BB962C8B-B14F-4D97-AF65-F5344CB8AC3E}">
        <p14:creationId xmlns:p14="http://schemas.microsoft.com/office/powerpoint/2010/main" val="98563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A7F15-9044-26C9-F637-4041CA12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5F5041-518B-9DDA-542A-34F347FB7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9803458-973C-4EF8-3B93-2BA2BD7BAED5}"/>
              </a:ext>
            </a:extLst>
          </p:cNvPr>
          <p:cNvSpPr txBox="1"/>
          <p:nvPr/>
        </p:nvSpPr>
        <p:spPr>
          <a:xfrm>
            <a:off x="2681444" y="490008"/>
            <a:ext cx="6829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Are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objects 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2E063BD-09FE-07F6-F3AA-8D4903C83DF9}"/>
              </a:ext>
            </a:extLst>
          </p:cNvPr>
          <p:cNvSpPr txBox="1"/>
          <p:nvPr/>
        </p:nvSpPr>
        <p:spPr>
          <a:xfrm>
            <a:off x="2681443" y="2429337"/>
            <a:ext cx="68291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Yes !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They can even implement interfaces…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or extend an abstract class</a:t>
            </a: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93E47F34-ECFF-0020-9ED4-16B24B2631E3}"/>
              </a:ext>
            </a:extLst>
          </p:cNvPr>
          <p:cNvSpPr txBox="1"/>
          <p:nvPr/>
        </p:nvSpPr>
        <p:spPr>
          <a:xfrm>
            <a:off x="5065090" y="4428663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887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2FBCB8AD-FD33-1FFF-1A95-A35F28DC0CB2}"/>
              </a:ext>
            </a:extLst>
          </p:cNvPr>
          <p:cNvSpPr txBox="1"/>
          <p:nvPr/>
        </p:nvSpPr>
        <p:spPr>
          <a:xfrm>
            <a:off x="2753543" y="1624940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It works, but the JVM might not be able to optimize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F403E-CE2C-11A1-EEDF-6BBEB33DE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1870" y="2853046"/>
            <a:ext cx="4221170" cy="132343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Vec3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133BBD7D-A1C2-CE9B-3151-A2EA44912A15}"/>
              </a:ext>
            </a:extLst>
          </p:cNvPr>
          <p:cNvSpPr txBox="1"/>
          <p:nvPr/>
        </p:nvSpPr>
        <p:spPr>
          <a:xfrm>
            <a:off x="1126222" y="4942927"/>
            <a:ext cx="9939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Reading/storing the value instance </a:t>
            </a:r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origin</a:t>
            </a:r>
            <a:r>
              <a:rPr lang="en-US" sz="2400" dirty="0">
                <a:latin typeface="Fira Sans Condensed SemiBold" panose="020B0603050000020004" pitchFamily="34" charset="0"/>
              </a:rPr>
              <a:t> requires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several reads/writes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The VM spec mandates reference reads/writes to be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atomic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64</a:t>
            </a:r>
            <a:r>
              <a:rPr lang="en-US" sz="2400" dirty="0">
                <a:latin typeface="Fira Sans Condensed SemiBold" panose="020B0603050000020004" pitchFamily="34" charset="0"/>
              </a:rPr>
              <a:t> bit CPU vs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192</a:t>
            </a:r>
            <a:r>
              <a:rPr lang="en-US" sz="2400" dirty="0">
                <a:latin typeface="Fira Sans Condensed SemiBold" panose="020B0603050000020004" pitchFamily="34" charset="0"/>
              </a:rPr>
              <a:t> bits here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6605" y="2545270"/>
            <a:ext cx="4221170" cy="193899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8517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1629874" y="490008"/>
            <a:ext cx="89322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Storing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 </a:t>
            </a:r>
            <a:r>
              <a:rPr lang="en-US" sz="3600">
                <a:latin typeface="Fira Sans Condensed SemiBold" panose="020B0603050000020004" pitchFamily="34" charset="0"/>
              </a:rPr>
              <a:t>instances in fields/array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82EA566-F41D-5AF0-41B8-243FCA443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5415" y="2774325"/>
            <a:ext cx="4221170" cy="224676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class 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Ray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boolean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origin_null</a:t>
            </a:r>
            <a:r>
              <a:rPr lang="fr-FR" altLang="fr-FR" sz="2000" dirty="0">
                <a:solidFill>
                  <a:srgbClr val="871094"/>
                </a:solidFill>
                <a:latin typeface="Consolas" panose="020B0609020204030204" pitchFamily="49" charset="0"/>
              </a:rPr>
              <a:t>;</a:t>
            </a:r>
            <a:endParaRPr lang="fr-FR" altLang="fr-FR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origin_x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origin_y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33B3"/>
                </a:solidFill>
                <a:latin typeface="Consolas" panose="020B0609020204030204" pitchFamily="49" charset="0"/>
              </a:rPr>
              <a:t>    double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altLang="fr-FR" sz="2000" dirty="0" err="1">
                <a:solidFill>
                  <a:srgbClr val="871094"/>
                </a:solidFill>
                <a:latin typeface="Consolas" panose="020B0609020204030204" pitchFamily="49" charset="0"/>
              </a:rPr>
              <a:t>origin_z</a:t>
            </a: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altLang="fr-F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//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3EB0CBE-9B9A-ED1A-B2C3-9358716562EB}"/>
              </a:ext>
            </a:extLst>
          </p:cNvPr>
          <p:cNvSpPr txBox="1"/>
          <p:nvPr/>
        </p:nvSpPr>
        <p:spPr>
          <a:xfrm>
            <a:off x="2267761" y="200173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latin typeface="Fira Sans Condensed SemiBold" panose="020B0603050000020004" pitchFamily="34" charset="0"/>
              </a:rPr>
              <a:t>  marker required :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7</a:t>
            </a:r>
            <a:r>
              <a:rPr lang="en-US" sz="2400" dirty="0">
                <a:latin typeface="Fira Sans Condensed SemiBold" panose="020B0603050000020004" pitchFamily="34" charset="0"/>
              </a:rPr>
              <a:t> bytes of useful payload (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56</a:t>
            </a:r>
            <a:r>
              <a:rPr lang="en-US" sz="2400" dirty="0">
                <a:latin typeface="Fira Sans Condensed SemiBold" panose="020B0603050000020004" pitchFamily="34" charset="0"/>
              </a:rPr>
              <a:t> bits)</a:t>
            </a:r>
          </a:p>
        </p:txBody>
      </p:sp>
    </p:spTree>
    <p:extLst>
      <p:ext uri="{BB962C8B-B14F-4D97-AF65-F5344CB8AC3E}">
        <p14:creationId xmlns:p14="http://schemas.microsoft.com/office/powerpoint/2010/main" val="2673239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2520342" y="490008"/>
            <a:ext cx="7151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on heap : storing </a:t>
            </a:r>
            <a:r>
              <a:rPr lang="en-US" sz="3600" dirty="0">
                <a:solidFill>
                  <a:srgbClr val="0033B3"/>
                </a:solidFill>
                <a:latin typeface="Consolas" panose="020B0609020204030204" pitchFamily="49" charset="0"/>
              </a:rPr>
              <a:t>Vec3[]</a:t>
            </a:r>
            <a:r>
              <a:rPr lang="en-US" sz="3600" dirty="0">
                <a:latin typeface="Fira Sans Condensed SemiBold" panose="020B0603050000020004" pitchFamily="34" charset="0"/>
              </a:rPr>
              <a:t> 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D15C2D2A-278C-3769-3406-C9383C4B605B}"/>
              </a:ext>
            </a:extLst>
          </p:cNvPr>
          <p:cNvSpPr txBox="1"/>
          <p:nvPr/>
        </p:nvSpPr>
        <p:spPr>
          <a:xfrm>
            <a:off x="2753543" y="1391475"/>
            <a:ext cx="66849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0033B3"/>
                </a:solidFill>
                <a:latin typeface="Consolas" panose="020B0609020204030204" pitchFamily="49" charset="0"/>
              </a:rPr>
              <a:t>Vec3</a:t>
            </a:r>
            <a:r>
              <a:rPr lang="en-US" sz="2400" dirty="0">
                <a:latin typeface="Fira Sans Condensed SemiBold" panose="020B0603050000020004" pitchFamily="34" charset="0"/>
              </a:rPr>
              <a:t> is too “large” to be flattened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874C75F7-CE93-85B8-65D6-30D9A636572A}"/>
              </a:ext>
            </a:extLst>
          </p:cNvPr>
          <p:cNvGrpSpPr/>
          <p:nvPr/>
        </p:nvGrpSpPr>
        <p:grpSpPr>
          <a:xfrm>
            <a:off x="2452540" y="2032533"/>
            <a:ext cx="7286920" cy="861775"/>
            <a:chOff x="2452539" y="3511139"/>
            <a:chExt cx="7286920" cy="861775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070AD4D8-8E1B-D8D7-2BD4-1FE3F899E9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byte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TextBox 9">
              <a:extLst>
                <a:ext uri="{FF2B5EF4-FFF2-40B4-BE49-F238E27FC236}">
                  <a16:creationId xmlns:a16="http://schemas.microsoft.com/office/drawing/2014/main" id="{F924E763-506C-1E29-EFBC-5CDF97E74A5A}"/>
                </a:ext>
              </a:extLst>
            </p:cNvPr>
            <p:cNvSpPr txBox="1"/>
            <p:nvPr/>
          </p:nvSpPr>
          <p:spPr>
            <a:xfrm>
              <a:off x="2753541" y="3511139"/>
              <a:ext cx="668491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>
                  <a:latin typeface="Fira Sans Condensed SemiBold" panose="020B0603050000020004" pitchFamily="34" charset="0"/>
                </a:rPr>
                <a:t>A cheap version can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E5F9419D-1343-24EC-7B31-0F5132F31B14}"/>
              </a:ext>
            </a:extLst>
          </p:cNvPr>
          <p:cNvGrpSpPr/>
          <p:nvPr/>
        </p:nvGrpSpPr>
        <p:grpSpPr>
          <a:xfrm>
            <a:off x="5344616" y="3096768"/>
            <a:ext cx="1502768" cy="3569559"/>
            <a:chOff x="648769" y="2086605"/>
            <a:chExt cx="1502768" cy="3569559"/>
          </a:xfrm>
        </p:grpSpPr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9688BB31-798B-2949-7407-6DBF3A35F69E}"/>
                </a:ext>
              </a:extLst>
            </p:cNvPr>
            <p:cNvSpPr txBox="1"/>
            <p:nvPr/>
          </p:nvSpPr>
          <p:spPr>
            <a:xfrm>
              <a:off x="798065" y="2086605"/>
              <a:ext cx="1204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</a:rPr>
                <a:t>Vec3[]</a:t>
              </a:r>
              <a:endParaRPr lang="fr-FR" sz="2400" dirty="0">
                <a:latin typeface="Consolas" panose="020B0609020204030204" pitchFamily="49" charset="0"/>
              </a:endParaRP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CEB5CBB7-0271-E443-10CE-30B526F1CFB5}"/>
                </a:ext>
              </a:extLst>
            </p:cNvPr>
            <p:cNvGrpSpPr/>
            <p:nvPr/>
          </p:nvGrpSpPr>
          <p:grpSpPr>
            <a:xfrm>
              <a:off x="648769" y="2548270"/>
              <a:ext cx="1502768" cy="3107894"/>
              <a:chOff x="5344616" y="2160015"/>
              <a:chExt cx="1502768" cy="3107894"/>
            </a:xfrm>
          </p:grpSpPr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C737E34-2B07-815C-545B-19F50F406012}"/>
                  </a:ext>
                </a:extLst>
              </p:cNvPr>
              <p:cNvGrpSpPr/>
              <p:nvPr/>
            </p:nvGrpSpPr>
            <p:grpSpPr>
              <a:xfrm>
                <a:off x="5344616" y="2160015"/>
                <a:ext cx="1502768" cy="3107894"/>
                <a:chOff x="1331843" y="1855304"/>
                <a:chExt cx="1345096" cy="3107894"/>
              </a:xfrm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A4A4E52-3CEB-C44B-7DEE-43C71689AFB0}"/>
                    </a:ext>
                  </a:extLst>
                </p:cNvPr>
                <p:cNvSpPr/>
                <p:nvPr/>
              </p:nvSpPr>
              <p:spPr>
                <a:xfrm>
                  <a:off x="1331843" y="1855304"/>
                  <a:ext cx="1345096" cy="523461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Header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C82633F9-877F-EA0B-367D-4853D61A0282}"/>
                    </a:ext>
                  </a:extLst>
                </p:cNvPr>
                <p:cNvSpPr/>
                <p:nvPr/>
              </p:nvSpPr>
              <p:spPr>
                <a:xfrm>
                  <a:off x="1331843" y="2378765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x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2B035FF-2607-E4F5-2752-5EB14A38712D}"/>
                    </a:ext>
                  </a:extLst>
                </p:cNvPr>
                <p:cNvSpPr/>
                <p:nvPr/>
              </p:nvSpPr>
              <p:spPr>
                <a:xfrm>
                  <a:off x="1331843" y="2729948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y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4E60E47-3AB5-D9E8-B520-0073D859B515}"/>
                    </a:ext>
                  </a:extLst>
                </p:cNvPr>
                <p:cNvSpPr/>
                <p:nvPr/>
              </p:nvSpPr>
              <p:spPr>
                <a:xfrm>
                  <a:off x="1331843" y="3077817"/>
                  <a:ext cx="1345096" cy="351183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Consolas" panose="020B0609020204030204" pitchFamily="49" charset="0"/>
                    </a:rPr>
                    <a:t>z</a:t>
                  </a:r>
                  <a:endParaRPr lang="fr-FR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D722396-DF5E-1A71-7121-8756E7E79EA1}"/>
                    </a:ext>
                  </a:extLst>
                </p:cNvPr>
                <p:cNvSpPr/>
                <p:nvPr/>
              </p:nvSpPr>
              <p:spPr>
                <a:xfrm>
                  <a:off x="1331843" y="4824050"/>
                  <a:ext cx="1345096" cy="13914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>
                    <a:latin typeface="Consolas" panose="020B0609020204030204" pitchFamily="49" charset="0"/>
                  </a:endParaRPr>
                </a:p>
              </p:txBody>
            </p:sp>
          </p:grp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4077CD-57BC-FFC6-4A85-322701B81360}"/>
                  </a:ext>
                </a:extLst>
              </p:cNvPr>
              <p:cNvSpPr/>
              <p:nvPr/>
            </p:nvSpPr>
            <p:spPr>
              <a:xfrm>
                <a:off x="5344616" y="3730657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E9305327-AC04-6E05-7491-627A805B1418}"/>
                  </a:ext>
                </a:extLst>
              </p:cNvPr>
              <p:cNvSpPr/>
              <p:nvPr/>
            </p:nvSpPr>
            <p:spPr>
              <a:xfrm>
                <a:off x="5344616" y="4081840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3EF0DD-F5AF-9D89-55F6-322B576A045B}"/>
                  </a:ext>
                </a:extLst>
              </p:cNvPr>
              <p:cNvSpPr/>
              <p:nvPr/>
            </p:nvSpPr>
            <p:spPr>
              <a:xfrm>
                <a:off x="5344616" y="4429709"/>
                <a:ext cx="1502768" cy="35118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C121AF1-75F7-0650-C361-A0601375ABED}"/>
                  </a:ext>
                </a:extLst>
              </p:cNvPr>
              <p:cNvSpPr/>
              <p:nvPr/>
            </p:nvSpPr>
            <p:spPr>
              <a:xfrm>
                <a:off x="5344616" y="4780892"/>
                <a:ext cx="1502768" cy="351183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>
                    <a:latin typeface="Consolas" panose="020B0609020204030204" pitchFamily="49" charset="0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52572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78C9-D527-4707-96C7-022193C3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13C4A9-5841-7515-5FFF-7EFC7910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6F425E-FC57-B3F5-24AB-108B23FFF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93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E332-B134-7554-2F12-E8DF14FC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E95868F-3048-77AB-E274-DBA1768EF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B0055-0FFA-B157-7C03-62A5BF65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706AC4D-FEF8-088C-C5C7-2BF2635AB28C}"/>
              </a:ext>
            </a:extLst>
          </p:cNvPr>
          <p:cNvSpPr txBox="1"/>
          <p:nvPr/>
        </p:nvSpPr>
        <p:spPr>
          <a:xfrm>
            <a:off x="2447405" y="5766532"/>
            <a:ext cx="72971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solidFill>
                  <a:schemeClr val="bg2"/>
                </a:solidFill>
                <a:latin typeface="Fira Sans Condensed SemiBold" panose="020B0603050000020004" pitchFamily="34" charset="0"/>
              </a:rPr>
              <a:t>Let’s generate a blackhole, shall we ?</a:t>
            </a:r>
            <a:endParaRPr lang="fr-FR" sz="3600" dirty="0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B9C46D8C-6F7B-6469-63DA-476129B0F557}"/>
              </a:ext>
            </a:extLst>
          </p:cNvPr>
          <p:cNvSpPr txBox="1">
            <a:spLocks/>
          </p:cNvSpPr>
          <p:nvPr/>
        </p:nvSpPr>
        <p:spPr>
          <a:xfrm>
            <a:off x="9449844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Fira Sans Condensed SemiBold" panose="020B0603050000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pPr/>
              <a:t>23</a:t>
            </a:fld>
            <a:endParaRPr lang="fr-FR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446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7A99-3222-AC27-12F7-F2CB58F3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5CCED2D-A115-D0DE-A2E3-3140078F2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7A333F-1D41-4FA0-4BD3-9E3133482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>
                <a:solidFill>
                  <a:schemeClr val="bg2"/>
                </a:solidFill>
              </a:rPr>
              <a:t>24</a:t>
            </a:fld>
            <a:endParaRPr lang="fr-FR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304B39-9DF1-0958-4E9D-56B7378F4005}"/>
              </a:ext>
            </a:extLst>
          </p:cNvPr>
          <p:cNvSpPr txBox="1"/>
          <p:nvPr/>
        </p:nvSpPr>
        <p:spPr>
          <a:xfrm>
            <a:off x="543140" y="3994484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camera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FCA29D-CE20-E014-3AED-68E50EB35EC1}"/>
              </a:ext>
            </a:extLst>
          </p:cNvPr>
          <p:cNvSpPr txBox="1"/>
          <p:nvPr/>
        </p:nvSpPr>
        <p:spPr>
          <a:xfrm>
            <a:off x="3012479" y="5405044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image</a:t>
            </a:r>
            <a:b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</a:br>
            <a:r>
              <a:rPr lang="en-US" i="1">
                <a:solidFill>
                  <a:schemeClr val="bg2"/>
                </a:solidFill>
                <a:latin typeface="Fira Sans Condensed SemiBold" panose="020B0603050000020004" pitchFamily="34" charset="0"/>
              </a:rPr>
              <a:t>1 ray / pixel</a:t>
            </a:r>
            <a:endParaRPr lang="fr-FR" i="1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37E9D-C03F-C07F-D835-74F8148A2D57}"/>
              </a:ext>
            </a:extLst>
          </p:cNvPr>
          <p:cNvSpPr txBox="1"/>
          <p:nvPr/>
        </p:nvSpPr>
        <p:spPr>
          <a:xfrm>
            <a:off x="9069518" y="1273229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photon sphere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94CD94-36E8-67E2-9E05-F01E11AB04A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9563386" y="1642561"/>
            <a:ext cx="301382" cy="50249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528539F-A4D8-D407-6200-B8E9BB39498B}"/>
              </a:ext>
            </a:extLst>
          </p:cNvPr>
          <p:cNvSpPr txBox="1"/>
          <p:nvPr/>
        </p:nvSpPr>
        <p:spPr>
          <a:xfrm>
            <a:off x="5410930" y="783478"/>
            <a:ext cx="1936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ray-marching step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FFDA0C2-5B68-488C-8295-E98087B9B938}"/>
              </a:ext>
            </a:extLst>
          </p:cNvPr>
          <p:cNvSpPr/>
          <p:nvPr/>
        </p:nvSpPr>
        <p:spPr>
          <a:xfrm rot="16385211">
            <a:off x="6288867" y="955554"/>
            <a:ext cx="180876" cy="607859"/>
          </a:xfrm>
          <a:prstGeom prst="rightBrac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2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367073-E4E6-2EE8-6296-EC0DEA9DEF2F}"/>
              </a:ext>
            </a:extLst>
          </p:cNvPr>
          <p:cNvSpPr txBox="1"/>
          <p:nvPr/>
        </p:nvSpPr>
        <p:spPr>
          <a:xfrm>
            <a:off x="6070946" y="4574174"/>
            <a:ext cx="1531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accretion disk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A8EA53A-0B01-2359-9EFC-B77F70FDA803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6836540" y="3667565"/>
            <a:ext cx="444284" cy="906609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2AAAE6A-A24B-2990-C09A-4C7CEF3F762D}"/>
              </a:ext>
            </a:extLst>
          </p:cNvPr>
          <p:cNvSpPr txBox="1"/>
          <p:nvPr/>
        </p:nvSpPr>
        <p:spPr>
          <a:xfrm>
            <a:off x="9894121" y="521543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Fira Sans Condensed SemiBold" panose="020B0603050000020004" pitchFamily="34" charset="0"/>
              </a:rPr>
              <a:t>event horizon</a:t>
            </a:r>
            <a:endParaRPr lang="fr-FR">
              <a:solidFill>
                <a:schemeClr val="bg2"/>
              </a:solidFill>
              <a:latin typeface="Fira Sans Condensed SemiBold" panose="020B0603050000020004" pitchFamily="34" charset="0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DEAA7B-E0E5-3C4F-2C00-F13C8CCCF1F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9449844" y="4120869"/>
            <a:ext cx="1190635" cy="109457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53851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3411617" y="490008"/>
            <a:ext cx="53687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Defining the Domain Model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B02D644-FFBD-1C50-CF49-899C86865A0B}"/>
              </a:ext>
            </a:extLst>
          </p:cNvPr>
          <p:cNvGrpSpPr/>
          <p:nvPr/>
        </p:nvGrpSpPr>
        <p:grpSpPr>
          <a:xfrm>
            <a:off x="1773827" y="5074495"/>
            <a:ext cx="8644344" cy="890652"/>
            <a:chOff x="1773827" y="5210682"/>
            <a:chExt cx="8644344" cy="890652"/>
          </a:xfrm>
        </p:grpSpPr>
        <p:sp>
          <p:nvSpPr>
            <p:cNvPr id="5" name="TextBox 9">
              <a:extLst>
                <a:ext uri="{FF2B5EF4-FFF2-40B4-BE49-F238E27FC236}">
                  <a16:creationId xmlns:a16="http://schemas.microsoft.com/office/drawing/2014/main" id="{EAF201C6-28DE-58EB-2DAD-6A4DEF48AC00}"/>
                </a:ext>
              </a:extLst>
            </p:cNvPr>
            <p:cNvSpPr txBox="1"/>
            <p:nvPr/>
          </p:nvSpPr>
          <p:spPr>
            <a:xfrm>
              <a:off x="1773827" y="5210682"/>
              <a:ext cx="864434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dirty="0">
                  <a:latin typeface="Fira Sans Condensed SemiBold" panose="020B0603050000020004" pitchFamily="34" charset="0"/>
                </a:rPr>
                <a:t>Accumulate encountered light and produce the pixel’s final </a:t>
              </a:r>
              <a:r>
                <a:rPr lang="en-US" sz="2400" dirty="0">
                  <a:solidFill>
                    <a:srgbClr val="0033B3"/>
                  </a:solidFill>
                  <a:latin typeface="Consolas" panose="020B0609020204030204" pitchFamily="49" charset="0"/>
                </a:rPr>
                <a:t>Color</a:t>
              </a:r>
            </a:p>
          </p:txBody>
        </p:sp>
        <p:sp>
          <p:nvSpPr>
            <p:cNvPr id="8" name="Rectangle 1">
              <a:extLst>
                <a:ext uri="{FF2B5EF4-FFF2-40B4-BE49-F238E27FC236}">
                  <a16:creationId xmlns:a16="http://schemas.microsoft.com/office/drawing/2014/main" id="{1CE785D7-A4B9-7FAD-D5DC-0D295C60F6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570122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Color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r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g</a:t>
              </a:r>
              <a:r>
                <a:rPr lang="fr-FR" altLang="fr-FR" sz="2000">
                  <a:solidFill>
                    <a:srgbClr val="080808"/>
                  </a:solidFill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33B3"/>
                  </a:solidFill>
                  <a:latin typeface="Consolas" panose="020B0609020204030204" pitchFamily="49" charset="0"/>
                </a:rPr>
                <a:t>double </a:t>
              </a:r>
              <a:r>
                <a:rPr lang="fr-FR" altLang="fr-FR" sz="2000">
                  <a:solidFill>
                    <a:srgbClr val="871094"/>
                  </a:solidFill>
                  <a:latin typeface="Consolas" panose="020B0609020204030204" pitchFamily="49" charset="0"/>
                </a:rPr>
                <a:t>b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26FAFF-3F63-286C-AECB-314D123D14E5}"/>
              </a:ext>
            </a:extLst>
          </p:cNvPr>
          <p:cNvGrpSpPr/>
          <p:nvPr/>
        </p:nvGrpSpPr>
        <p:grpSpPr>
          <a:xfrm>
            <a:off x="2452539" y="1837560"/>
            <a:ext cx="7286920" cy="914939"/>
            <a:chOff x="2452539" y="1875349"/>
            <a:chExt cx="7286920" cy="914939"/>
          </a:xfrm>
        </p:grpSpPr>
        <p:sp>
          <p:nvSpPr>
            <p:cNvPr id="7" name="Rectangle 1">
              <a:extLst>
                <a:ext uri="{FF2B5EF4-FFF2-40B4-BE49-F238E27FC236}">
                  <a16:creationId xmlns:a16="http://schemas.microsoft.com/office/drawing/2014/main" id="{7B9E3728-5C13-7F5B-9C72-4C6B88A9A6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2390178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Ray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origin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fr-FR" altLang="fr-FR" sz="2000">
                  <a:solidFill>
                    <a:srgbClr val="000000"/>
                  </a:solidFill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direction</a:t>
              </a:r>
              <a:r>
                <a:rPr kumimoji="0" lang="fr-FR" altLang="fr-FR" sz="2000" b="0" i="0" u="none" strike="noStrike" cap="none" normalizeH="0" baseline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229A5C77-880A-CE38-B38C-094C5935E6E5}"/>
                </a:ext>
              </a:extLst>
            </p:cNvPr>
            <p:cNvSpPr txBox="1"/>
            <p:nvPr/>
          </p:nvSpPr>
          <p:spPr>
            <a:xfrm>
              <a:off x="3046379" y="1875349"/>
              <a:ext cx="60992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Trace thousands of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Ray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from the camera </a:t>
              </a: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64864278-88EB-D11B-BA2C-C690294B0D7C}"/>
              </a:ext>
            </a:extLst>
          </p:cNvPr>
          <p:cNvGrpSpPr/>
          <p:nvPr/>
        </p:nvGrpSpPr>
        <p:grpSpPr>
          <a:xfrm>
            <a:off x="2180617" y="3453720"/>
            <a:ext cx="7830765" cy="919194"/>
            <a:chOff x="2180617" y="3453720"/>
            <a:chExt cx="7830765" cy="919194"/>
          </a:xfrm>
        </p:grpSpPr>
        <p:sp>
          <p:nvSpPr>
            <p:cNvPr id="6" name="Rectangle 1">
              <a:extLst>
                <a:ext uri="{FF2B5EF4-FFF2-40B4-BE49-F238E27FC236}">
                  <a16:creationId xmlns:a16="http://schemas.microsoft.com/office/drawing/2014/main" id="{161A580C-5E28-E439-3273-1AD4A8DC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52539" y="3972804"/>
              <a:ext cx="7286920" cy="40011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record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Vec3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033B3"/>
                  </a:solidFill>
                  <a:effectLst/>
                  <a:latin typeface="Consolas" panose="020B0609020204030204" pitchFamily="49" charset="0"/>
                </a:rPr>
                <a:t>double 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871094"/>
                  </a:solidFill>
                  <a:effectLst/>
                  <a:latin typeface="Consolas" panose="020B0609020204030204" pitchFamily="49" charset="0"/>
                </a:rPr>
                <a:t>z</a:t>
              </a:r>
              <a:r>
                <a:rPr kumimoji="0" lang="fr-FR" altLang="fr-FR" sz="2000" b="0" i="0" u="none" strike="noStrike" cap="none" normalizeH="0" baseline="0" dirty="0">
                  <a:ln>
                    <a:noFill/>
                  </a:ln>
                  <a:solidFill>
                    <a:srgbClr val="080808"/>
                  </a:solidFill>
                  <a:effectLst/>
                  <a:latin typeface="Consolas" panose="020B0609020204030204" pitchFamily="49" charset="0"/>
                </a:rPr>
                <a:t>) {}</a:t>
              </a:r>
              <a:endParaRPr kumimoji="0" lang="fr-FR" altLang="fr-FR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3E0458FA-647B-459C-BD13-B0E858412638}"/>
                </a:ext>
              </a:extLst>
            </p:cNvPr>
            <p:cNvSpPr txBox="1"/>
            <p:nvPr/>
          </p:nvSpPr>
          <p:spPr>
            <a:xfrm>
              <a:off x="2180617" y="3453720"/>
              <a:ext cx="783076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Use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33B3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rPr>
                <a:t>Vec3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Fira Sans Condensed SemiBold" panose="020B0603050000020004" pitchFamily="34" charset="0"/>
                  <a:ea typeface="+mn-ea"/>
                  <a:cs typeface="+mn-cs"/>
                </a:rPr>
                <a:t> to represent and update positions and directions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13998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8613-08E0-BD74-9A67-DB5B2D755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6EEC2D-2D02-B68C-DE54-C4564140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38C4249D-E540-B4B0-C3DC-535FDE9F9899}"/>
              </a:ext>
            </a:extLst>
          </p:cNvPr>
          <p:cNvSpPr txBox="1"/>
          <p:nvPr/>
        </p:nvSpPr>
        <p:spPr>
          <a:xfrm>
            <a:off x="4130558" y="119512"/>
            <a:ext cx="3930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Algorithm’s snippet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5DF5256-B858-24B9-23DD-7A13409362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2386302"/>
            <a:ext cx="8307422" cy="42780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forwardZ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rightZ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u +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trueUpZ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* v;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sz="16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+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!=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1.0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velX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velY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velZ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*= </a:t>
            </a:r>
            <a:r>
              <a:rPr kumimoji="0" lang="fr-FR" altLang="fr-F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invMag</a:t>
            </a: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155E4C8-3497-5C8C-19BF-8DE3381E7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2289" y="1037463"/>
            <a:ext cx="8307422" cy="10772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6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var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vel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forward</a:t>
            </a:r>
            <a:endParaRPr lang="fr-FR" altLang="fr-F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right.mul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(u))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trueUp.mul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(v))</a:t>
            </a:r>
          </a:p>
          <a:p>
            <a:pPr lvl="3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fr-FR" altLang="fr-F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norm</a:t>
            </a:r>
            <a:r>
              <a:rPr lang="fr-FR" alt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3611057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4940876" y="1508596"/>
            <a:ext cx="2310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Identity vs Value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196281" y="2378890"/>
            <a:ext cx="97994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   Mode  Cnt          Score    Error   Units</a:t>
            </a:r>
            <a:br>
              <a:rPr lang="fr-FR" sz="2000" u="sng">
                <a:latin typeface="Consolas" panose="020B0609020204030204" pitchFamily="49" charset="0"/>
              </a:rPr>
            </a:br>
            <a:endParaRPr lang="fr-FR" sz="2000" u="sng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renderWithIdentity        avgt    5         52,593 ±  1,389   ms/op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2022,373 ± 53,553  MB/sec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111536309,830 ±  9,108    B/op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128,000           counts</a:t>
            </a:r>
          </a:p>
          <a:p>
            <a:r>
              <a:rPr lang="fr-FR" sz="2000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gc.time                   avgt    5         51,000               ms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renderWithValue           avgt    5         48,566 ±  1,727   ms/op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             avgt    5          4,151 ±  0,147  MB/sec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gc.alloc.rate.norm        avgt    5     211368,714 ±  7,780    B/op</a:t>
            </a:r>
          </a:p>
          <a:p>
            <a:r>
              <a:rPr lang="fr-FR" sz="20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gc.count                  avgt    5            ≈ 0           counts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51858" y="359770"/>
            <a:ext cx="1688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Identity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88249-B58B-19C0-5777-891AD8350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6101"/>
            <a:ext cx="12192000" cy="538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C116-8761-0BA1-5D8C-3B4F4CA1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DA9582-5CE7-27C9-1D6F-0A70A686BE9F}"/>
              </a:ext>
            </a:extLst>
          </p:cNvPr>
          <p:cNvSpPr txBox="1"/>
          <p:nvPr/>
        </p:nvSpPr>
        <p:spPr>
          <a:xfrm>
            <a:off x="5469867" y="359770"/>
            <a:ext cx="12522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44CE8-5284-3BB7-0102-1E625B9A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1AC5E7-0899-9B8A-F910-161B65F8B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1131"/>
            <a:ext cx="12192000" cy="541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28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1668379" y="3105835"/>
            <a:ext cx="8855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This is not </a:t>
            </a:r>
            <a:r>
              <a:rPr lang="en-US" sz="3600" i="1">
                <a:latin typeface="Fira Sans Condensed SemiBold" panose="020B0603050000020004" pitchFamily="34" charset="0"/>
              </a:rPr>
              <a:t>“just”</a:t>
            </a:r>
            <a:r>
              <a:rPr lang="en-US" sz="3600">
                <a:latin typeface="Fira Sans Condensed SemiBold" panose="020B0603050000020004" pitchFamily="34" charset="0"/>
              </a:rPr>
              <a:t> a performance improvement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B811-C1EC-1F1B-C202-B237CD1A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50643-66FF-05EB-6913-E9B69BE52258}"/>
              </a:ext>
            </a:extLst>
          </p:cNvPr>
          <p:cNvSpPr txBox="1"/>
          <p:nvPr/>
        </p:nvSpPr>
        <p:spPr>
          <a:xfrm>
            <a:off x="4216319" y="463504"/>
            <a:ext cx="37593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Changes in the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84FBF85E-2FF7-B9B1-D2BF-83C849C5DD75}"/>
              </a:ext>
            </a:extLst>
          </p:cNvPr>
          <p:cNvSpPr txBox="1"/>
          <p:nvPr/>
        </p:nvSpPr>
        <p:spPr>
          <a:xfrm>
            <a:off x="1206690" y="1966419"/>
            <a:ext cx="977862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Integer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Long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Float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Double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OptionalInt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OptionalLong</a:t>
            </a:r>
            <a:r>
              <a:rPr lang="en-US" sz="2400">
                <a:latin typeface="Consolas" panose="020B0609020204030204" pitchFamily="49" charset="0"/>
              </a:rPr>
              <a:t>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LocalDate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LocalTime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Duration</a:t>
            </a:r>
            <a:r>
              <a:rPr lang="en-US" sz="2400">
                <a:latin typeface="Consolas" panose="020B0609020204030204" pitchFamily="49" charset="0"/>
              </a:rPr>
              <a:t>,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Instant</a:t>
            </a:r>
            <a:r>
              <a:rPr lang="en-US" sz="2400">
                <a:latin typeface="Consolas" panose="020B0609020204030204" pitchFamily="49" charset="0"/>
              </a:rPr>
              <a:t>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2AF909-34C6-55C3-6372-46200972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ED71D6A6-CE90-BEDE-E8C5-2D9D0EB8A5C3}"/>
              </a:ext>
            </a:extLst>
          </p:cNvPr>
          <p:cNvSpPr txBox="1"/>
          <p:nvPr/>
        </p:nvSpPr>
        <p:spPr>
          <a:xfrm>
            <a:off x="5065090" y="541529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98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7643B-9BEB-1189-D79E-CA73D26E0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5093943-F75F-8912-14EE-7665FAF591C1}"/>
              </a:ext>
            </a:extLst>
          </p:cNvPr>
          <p:cNvSpPr txBox="1"/>
          <p:nvPr/>
        </p:nvSpPr>
        <p:spPr>
          <a:xfrm>
            <a:off x="3085406" y="463504"/>
            <a:ext cx="60212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compiler and VM </a:t>
            </a:r>
            <a:r>
              <a:rPr lang="en-US" sz="3600" i="1">
                <a:latin typeface="Fira Sans Condensed SemiBold" panose="020B0603050000020004" pitchFamily="34" charset="0"/>
              </a:rPr>
              <a:t>(JEP 539)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A01DD33D-04C9-8028-DE32-1A24EF864AE1}"/>
              </a:ext>
            </a:extLst>
          </p:cNvPr>
          <p:cNvSpPr txBox="1"/>
          <p:nvPr/>
        </p:nvSpPr>
        <p:spPr>
          <a:xfrm>
            <a:off x="2034530" y="1980169"/>
            <a:ext cx="8122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When compiling a value class, the compiler :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removes the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ACC_IDENTITY</a:t>
            </a:r>
            <a:r>
              <a:rPr lang="en-US" sz="2400" b="1">
                <a:latin typeface="Fira Sans Condensed SemiBold" panose="020B0603050000020004" pitchFamily="34" charset="0"/>
              </a:rPr>
              <a:t> modifier bit of the class file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latin typeface="Fira Sans Condensed SemiBold" panose="020B0603050000020004" pitchFamily="34" charset="0"/>
              </a:rPr>
              <a:t>adds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ACC_STRICT_INIT</a:t>
            </a:r>
            <a:r>
              <a:rPr lang="en-US" sz="2400" b="1">
                <a:latin typeface="Fira Sans Condensed SemiBold" panose="020B0603050000020004" pitchFamily="34" charset="0"/>
              </a:rPr>
              <a:t> on all fields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no need to recompile old external code using value class…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… but this would help :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LoadableDescriptors</a:t>
            </a:r>
            <a:r>
              <a:rPr lang="en-US" sz="2400">
                <a:latin typeface="Fira Sans Condensed SemiBold" panose="020B0603050000020004" pitchFamily="34" charset="0"/>
              </a:rPr>
              <a:t> is added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these classes are early loaded by VM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BFAF50-ACA9-3925-7157-135D7665C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805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Next steps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explore more flattening opportunities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bridge the gap between primitives and value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9473F-BEBD-6849-3874-92220E53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794B28-9B68-CA78-CA93-860C2CAB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36C476-2041-EA3E-BE32-21B6A74622FF}"/>
              </a:ext>
            </a:extLst>
          </p:cNvPr>
          <p:cNvSpPr txBox="1"/>
          <p:nvPr/>
        </p:nvSpPr>
        <p:spPr>
          <a:xfrm>
            <a:off x="4453568" y="490008"/>
            <a:ext cx="32848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Flattening types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4" name="Tableau 4">
            <a:extLst>
              <a:ext uri="{FF2B5EF4-FFF2-40B4-BE49-F238E27FC236}">
                <a16:creationId xmlns:a16="http://schemas.microsoft.com/office/drawing/2014/main" id="{5C4FAA36-7A19-A5BD-5345-7AA9D5729866}"/>
              </a:ext>
            </a:extLst>
          </p:cNvPr>
          <p:cNvGraphicFramePr>
            <a:graphicFrameLocks noGrp="1"/>
          </p:cNvGraphicFramePr>
          <p:nvPr/>
        </p:nvGraphicFramePr>
        <p:xfrm>
          <a:off x="346953" y="2208180"/>
          <a:ext cx="11498094" cy="2071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2698">
                  <a:extLst>
                    <a:ext uri="{9D8B030D-6E8A-4147-A177-3AD203B41FA5}">
                      <a16:colId xmlns:a16="http://schemas.microsoft.com/office/drawing/2014/main" val="1105050186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473807918"/>
                    </a:ext>
                  </a:extLst>
                </a:gridCol>
                <a:gridCol w="3832698">
                  <a:extLst>
                    <a:ext uri="{9D8B030D-6E8A-4147-A177-3AD203B41FA5}">
                      <a16:colId xmlns:a16="http://schemas.microsoft.com/office/drawing/2014/main" val="2952751683"/>
                    </a:ext>
                  </a:extLst>
                </a:gridCol>
              </a:tblGrid>
              <a:tr h="690664">
                <a:tc>
                  <a:txBody>
                    <a:bodyPr/>
                    <a:lstStyle/>
                    <a:p>
                      <a:endParaRPr lang="fr-FR" sz="2400"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marker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null</a:t>
                      </a:r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 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1080007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56 bits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64 bits*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7604896"/>
                  </a:ext>
                </a:extLst>
              </a:tr>
              <a:tr h="690664">
                <a:tc>
                  <a:txBody>
                    <a:bodyPr/>
                    <a:lstStyle/>
                    <a:p>
                      <a:r>
                        <a:rPr lang="fr-FR" sz="2400" dirty="0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non-</a:t>
                      </a:r>
                      <a:r>
                        <a:rPr lang="fr-FR" sz="2400" dirty="0" err="1">
                          <a:solidFill>
                            <a:schemeClr val="accent1"/>
                          </a:solidFill>
                          <a:latin typeface="Fira Sans SemiBold" panose="020B0603050000020004" pitchFamily="34" charset="0"/>
                        </a:rPr>
                        <a:t>atomic</a:t>
                      </a:r>
                      <a:endParaRPr lang="fr-FR" sz="2400" dirty="0">
                        <a:solidFill>
                          <a:schemeClr val="accent1"/>
                        </a:solidFill>
                        <a:latin typeface="Fira Sans SemiBold" panose="020B06030500000200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must </a:t>
                      </a:r>
                      <a:r>
                        <a:rPr lang="fr-FR" sz="2400" dirty="0" err="1">
                          <a:latin typeface="Fira Sans SemiBold" panose="020B0603050000020004" pitchFamily="34" charset="0"/>
                        </a:rPr>
                        <a:t>be</a:t>
                      </a:r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 strict final*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2400" dirty="0">
                          <a:latin typeface="Fira Sans SemiBold" panose="020B0603050000020004" pitchFamily="34" charset="0"/>
                        </a:rPr>
                        <a:t>no restriction*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89325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0A439666-DC65-3B55-658D-06C0376F0159}"/>
              </a:ext>
            </a:extLst>
          </p:cNvPr>
          <p:cNvSpPr txBox="1"/>
          <p:nvPr/>
        </p:nvSpPr>
        <p:spPr>
          <a:xfrm>
            <a:off x="2267760" y="4732358"/>
            <a:ext cx="7656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(*) not yet fully implemented</a:t>
            </a:r>
          </a:p>
        </p:txBody>
      </p:sp>
    </p:spTree>
    <p:extLst>
      <p:ext uri="{BB962C8B-B14F-4D97-AF65-F5344CB8AC3E}">
        <p14:creationId xmlns:p14="http://schemas.microsoft.com/office/powerpoint/2010/main" val="135358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15D4-B452-9816-18B2-1E89033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893284-0E96-7FDB-0038-E36D348D2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F8C0A50-25E7-E8CD-3538-9A983A8D897F}"/>
              </a:ext>
            </a:extLst>
          </p:cNvPr>
          <p:cNvSpPr txBox="1"/>
          <p:nvPr/>
        </p:nvSpPr>
        <p:spPr>
          <a:xfrm>
            <a:off x="4386710" y="490008"/>
            <a:ext cx="3223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583A4E09-7E81-20F4-CA26-64C5195B3645}"/>
              </a:ext>
            </a:extLst>
          </p:cNvPr>
          <p:cNvSpPr txBox="1"/>
          <p:nvPr/>
        </p:nvSpPr>
        <p:spPr>
          <a:xfrm>
            <a:off x="3067318" y="2558512"/>
            <a:ext cx="60573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synchronized</a:t>
            </a:r>
            <a:r>
              <a:rPr lang="en-US" sz="2400" dirty="0">
                <a:latin typeface="Fira Sans Condensed SemiBold" panose="020B0603050000020004" pitchFamily="34" charset="0"/>
              </a:rPr>
              <a:t> needs a bit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has no header</a:t>
            </a:r>
          </a:p>
        </p:txBody>
      </p:sp>
    </p:spTree>
    <p:extLst>
      <p:ext uri="{BB962C8B-B14F-4D97-AF65-F5344CB8AC3E}">
        <p14:creationId xmlns:p14="http://schemas.microsoft.com/office/powerpoint/2010/main" val="982367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63B2-6FCA-869F-0B3D-9405A3E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F0B7-AF05-7B15-55C1-B3A6D23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004A7F3-6834-0FF3-2F25-A8366CCB53E2}"/>
              </a:ext>
            </a:extLst>
          </p:cNvPr>
          <p:cNvSpPr txBox="1"/>
          <p:nvPr/>
        </p:nvSpPr>
        <p:spPr>
          <a:xfrm>
            <a:off x="4639985" y="490008"/>
            <a:ext cx="27174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solidFill>
                  <a:srgbClr val="0033B3"/>
                </a:solidFill>
                <a:latin typeface="Consolas" panose="020B0609020204030204" pitchFamily="49" charset="0"/>
              </a:rPr>
              <a:t>hashCode()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70072132-0C2B-8D63-4B34-4D167EF44967}"/>
              </a:ext>
            </a:extLst>
          </p:cNvPr>
          <p:cNvSpPr txBox="1"/>
          <p:nvPr/>
        </p:nvSpPr>
        <p:spPr>
          <a:xfrm>
            <a:off x="1144413" y="2558512"/>
            <a:ext cx="99031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 dirty="0">
                <a:latin typeface="Fira Sans Condensed SemiBold" panose="020B0603050000020004" pitchFamily="34" charset="0"/>
              </a:rPr>
              <a:t>Default </a:t>
            </a:r>
            <a:r>
              <a:rPr lang="fr-FR" altLang="fr-FR" sz="2400" dirty="0" err="1">
                <a:solidFill>
                  <a:srgbClr val="0033B3"/>
                </a:solidFill>
                <a:latin typeface="Consolas" panose="020B0609020204030204" pitchFamily="49" charset="0"/>
              </a:rPr>
              <a:t>hashCode</a:t>
            </a:r>
            <a:r>
              <a:rPr lang="fr-FR" altLang="fr-FR" sz="2400" dirty="0">
                <a:solidFill>
                  <a:srgbClr val="0033B3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latin typeface="Fira Sans Condensed SemiBold" panose="020B0603050000020004" pitchFamily="34" charset="0"/>
              </a:rPr>
              <a:t> picks a random number and stores it in the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A value class </a:t>
            </a:r>
            <a:r>
              <a:rPr lang="en-US" sz="2400" i="1" dirty="0">
                <a:latin typeface="Fira Sans Condensed SemiBold" panose="020B0603050000020004" pitchFamily="34" charset="0"/>
              </a:rPr>
              <a:t>still</a:t>
            </a:r>
            <a:r>
              <a:rPr lang="en-US" sz="2400" dirty="0">
                <a:latin typeface="Fira Sans Condensed SemiBold" panose="020B0603050000020004" pitchFamily="34" charset="0"/>
              </a:rPr>
              <a:t> has no header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Relies on the fields’ values to compute the hash</a:t>
            </a:r>
          </a:p>
        </p:txBody>
      </p:sp>
    </p:spTree>
    <p:extLst>
      <p:ext uri="{BB962C8B-B14F-4D97-AF65-F5344CB8AC3E}">
        <p14:creationId xmlns:p14="http://schemas.microsoft.com/office/powerpoint/2010/main" val="1365020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618A-E230-1BB1-7F4C-29C6E8DF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A5A61D-ADEB-8DE3-2532-4C97857E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75D730B-BDA0-B09D-A480-6CA0CFD742BE}"/>
              </a:ext>
            </a:extLst>
          </p:cNvPr>
          <p:cNvSpPr txBox="1"/>
          <p:nvPr/>
        </p:nvSpPr>
        <p:spPr>
          <a:xfrm>
            <a:off x="4358185" y="490008"/>
            <a:ext cx="3475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altLang="fr-FR" sz="3600">
                <a:latin typeface="Fira Sans Condensed SemiBold" panose="020B0603050000020004" pitchFamily="34" charset="0"/>
              </a:rPr>
              <a:t>Weak References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5B92562-2071-5613-5805-E6D14618999D}"/>
              </a:ext>
            </a:extLst>
          </p:cNvPr>
          <p:cNvSpPr txBox="1"/>
          <p:nvPr/>
        </p:nvSpPr>
        <p:spPr>
          <a:xfrm>
            <a:off x="1723219" y="3623139"/>
            <a:ext cx="8745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WeakReference</a:t>
            </a:r>
            <a:r>
              <a:rPr lang="en-US" sz="2400">
                <a:latin typeface="Fira Sans Condensed SemiBold" panose="020B0603050000020004" pitchFamily="34" charset="0"/>
              </a:rPr>
              <a:t> leaves B collectible by GC </a:t>
            </a:r>
            <a:r>
              <a:rPr lang="en-US" sz="2400" i="1">
                <a:latin typeface="Fira Sans Condensed SemiBold" panose="020B0603050000020004" pitchFamily="34" charset="0"/>
              </a:rPr>
              <a:t>(if only reference)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Can’t make a reference to a non-existing address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Throws </a:t>
            </a:r>
            <a:r>
              <a:rPr lang="en-US" sz="2400">
                <a:solidFill>
                  <a:srgbClr val="0033B3"/>
                </a:solidFill>
                <a:latin typeface="Consolas" panose="020B0609020204030204" pitchFamily="49" charset="0"/>
              </a:rPr>
              <a:t>(No)</a:t>
            </a:r>
            <a:r>
              <a:rPr lang="fr-FR" altLang="fr-FR" sz="2400">
                <a:solidFill>
                  <a:srgbClr val="0033B3"/>
                </a:solidFill>
                <a:latin typeface="Consolas" panose="020B0609020204030204" pitchFamily="49" charset="0"/>
              </a:rPr>
              <a:t>IdentityException</a:t>
            </a:r>
            <a:endParaRPr lang="en-US" sz="2400"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1B2C74E-B6CE-F16C-42B7-4455CE8ED643}"/>
              </a:ext>
            </a:extLst>
          </p:cNvPr>
          <p:cNvGrpSpPr/>
          <p:nvPr/>
        </p:nvGrpSpPr>
        <p:grpSpPr>
          <a:xfrm>
            <a:off x="1991030" y="2459103"/>
            <a:ext cx="8209937" cy="351185"/>
            <a:chOff x="550982" y="5485075"/>
            <a:chExt cx="8209937" cy="351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DCBE930-3C8C-6440-2B1D-5BA2F67B33D9}"/>
                </a:ext>
              </a:extLst>
            </p:cNvPr>
            <p:cNvSpPr/>
            <p:nvPr/>
          </p:nvSpPr>
          <p:spPr>
            <a:xfrm>
              <a:off x="550982" y="5485075"/>
              <a:ext cx="1833743" cy="3511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GC root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C99179-370B-91CC-83D4-E57E51ECFC32}"/>
                </a:ext>
              </a:extLst>
            </p:cNvPr>
            <p:cNvSpPr/>
            <p:nvPr/>
          </p:nvSpPr>
          <p:spPr>
            <a:xfrm>
              <a:off x="2676380" y="5485077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A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28D222-A506-250A-7200-1C215499926F}"/>
                </a:ext>
              </a:extLst>
            </p:cNvPr>
            <p:cNvSpPr/>
            <p:nvPr/>
          </p:nvSpPr>
          <p:spPr>
            <a:xfrm>
              <a:off x="4801778" y="5485076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WeakReference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B759AEE-C22A-80E6-5B44-F91024C923E8}"/>
                </a:ext>
              </a:extLst>
            </p:cNvPr>
            <p:cNvSpPr/>
            <p:nvPr/>
          </p:nvSpPr>
          <p:spPr>
            <a:xfrm>
              <a:off x="6927176" y="5485075"/>
              <a:ext cx="1833743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Consolas" panose="020B0609020204030204" pitchFamily="49" charset="0"/>
                </a:rPr>
                <a:t>B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Connecteur droit avec flèche 33">
              <a:extLst>
                <a:ext uri="{FF2B5EF4-FFF2-40B4-BE49-F238E27FC236}">
                  <a16:creationId xmlns:a16="http://schemas.microsoft.com/office/drawing/2014/main" id="{168BCAF3-EB51-05C1-5213-7D5361776462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384725" y="5660667"/>
              <a:ext cx="291655" cy="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avec flèche 33">
              <a:extLst>
                <a:ext uri="{FF2B5EF4-FFF2-40B4-BE49-F238E27FC236}">
                  <a16:creationId xmlns:a16="http://schemas.microsoft.com/office/drawing/2014/main" id="{4BC99D1E-A79A-E4C4-6D14-7F6A62E71E97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 flipV="1">
              <a:off x="4510123" y="5660668"/>
              <a:ext cx="29165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avec flèche 33">
              <a:extLst>
                <a:ext uri="{FF2B5EF4-FFF2-40B4-BE49-F238E27FC236}">
                  <a16:creationId xmlns:a16="http://schemas.microsoft.com/office/drawing/2014/main" id="{06F505F7-53A4-D89C-8FFA-0F4B0E1691F1}"/>
                </a:ext>
              </a:extLst>
            </p:cNvPr>
            <p:cNvCxnSpPr>
              <a:cxnSpLocks/>
              <a:stCxn id="10" idx="3"/>
              <a:endCxn id="13" idx="1"/>
            </p:cNvCxnSpPr>
            <p:nvPr/>
          </p:nvCxnSpPr>
          <p:spPr>
            <a:xfrm flipV="1">
              <a:off x="6635521" y="5660667"/>
              <a:ext cx="291655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4494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AB0324-0823-428D-9D93-FEEADD32F87E}">
  <we:reference id="4defab0e-9c81-47f2-ac62-1298126f1299" version="1.0.0.0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8292</TotalTime>
  <Words>1442</Words>
  <Application>Microsoft Office PowerPoint</Application>
  <PresentationFormat>Grand écran</PresentationFormat>
  <Paragraphs>288</Paragraphs>
  <Slides>38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463</cp:revision>
  <cp:lastPrinted>2026-02-24T11:26:21Z</cp:lastPrinted>
  <dcterms:created xsi:type="dcterms:W3CDTF">2025-12-16T09:28:58Z</dcterms:created>
  <dcterms:modified xsi:type="dcterms:W3CDTF">2026-09-23T09:52:52Z</dcterms:modified>
</cp:coreProperties>
</file>