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handoutMasterIdLst>
    <p:handoutMasterId r:id="rId41"/>
  </p:handoutMasterIdLst>
  <p:sldIdLst>
    <p:sldId id="438" r:id="rId2"/>
    <p:sldId id="442" r:id="rId3"/>
    <p:sldId id="468" r:id="rId4"/>
    <p:sldId id="443" r:id="rId5"/>
    <p:sldId id="445" r:id="rId6"/>
    <p:sldId id="446" r:id="rId7"/>
    <p:sldId id="448" r:id="rId8"/>
    <p:sldId id="449" r:id="rId9"/>
    <p:sldId id="447" r:id="rId10"/>
    <p:sldId id="439" r:id="rId11"/>
    <p:sldId id="440" r:id="rId12"/>
    <p:sldId id="453" r:id="rId13"/>
    <p:sldId id="444" r:id="rId14"/>
    <p:sldId id="450" r:id="rId15"/>
    <p:sldId id="451" r:id="rId16"/>
    <p:sldId id="469" r:id="rId17"/>
    <p:sldId id="456" r:id="rId18"/>
    <p:sldId id="457" r:id="rId19"/>
    <p:sldId id="462" r:id="rId20"/>
    <p:sldId id="466" r:id="rId21"/>
    <p:sldId id="465" r:id="rId22"/>
    <p:sldId id="470" r:id="rId23"/>
    <p:sldId id="458" r:id="rId24"/>
    <p:sldId id="460" r:id="rId25"/>
    <p:sldId id="459" r:id="rId26"/>
    <p:sldId id="471" r:id="rId27"/>
    <p:sldId id="441" r:id="rId28"/>
    <p:sldId id="287" r:id="rId29"/>
    <p:sldId id="461" r:id="rId30"/>
    <p:sldId id="273" r:id="rId31"/>
    <p:sldId id="464" r:id="rId32"/>
    <p:sldId id="463" r:id="rId33"/>
    <p:sldId id="309" r:id="rId34"/>
    <p:sldId id="467" r:id="rId35"/>
    <p:sldId id="317" r:id="rId36"/>
    <p:sldId id="452" r:id="rId37"/>
    <p:sldId id="454" r:id="rId38"/>
    <p:sldId id="455" r:id="rId3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36" autoAdjust="0"/>
    <p:restoredTop sz="92342" autoAdjust="0"/>
  </p:normalViewPr>
  <p:slideViewPr>
    <p:cSldViewPr snapToGrid="0">
      <p:cViewPr varScale="1">
        <p:scale>
          <a:sx n="102" d="100"/>
          <a:sy n="102" d="100"/>
        </p:scale>
        <p:origin x="101" y="2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4114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91C848-B012-01CD-383B-68BABF105F0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0CC307-2DBF-5ABB-A4A8-34E74E1B06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90223-A383-4EF3-9DDD-045F9EB239B6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1494DE-A878-789B-0AB9-34328386C8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3CFE15-B67A-FE70-5E52-483D87B0A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27C60E-E3E0-4F56-ACBE-3A01B47EF6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434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15E0A-83FC-4BC3-B4D8-F52493CDE4DD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A3014-B2AC-4DD9-96D6-B2D3355A50BC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9745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517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51987-27BB-2014-8039-4BAD119EE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71744E-7135-93BB-FCD5-EA2F3C80A0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980758-6111-F257-1B94-0CAF636B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B909E-DF75-4467-8919-325FEECAC709}" type="datetime1">
              <a:rPr lang="fr-FR" smtClean="0"/>
              <a:t>27/09/2026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25523-B413-A638-EBB0-7EB0F3D56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643E8C-FCE7-ACF3-4AC0-C64A3DA8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5793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E3207-D829-6182-825B-043FA1C0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4EC31-356A-B413-FAFC-5C4628298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A5BBC-76BD-80A2-DC11-CD8DB144C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A09E8-7476-4472-8A87-583D7F23AB0B}" type="datetime1">
              <a:rPr lang="fr-FR" smtClean="0"/>
              <a:t>27/09/2026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5AF5E-FBA1-2660-2ABB-89C35C840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F9FA7-D19B-AC34-B6F0-B16139E2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004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2F28F-9D59-C0F6-ED45-6E5EAE95D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D0BD9-5DCF-E7CB-029E-5B5E2E91A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13661D-1FCB-F462-E87C-34BE8F4FB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FAEAD-4E04-4474-B982-B4CE1B1F79FA}" type="datetime1">
              <a:rPr lang="fr-FR" smtClean="0"/>
              <a:t>27/09/2026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548C2-6E8A-7EC5-EED6-B2E8F472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6A9A5-C3E6-3968-8587-471FF8FC2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3346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5BBAD-D0D5-1B5D-B20F-AE42F2229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02319-5E91-A10F-3979-5B6F3FE16B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308F79-6C5D-FBBC-45DF-3B7871B14E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2C70CC-2716-9594-CA61-1C90E3E38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371DE-4BB3-41F6-AC3F-6CEBA8F21BD3}" type="datetime1">
              <a:rPr lang="fr-FR" smtClean="0"/>
              <a:t>27/09/2026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FE4BE6-BB42-B9C9-5957-996B0616A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F9DDC3-7D79-752A-DE6F-69800DC31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6837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EB726-2919-E12D-B4C0-CAD4B6A4E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9B2C9-710B-46E4-E42A-A88BBD9AA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A788D1-BBC4-6B3F-06EF-A3982C958F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0BF18-5E1B-540A-D12F-EE545E333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517424-C093-097F-4B47-F966087F2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3AC25E-B6A4-213B-8850-FCFAC18ED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617F-C9C1-455A-9E27-DE7E820A2C5A}" type="datetime1">
              <a:rPr lang="fr-FR" smtClean="0"/>
              <a:t>27/09/2026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B45403-D49E-F87E-E6C2-EE25A8111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ED98DA-4512-39BA-BEB5-11159EF24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407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9299-0EC7-1233-3352-1A934B3E5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FFEEA1-476A-7670-2E35-FD7DD1B3F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E084AF-9098-4A15-8BDC-BDD5C517DFAA}" type="datetime1">
              <a:rPr lang="fr-FR" smtClean="0"/>
              <a:t>27/09/2026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871D49-E937-5260-A4F9-EEAD7D67D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FED7CE-7271-92C3-8D72-BE0746F1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330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0C0110-0071-65F1-5AD9-2204A8D17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D4CC8-AC63-483F-A31B-4695172B72D7}" type="datetime1">
              <a:rPr lang="fr-FR" smtClean="0"/>
              <a:t>27/09/2026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94BB3-8978-415C-0987-98EE32F15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EC42C0-EB26-CAB8-DFDD-30BB4AF6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713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DB8C-69FE-8951-D59B-4A034A488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CC0C8-0077-1C50-6C7E-F9CFC1945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FB2645-B326-D797-46AF-7615922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32F7D3-D5EF-9A38-3D5E-92D9D621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E2A67-9B9A-4DA7-A234-B292BBF525A2}" type="datetime1">
              <a:rPr lang="fr-FR" smtClean="0"/>
              <a:t>27/09/2026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AE42B-DF36-29B3-BF44-1DBB0679B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BE26F-64C8-DC74-D325-860E7754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71355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3E9C3-ADB4-0B05-4CE3-147C5E8F4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7772A-70D4-54D3-07D5-C2D5758B34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B78DB-2588-743A-244F-4269B53C8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7B721-22EA-B521-8490-FC9AC4151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55379-FEA8-410F-AD03-3AEA35DBF523}" type="datetime1">
              <a:rPr lang="fr-FR" smtClean="0"/>
              <a:t>27/09/2026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E8FD49-DF3F-11A2-F6F5-BC1D4C0DB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E9EAA8-5BA2-802C-5131-0D288EA70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1354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AD4B7-2904-E782-4AB1-F55E3F3D3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4C44EC-6500-CCD0-C6A2-5624FBB76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01B663-0199-169D-44B2-C5628549C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4F587-7C7F-49AB-8B44-58E41FB7D3D4}" type="datetime1">
              <a:rPr lang="fr-FR" smtClean="0"/>
              <a:t>27/09/2026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E9D8C-BB0C-5FEB-B042-081691D76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1C25C-02BA-4FD8-D87E-01C64FD22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6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D014D0-2284-5356-93A3-0E2CDE077F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C9D93B-6E31-C60E-9231-7D67A83C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EE7D8-580E-2985-9E8A-B2D3B36FE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91112-AA40-456A-8658-AC9B2F2D8D8F}" type="datetime1">
              <a:rPr lang="fr-FR" smtClean="0"/>
              <a:t>27/09/2026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2F7DF-AC0A-C9EF-2BEA-A0B6B3A1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A4F72-97F8-351D-D592-6E68AA3A0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57870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bg>
      <p:bgPr>
        <a:solidFill>
          <a:srgbClr val="3049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4377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58F5A2-FA90-BA36-BB48-DA58CA76B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DAADE-0157-F8C2-27AE-0EFBBFD4D5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FD1814-3EFE-CD69-8D6E-4A9FEA9D1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863EF-1D1D-4DC6-B064-9AC470BACB47}" type="datetime1">
              <a:rPr lang="fr-FR" smtClean="0"/>
              <a:t>27/09/2026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8BB2B-2E74-2DBF-CDEA-E7FD3CC3B9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831E-4CE7-960C-51BF-033F06B05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9844" y="649226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Fira Sans Condensed SemiBold" panose="020B0603050000020004" pitchFamily="34" charset="0"/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681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espace, astronomie&#10;&#10;Description générée automatiquement">
            <a:extLst>
              <a:ext uri="{FF2B5EF4-FFF2-40B4-BE49-F238E27FC236}">
                <a16:creationId xmlns:a16="http://schemas.microsoft.com/office/drawing/2014/main" id="{4BE75BF6-3DC8-6C32-A52E-4922BCB4E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17629A96-7EE9-BC2E-8165-5A7367A41A52}"/>
              </a:ext>
            </a:extLst>
          </p:cNvPr>
          <p:cNvSpPr txBox="1"/>
          <p:nvPr/>
        </p:nvSpPr>
        <p:spPr>
          <a:xfrm>
            <a:off x="787495" y="5440360"/>
            <a:ext cx="10617009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solidFill>
                  <a:schemeClr val="bg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“Escaping Java's Allocation Gravity with Value Classes”</a:t>
            </a:r>
            <a:endParaRPr lang="fr-FR" sz="3600" dirty="0">
              <a:solidFill>
                <a:schemeClr val="bg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0E042E82-70CE-DF80-6E9D-F24286B71455}"/>
              </a:ext>
            </a:extLst>
          </p:cNvPr>
          <p:cNvSpPr txBox="1"/>
          <p:nvPr/>
        </p:nvSpPr>
        <p:spPr>
          <a:xfrm>
            <a:off x="202399" y="6334780"/>
            <a:ext cx="291778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Clément de Tastes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5D8960-5DD8-6414-51FD-9B1E45679AD3}"/>
              </a:ext>
            </a:extLst>
          </p:cNvPr>
          <p:cNvSpPr txBox="1"/>
          <p:nvPr/>
        </p:nvSpPr>
        <p:spPr>
          <a:xfrm>
            <a:off x="10155445" y="6334780"/>
            <a:ext cx="183415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Rémi</a:t>
            </a:r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 </a:t>
            </a:r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Forax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4499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7D4D-DE3C-3BE1-57A4-F3A61E17F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texte, affiche, dessin humoristique, fiction&#10;&#10;Description générée automatiquement">
            <a:extLst>
              <a:ext uri="{FF2B5EF4-FFF2-40B4-BE49-F238E27FC236}">
                <a16:creationId xmlns:a16="http://schemas.microsoft.com/office/drawing/2014/main" id="{10F202E3-FB8C-3A80-0DB5-F765E57E5D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7378" y="1234795"/>
            <a:ext cx="3728636" cy="40800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B20572-4586-6C07-4FF9-0930FFD0708B}"/>
              </a:ext>
            </a:extLst>
          </p:cNvPr>
          <p:cNvSpPr txBox="1"/>
          <p:nvPr/>
        </p:nvSpPr>
        <p:spPr>
          <a:xfrm>
            <a:off x="4494440" y="490008"/>
            <a:ext cx="3203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Project Valhalla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B3047D-F482-FEAB-0F2D-EE602F893433}"/>
              </a:ext>
            </a:extLst>
          </p:cNvPr>
          <p:cNvSpPr txBox="1"/>
          <p:nvPr/>
        </p:nvSpPr>
        <p:spPr>
          <a:xfrm>
            <a:off x="817101" y="1759225"/>
            <a:ext cx="6295313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OpenJDK project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 dirty="0">
                <a:latin typeface="Fira Sans Condensed SemiBold" panose="020B0603050000020004" pitchFamily="34" charset="0"/>
              </a:rPr>
              <a:t>Language (Amber, Babylon)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 dirty="0">
                <a:latin typeface="Fira Sans Condensed SemiBold" panose="020B0603050000020004" pitchFamily="34" charset="0"/>
              </a:rPr>
              <a:t>Platform (Loom, Panama, Leyden, Lilliput, </a:t>
            </a:r>
            <a:r>
              <a:rPr lang="en-US" sz="2000" i="1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Valhalla</a:t>
            </a:r>
            <a:r>
              <a:rPr lang="en-US" sz="2000" i="1" dirty="0">
                <a:latin typeface="Fira Sans Condensed SemiBold" panose="020B0603050000020004" pitchFamily="34" charset="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i="1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Started in 2014 </a:t>
            </a:r>
            <a:r>
              <a:rPr lang="en-US" sz="2000" i="1" dirty="0">
                <a:latin typeface="Fira Sans Condensed SemiBold" panose="020B0603050000020004" pitchFamily="34" charset="0"/>
              </a:rPr>
              <a:t>(!!)</a:t>
            </a:r>
            <a:r>
              <a:rPr lang="en-US" sz="2400" dirty="0">
                <a:latin typeface="Fira Sans Condensed SemiBold" panose="020B0603050000020004" pitchFamily="34" charset="0"/>
              </a:rPr>
              <a:t> by Brian Goetz &amp; John Rose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E5942B9-43BC-3A99-B6FE-35E4D0FB2485}"/>
              </a:ext>
            </a:extLst>
          </p:cNvPr>
          <p:cNvGrpSpPr/>
          <p:nvPr/>
        </p:nvGrpSpPr>
        <p:grpSpPr>
          <a:xfrm>
            <a:off x="1794176" y="4052298"/>
            <a:ext cx="4705455" cy="951095"/>
            <a:chOff x="4061949" y="3105834"/>
            <a:chExt cx="4705455" cy="95109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BE49E5-D564-7D6A-82A2-DB2146E37CBE}"/>
                </a:ext>
              </a:extLst>
            </p:cNvPr>
            <p:cNvSpPr txBox="1"/>
            <p:nvPr/>
          </p:nvSpPr>
          <p:spPr>
            <a:xfrm>
              <a:off x="4061949" y="3105834"/>
              <a:ext cx="40681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i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“Java’s epic refactor”</a:t>
              </a:r>
              <a:endParaRPr lang="fr-FR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441272-D2B8-8D10-5DA3-89B6008C9E7E}"/>
                </a:ext>
              </a:extLst>
            </p:cNvPr>
            <p:cNvSpPr txBox="1"/>
            <p:nvPr/>
          </p:nvSpPr>
          <p:spPr>
            <a:xfrm>
              <a:off x="7492696" y="3687597"/>
              <a:ext cx="12747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Brian Goetz</a:t>
              </a:r>
              <a:endParaRPr lang="fr-FR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3F5899-C8B4-01A2-AB5C-21166C1D118C}"/>
              </a:ext>
            </a:extLst>
          </p:cNvPr>
          <p:cNvSpPr txBox="1"/>
          <p:nvPr/>
        </p:nvSpPr>
        <p:spPr>
          <a:xfrm>
            <a:off x="2500304" y="5626279"/>
            <a:ext cx="71913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rPr>
              <a:t>“Codes like a class, works like an int”</a:t>
            </a:r>
            <a:endParaRPr lang="fr-FR" sz="3600" i="1" dirty="0">
              <a:solidFill>
                <a:schemeClr val="tx1">
                  <a:lumMod val="50000"/>
                  <a:lumOff val="50000"/>
                </a:schemeClr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4F182-E396-1186-0E3A-10EE483E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7399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8A4050-8EED-70EB-84A7-53FC8E779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</a:t>
            </a:fld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D2794B-8C53-08FF-82E5-6B53D2ABB19B}"/>
              </a:ext>
            </a:extLst>
          </p:cNvPr>
          <p:cNvSpPr txBox="1"/>
          <p:nvPr/>
        </p:nvSpPr>
        <p:spPr>
          <a:xfrm>
            <a:off x="3926932" y="2459504"/>
            <a:ext cx="433813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Zero-cost abstraction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Fira Sans Condensed SemiBold" panose="020B0603050000020004" pitchFamily="34" charset="0"/>
              </a:rPr>
              <a:t>Flat memory </a:t>
            </a:r>
            <a:r>
              <a:rPr lang="en-US" sz="2400" dirty="0">
                <a:latin typeface="Fira Sans Condensed SemiBold" panose="020B0603050000020004" pitchFamily="34" charset="0"/>
              </a:rPr>
              <a:t>representation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Fira Sans Condensed SemiBold" panose="020B0603050000020004" pitchFamily="34" charset="0"/>
              </a:rPr>
              <a:t>Primitive type rehabilitation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E404AC-B1C5-A965-89ED-AC515CAA4B20}"/>
              </a:ext>
            </a:extLst>
          </p:cNvPr>
          <p:cNvSpPr txBox="1"/>
          <p:nvPr/>
        </p:nvSpPr>
        <p:spPr>
          <a:xfrm>
            <a:off x="4624285" y="490008"/>
            <a:ext cx="29434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Why Valhalla 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393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897325" y="490008"/>
            <a:ext cx="43973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Zero-Cost Abstraction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FA427B4F-9484-9FAB-1753-CB18606AD1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705" y="2928541"/>
            <a:ext cx="10642861" cy="286232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class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private final double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&lt;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throw new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IllegalArgumentException(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Consolas" panose="020B0609020204030204" pitchFamily="49" charset="0"/>
              </a:rPr>
              <a:t>"Mass must be strictly positive"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2A347B18-5F0A-0366-C737-F11EABDB262A}"/>
              </a:ext>
            </a:extLst>
          </p:cNvPr>
          <p:cNvSpPr txBox="1"/>
          <p:nvPr/>
        </p:nvSpPr>
        <p:spPr>
          <a:xfrm>
            <a:off x="2063292" y="1948999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We should not choose between abstraction and performance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2204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694553" y="490008"/>
            <a:ext cx="48029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D4E7A50-3EBD-D19C-B26E-3AFF11C7E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23" y="1348300"/>
            <a:ext cx="6597754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5" name="Groupe 4">
            <a:extLst>
              <a:ext uri="{FF2B5EF4-FFF2-40B4-BE49-F238E27FC236}">
                <a16:creationId xmlns:a16="http://schemas.microsoft.com/office/drawing/2014/main" id="{947DC2F4-6D6F-C5A7-C2A6-88D377502A89}"/>
              </a:ext>
            </a:extLst>
          </p:cNvPr>
          <p:cNvGrpSpPr/>
          <p:nvPr/>
        </p:nvGrpSpPr>
        <p:grpSpPr>
          <a:xfrm>
            <a:off x="2105740" y="3432635"/>
            <a:ext cx="1502768" cy="1712844"/>
            <a:chOff x="1331843" y="1855304"/>
            <a:chExt cx="1345096" cy="171284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A46C85C-28F4-F161-6870-5E49A00DE8DE}"/>
                </a:ext>
              </a:extLst>
            </p:cNvPr>
            <p:cNvSpPr/>
            <p:nvPr/>
          </p:nvSpPr>
          <p:spPr>
            <a:xfrm>
              <a:off x="1331843" y="1855304"/>
              <a:ext cx="1345096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5890BBB-97ED-2DFA-C251-23DBD92BDD66}"/>
                </a:ext>
              </a:extLst>
            </p:cNvPr>
            <p:cNvSpPr/>
            <p:nvPr/>
          </p:nvSpPr>
          <p:spPr>
            <a:xfrm>
              <a:off x="1331843" y="2378765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B3D981B-0328-EAAD-9218-A9D380F85B84}"/>
                </a:ext>
              </a:extLst>
            </p:cNvPr>
            <p:cNvSpPr/>
            <p:nvPr/>
          </p:nvSpPr>
          <p:spPr>
            <a:xfrm>
              <a:off x="1331843" y="2729948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B40FA9-48B0-E782-260E-6E28A04329E0}"/>
                </a:ext>
              </a:extLst>
            </p:cNvPr>
            <p:cNvSpPr/>
            <p:nvPr/>
          </p:nvSpPr>
          <p:spPr>
            <a:xfrm>
              <a:off x="1331843" y="3077817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182F9A-3332-A49D-A187-CB03188C62AC}"/>
                </a:ext>
              </a:extLst>
            </p:cNvPr>
            <p:cNvSpPr/>
            <p:nvPr/>
          </p:nvSpPr>
          <p:spPr>
            <a:xfrm>
              <a:off x="1331843" y="3429000"/>
              <a:ext cx="1345096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2255035" y="297097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5634622F-D329-2616-CD19-6F0D1831039D}"/>
              </a:ext>
            </a:extLst>
          </p:cNvPr>
          <p:cNvGrpSpPr/>
          <p:nvPr/>
        </p:nvGrpSpPr>
        <p:grpSpPr>
          <a:xfrm>
            <a:off x="4933101" y="2515867"/>
            <a:ext cx="1502768" cy="1712844"/>
            <a:chOff x="5651789" y="3218775"/>
            <a:chExt cx="1502768" cy="171284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C74D8B-C1B7-11AF-0C0D-CDE91B8E042C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636E193-4559-2674-BDD6-B7CDB214E663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B0B459-ED61-E9CD-821A-5B0850EB6E1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281575B-AB4D-25F5-E488-F0EBFB9BCB09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668267C-D77D-2F28-7C74-2AE3A988FA11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C73AF41-1283-E4B7-DB65-291AC9AA13E0}"/>
              </a:ext>
            </a:extLst>
          </p:cNvPr>
          <p:cNvGrpSpPr/>
          <p:nvPr/>
        </p:nvGrpSpPr>
        <p:grpSpPr>
          <a:xfrm>
            <a:off x="8679234" y="4655148"/>
            <a:ext cx="1502768" cy="1712844"/>
            <a:chOff x="5651789" y="3218775"/>
            <a:chExt cx="1502768" cy="171284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DD4624E-59C8-0DBB-2C89-EC67345FAC91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E003FC7-C43E-C7E4-31F3-673DA46C545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7A16ED6-DD79-896B-4F3E-9282992626C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BFD5BC-CD87-CAAE-22C2-E0A14564CB1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854D624-4167-FA5E-609F-2D71FFEC6820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937E39F3-655A-7EDD-D721-798AA66F1CA4}"/>
              </a:ext>
            </a:extLst>
          </p:cNvPr>
          <p:cNvGrpSpPr/>
          <p:nvPr/>
        </p:nvGrpSpPr>
        <p:grpSpPr>
          <a:xfrm>
            <a:off x="6806168" y="3402481"/>
            <a:ext cx="1502768" cy="1712844"/>
            <a:chOff x="5651789" y="3218775"/>
            <a:chExt cx="1502768" cy="17128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1017790-D0BE-6009-5210-EF6954E79DBF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2245FCA-F0A5-60CD-E6F2-146241782DD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8811AAA-BC38-3C39-7ECB-E1029826F3C6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32BDB9A-C269-2CC9-C822-4A67F52F039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BAF28A0-4025-E76C-B830-35BF10038BCF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C24E9A57-0E32-B272-C539-ADC350356583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 flipV="1">
            <a:off x="3608508" y="3566103"/>
            <a:ext cx="1324593" cy="565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108A27FC-9BED-5742-F0A8-E098DF0BC58F}"/>
              </a:ext>
            </a:extLst>
          </p:cNvPr>
          <p:cNvCxnSpPr>
            <a:cxnSpLocks/>
            <a:stCxn id="8" idx="3"/>
            <a:endCxn id="31" idx="1"/>
          </p:cNvCxnSpPr>
          <p:nvPr/>
        </p:nvCxnSpPr>
        <p:spPr>
          <a:xfrm flipV="1">
            <a:off x="3608508" y="4452717"/>
            <a:ext cx="3197660" cy="30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51348514-5A8F-055C-413C-466FD6A8CEF7}"/>
              </a:ext>
            </a:extLst>
          </p:cNvPr>
          <p:cNvCxnSpPr>
            <a:cxnSpLocks/>
            <a:stCxn id="9" idx="3"/>
            <a:endCxn id="25" idx="1"/>
          </p:cNvCxnSpPr>
          <p:nvPr/>
        </p:nvCxnSpPr>
        <p:spPr>
          <a:xfrm>
            <a:off x="3608508" y="4830740"/>
            <a:ext cx="5070726" cy="8746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5">
            <a:extLst>
              <a:ext uri="{FF2B5EF4-FFF2-40B4-BE49-F238E27FC236}">
                <a16:creationId xmlns:a16="http://schemas.microsoft.com/office/drawing/2014/main" id="{0B0C54CB-FA29-9ECD-AC4B-C1F763E7A449}"/>
              </a:ext>
            </a:extLst>
          </p:cNvPr>
          <p:cNvSpPr txBox="1"/>
          <p:nvPr/>
        </p:nvSpPr>
        <p:spPr>
          <a:xfrm>
            <a:off x="5252315" y="2067720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6" name="TextBox 5">
            <a:extLst>
              <a:ext uri="{FF2B5EF4-FFF2-40B4-BE49-F238E27FC236}">
                <a16:creationId xmlns:a16="http://schemas.microsoft.com/office/drawing/2014/main" id="{F2E19E0A-235B-EE77-691E-CBF14EE94CBE}"/>
              </a:ext>
            </a:extLst>
          </p:cNvPr>
          <p:cNvSpPr txBox="1"/>
          <p:nvPr/>
        </p:nvSpPr>
        <p:spPr>
          <a:xfrm>
            <a:off x="7125382" y="2924467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7" name="TextBox 5">
            <a:extLst>
              <a:ext uri="{FF2B5EF4-FFF2-40B4-BE49-F238E27FC236}">
                <a16:creationId xmlns:a16="http://schemas.microsoft.com/office/drawing/2014/main" id="{A35D5464-083D-57B9-0F73-C9DC333E3FC8}"/>
              </a:ext>
            </a:extLst>
          </p:cNvPr>
          <p:cNvSpPr txBox="1"/>
          <p:nvPr/>
        </p:nvSpPr>
        <p:spPr>
          <a:xfrm>
            <a:off x="8998448" y="4190481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970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1996175" y="490008"/>
            <a:ext cx="81996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 </a:t>
            </a:r>
            <a:r>
              <a:rPr lang="en-US" sz="3600">
                <a:latin typeface="Fira Sans Condensed SemiBold" panose="020B0603050000020004" pitchFamily="34" charset="0"/>
              </a:rPr>
              <a:t>Memory Representation with Valhalla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5493912" y="169835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9C283B99-FD59-0EBE-80C8-ABE3431E1422}"/>
              </a:ext>
            </a:extLst>
          </p:cNvPr>
          <p:cNvGrpSpPr/>
          <p:nvPr/>
        </p:nvGrpSpPr>
        <p:grpSpPr>
          <a:xfrm>
            <a:off x="5344616" y="2160015"/>
            <a:ext cx="1502768" cy="3810260"/>
            <a:chOff x="5344616" y="2160015"/>
            <a:chExt cx="1502768" cy="3810260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47DC2F4-6D6F-C5A7-C2A6-88D377502A89}"/>
                </a:ext>
              </a:extLst>
            </p:cNvPr>
            <p:cNvGrpSpPr/>
            <p:nvPr/>
          </p:nvGrpSpPr>
          <p:grpSpPr>
            <a:xfrm>
              <a:off x="5344616" y="2160015"/>
              <a:ext cx="1502768" cy="3810260"/>
              <a:chOff x="1331843" y="1855304"/>
              <a:chExt cx="1345096" cy="38102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A46C85C-28F4-F161-6870-5E49A00DE8DE}"/>
                  </a:ext>
                </a:extLst>
              </p:cNvPr>
              <p:cNvSpPr/>
              <p:nvPr/>
            </p:nvSpPr>
            <p:spPr>
              <a:xfrm>
                <a:off x="1331843" y="1855304"/>
                <a:ext cx="1345096" cy="52346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Header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5890BBB-97ED-2DFA-C251-23DBD92BDD66}"/>
                  </a:ext>
                </a:extLst>
              </p:cNvPr>
              <p:cNvSpPr/>
              <p:nvPr/>
            </p:nvSpPr>
            <p:spPr>
              <a:xfrm>
                <a:off x="1331843" y="2378765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B3D981B-0328-EAAD-9218-A9D380F85B84}"/>
                  </a:ext>
                </a:extLst>
              </p:cNvPr>
              <p:cNvSpPr/>
              <p:nvPr/>
            </p:nvSpPr>
            <p:spPr>
              <a:xfrm>
                <a:off x="1331843" y="2729948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6B40FA9-48B0-E782-260E-6E28A04329E0}"/>
                  </a:ext>
                </a:extLst>
              </p:cNvPr>
              <p:cNvSpPr/>
              <p:nvPr/>
            </p:nvSpPr>
            <p:spPr>
              <a:xfrm>
                <a:off x="1331843" y="3077817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E182F9A-3332-A49D-A187-CB03188C62AC}"/>
                  </a:ext>
                </a:extLst>
              </p:cNvPr>
              <p:cNvSpPr/>
              <p:nvPr/>
            </p:nvSpPr>
            <p:spPr>
              <a:xfrm>
                <a:off x="1331843" y="5526416"/>
                <a:ext cx="1345096" cy="13914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7F86F62-D840-B76D-B0C2-C2646DB9CDB3}"/>
                </a:ext>
              </a:extLst>
            </p:cNvPr>
            <p:cNvSpPr/>
            <p:nvPr/>
          </p:nvSpPr>
          <p:spPr>
            <a:xfrm>
              <a:off x="5344616" y="3730657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9569941-7A19-BD99-CEAA-97C7AAB8A579}"/>
                </a:ext>
              </a:extLst>
            </p:cNvPr>
            <p:cNvSpPr/>
            <p:nvPr/>
          </p:nvSpPr>
          <p:spPr>
            <a:xfrm>
              <a:off x="5344616" y="4081840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915CA3-AD86-D5CC-8E16-E613BED99D1F}"/>
                </a:ext>
              </a:extLst>
            </p:cNvPr>
            <p:cNvSpPr/>
            <p:nvPr/>
          </p:nvSpPr>
          <p:spPr>
            <a:xfrm>
              <a:off x="5344616" y="4429709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A5B5A1C-D3FC-D6B1-6391-831FD1197CB2}"/>
                </a:ext>
              </a:extLst>
            </p:cNvPr>
            <p:cNvSpPr/>
            <p:nvPr/>
          </p:nvSpPr>
          <p:spPr>
            <a:xfrm>
              <a:off x="5344616" y="4780892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97FD7BC-473C-C5D2-EC74-BEEFA9EE79B7}"/>
                </a:ext>
              </a:extLst>
            </p:cNvPr>
            <p:cNvSpPr/>
            <p:nvPr/>
          </p:nvSpPr>
          <p:spPr>
            <a:xfrm>
              <a:off x="5344616" y="5132075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C45D16-8DCE-6481-D4CD-ABC6F9E66620}"/>
                </a:ext>
              </a:extLst>
            </p:cNvPr>
            <p:cNvSpPr/>
            <p:nvPr/>
          </p:nvSpPr>
          <p:spPr>
            <a:xfrm>
              <a:off x="5344616" y="5479944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5085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4004722" y="490008"/>
            <a:ext cx="41825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Primitives vs Objects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6EC9123D-A953-7BD1-17D7-5BA953C78F9C}"/>
              </a:ext>
            </a:extLst>
          </p:cNvPr>
          <p:cNvSpPr txBox="1"/>
          <p:nvPr/>
        </p:nvSpPr>
        <p:spPr>
          <a:xfrm>
            <a:off x="3445178" y="2084528"/>
            <a:ext cx="530164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Fira Sans Condensed SemiBold" panose="020B0603050000020004" pitchFamily="34" charset="0"/>
              </a:rPr>
              <a:t>Primitives are second class citizens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abstraction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common array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cannot be used as generics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method (</a:t>
            </a:r>
            <a:r>
              <a:rPr lang="en-US" sz="2400" dirty="0" err="1">
                <a:solidFill>
                  <a:srgbClr val="0033B3"/>
                </a:solidFill>
                <a:latin typeface="Consolas" panose="020B0609020204030204" pitchFamily="49" charset="0"/>
              </a:rPr>
              <a:t>toString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()</a:t>
            </a:r>
            <a:r>
              <a:rPr lang="en-US" sz="2400" b="1" dirty="0">
                <a:latin typeface="Fira Sans Condensed SemiBold" panose="020B0603050000020004" pitchFamily="34" charset="0"/>
              </a:rPr>
              <a:t>, 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== </a:t>
            </a:r>
            <a:r>
              <a:rPr lang="en-US" sz="2400" b="1">
                <a:latin typeface="Fira Sans Condensed SemiBold" panose="020B0603050000020004" pitchFamily="34" charset="0"/>
              </a:rPr>
              <a:t>vs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equals()</a:t>
            </a:r>
            <a:endParaRPr lang="en-US" sz="2400" dirty="0">
              <a:solidFill>
                <a:srgbClr val="0033B3"/>
              </a:solidFill>
              <a:latin typeface="Consolas" panose="020B06090202040302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936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900F922-237B-F17B-B1FD-EEBECA41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8</a:t>
            </a:fld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2B9D201-FEF5-2ADB-A82A-64AB7B285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837" y="1348406"/>
            <a:ext cx="6630325" cy="4048690"/>
          </a:xfrm>
          <a:prstGeom prst="rect">
            <a:avLst/>
          </a:prstGeom>
        </p:spPr>
      </p:pic>
      <p:sp>
        <p:nvSpPr>
          <p:cNvPr id="6" name="TextBox 9">
            <a:extLst>
              <a:ext uri="{FF2B5EF4-FFF2-40B4-BE49-F238E27FC236}">
                <a16:creationId xmlns:a16="http://schemas.microsoft.com/office/drawing/2014/main" id="{D041EF67-AA86-24A3-4DEF-77F7AC204E46}"/>
              </a:ext>
            </a:extLst>
          </p:cNvPr>
          <p:cNvSpPr txBox="1"/>
          <p:nvPr/>
        </p:nvSpPr>
        <p:spPr>
          <a:xfrm>
            <a:off x="2063292" y="42318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JEP 401 introduces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 </a:t>
            </a:r>
            <a:r>
              <a:rPr lang="en-US" sz="2400" dirty="0">
                <a:latin typeface="Fira Sans Condensed SemiBold" panose="020B0603050000020004" pitchFamily="34" charset="0"/>
              </a:rPr>
              <a:t>in the language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D75CE977-5BB5-8DE9-0DCE-1DF232FB602E}"/>
              </a:ext>
            </a:extLst>
          </p:cNvPr>
          <p:cNvSpPr txBox="1"/>
          <p:nvPr/>
        </p:nvSpPr>
        <p:spPr>
          <a:xfrm>
            <a:off x="2063292" y="5860650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Available as a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400" dirty="0">
                <a:latin typeface="Fira Sans Condensed SemiBold" panose="020B0603050000020004" pitchFamily="34" charset="0"/>
              </a:rPr>
              <a:t> feature in JDK 28 early access build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53354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612E88A-27B7-DF3D-DE72-EA6CB5DE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9</a:t>
            </a:fld>
            <a:endParaRPr lang="fr-FR"/>
          </a:p>
        </p:txBody>
      </p:sp>
      <p:pic>
        <p:nvPicPr>
          <p:cNvPr id="5122" name="Picture 2" descr="JEP 401 Pull Request">
            <a:extLst>
              <a:ext uri="{FF2B5EF4-FFF2-40B4-BE49-F238E27FC236}">
                <a16:creationId xmlns:a16="http://schemas.microsoft.com/office/drawing/2014/main" id="{D731EAAE-B7C6-0A0D-BA3A-1F913A473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13" y="0"/>
            <a:ext cx="118649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0738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59C93DF-618F-2DFA-8969-3EA70E92DB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948188" y="1"/>
            <a:ext cx="7243812" cy="6857999"/>
          </a:xfrm>
          <a:custGeom>
            <a:avLst/>
            <a:gdLst/>
            <a:ahLst/>
            <a:cxnLst/>
            <a:rect l="l" t="t" r="r" b="b"/>
            <a:pathLst>
              <a:path w="7243812" h="6857999">
                <a:moveTo>
                  <a:pt x="609803" y="0"/>
                </a:moveTo>
                <a:lnTo>
                  <a:pt x="1222601" y="0"/>
                </a:lnTo>
                <a:lnTo>
                  <a:pt x="1223032" y="1645"/>
                </a:lnTo>
                <a:lnTo>
                  <a:pt x="1343371" y="1645"/>
                </a:lnTo>
                <a:lnTo>
                  <a:pt x="1343665" y="0"/>
                </a:lnTo>
                <a:lnTo>
                  <a:pt x="1884172" y="0"/>
                </a:lnTo>
                <a:lnTo>
                  <a:pt x="1884280" y="1645"/>
                </a:lnTo>
                <a:lnTo>
                  <a:pt x="7243812" y="1645"/>
                </a:lnTo>
                <a:lnTo>
                  <a:pt x="7243812" y="6857999"/>
                </a:lnTo>
                <a:lnTo>
                  <a:pt x="133676" y="6857999"/>
                </a:lnTo>
                <a:lnTo>
                  <a:pt x="114609" y="6843646"/>
                </a:lnTo>
                <a:cubicBezTo>
                  <a:pt x="106811" y="6836369"/>
                  <a:pt x="103243" y="6828354"/>
                  <a:pt x="111459" y="6817746"/>
                </a:cubicBezTo>
                <a:cubicBezTo>
                  <a:pt x="93943" y="6769544"/>
                  <a:pt x="97901" y="6796071"/>
                  <a:pt x="113412" y="6759582"/>
                </a:cubicBezTo>
                <a:cubicBezTo>
                  <a:pt x="110188" y="6732087"/>
                  <a:pt x="99653" y="6727133"/>
                  <a:pt x="100729" y="6705297"/>
                </a:cubicBezTo>
                <a:cubicBezTo>
                  <a:pt x="94563" y="6675394"/>
                  <a:pt x="99792" y="6669536"/>
                  <a:pt x="87662" y="6640957"/>
                </a:cubicBezTo>
                <a:cubicBezTo>
                  <a:pt x="74199" y="6591883"/>
                  <a:pt x="82185" y="6576319"/>
                  <a:pt x="83084" y="6541313"/>
                </a:cubicBezTo>
                <a:cubicBezTo>
                  <a:pt x="82225" y="6490855"/>
                  <a:pt x="67640" y="6422980"/>
                  <a:pt x="59444" y="6370251"/>
                </a:cubicBezTo>
                <a:cubicBezTo>
                  <a:pt x="51248" y="6317522"/>
                  <a:pt x="30729" y="6270972"/>
                  <a:pt x="33908" y="6224938"/>
                </a:cubicBezTo>
                <a:lnTo>
                  <a:pt x="30063" y="6089693"/>
                </a:lnTo>
                <a:cubicBezTo>
                  <a:pt x="25730" y="6032039"/>
                  <a:pt x="3474" y="5997051"/>
                  <a:pt x="29101" y="5973994"/>
                </a:cubicBezTo>
                <a:cubicBezTo>
                  <a:pt x="17018" y="5940131"/>
                  <a:pt x="41135" y="5955713"/>
                  <a:pt x="33855" y="5939847"/>
                </a:cubicBezTo>
                <a:lnTo>
                  <a:pt x="12982" y="5906467"/>
                </a:lnTo>
                <a:lnTo>
                  <a:pt x="8416" y="5862699"/>
                </a:lnTo>
                <a:cubicBezTo>
                  <a:pt x="7895" y="5838948"/>
                  <a:pt x="8409" y="5853058"/>
                  <a:pt x="12052" y="5823324"/>
                </a:cubicBezTo>
                <a:cubicBezTo>
                  <a:pt x="11631" y="5805291"/>
                  <a:pt x="11213" y="5787258"/>
                  <a:pt x="10793" y="5769225"/>
                </a:cubicBezTo>
                <a:cubicBezTo>
                  <a:pt x="17866" y="5738356"/>
                  <a:pt x="19121" y="5696311"/>
                  <a:pt x="25986" y="5667896"/>
                </a:cubicBezTo>
                <a:cubicBezTo>
                  <a:pt x="16329" y="5647975"/>
                  <a:pt x="42195" y="5619318"/>
                  <a:pt x="43687" y="5594585"/>
                </a:cubicBezTo>
                <a:cubicBezTo>
                  <a:pt x="32512" y="5517959"/>
                  <a:pt x="44052" y="5536542"/>
                  <a:pt x="40019" y="5464225"/>
                </a:cubicBezTo>
                <a:cubicBezTo>
                  <a:pt x="32676" y="5400671"/>
                  <a:pt x="26469" y="5311951"/>
                  <a:pt x="22904" y="5269726"/>
                </a:cubicBezTo>
                <a:cubicBezTo>
                  <a:pt x="19341" y="5227501"/>
                  <a:pt x="14742" y="5212581"/>
                  <a:pt x="18628" y="5210876"/>
                </a:cubicBezTo>
                <a:cubicBezTo>
                  <a:pt x="-20300" y="5161742"/>
                  <a:pt x="15511" y="5141336"/>
                  <a:pt x="5392" y="5111369"/>
                </a:cubicBezTo>
                <a:cubicBezTo>
                  <a:pt x="10662" y="5053859"/>
                  <a:pt x="15546" y="5034036"/>
                  <a:pt x="13324" y="5009272"/>
                </a:cubicBezTo>
                <a:cubicBezTo>
                  <a:pt x="25126" y="4982633"/>
                  <a:pt x="74251" y="4956261"/>
                  <a:pt x="48699" y="4925805"/>
                </a:cubicBezTo>
                <a:cubicBezTo>
                  <a:pt x="76704" y="4931200"/>
                  <a:pt x="39437" y="4888353"/>
                  <a:pt x="62925" y="4877992"/>
                </a:cubicBezTo>
                <a:cubicBezTo>
                  <a:pt x="82480" y="4871554"/>
                  <a:pt x="75731" y="4857054"/>
                  <a:pt x="79496" y="4844323"/>
                </a:cubicBezTo>
                <a:cubicBezTo>
                  <a:pt x="97657" y="4832308"/>
                  <a:pt x="110974" y="4752352"/>
                  <a:pt x="101400" y="4733115"/>
                </a:cubicBezTo>
                <a:cubicBezTo>
                  <a:pt x="108185" y="4679357"/>
                  <a:pt x="119720" y="4662889"/>
                  <a:pt x="111223" y="4625153"/>
                </a:cubicBezTo>
                <a:cubicBezTo>
                  <a:pt x="106592" y="4588197"/>
                  <a:pt x="114401" y="4567830"/>
                  <a:pt x="126359" y="4539168"/>
                </a:cubicBezTo>
                <a:cubicBezTo>
                  <a:pt x="126535" y="4522289"/>
                  <a:pt x="126710" y="4505410"/>
                  <a:pt x="126886" y="4488531"/>
                </a:cubicBezTo>
                <a:cubicBezTo>
                  <a:pt x="126165" y="4473140"/>
                  <a:pt x="132917" y="4437329"/>
                  <a:pt x="135099" y="4411258"/>
                </a:cubicBezTo>
                <a:cubicBezTo>
                  <a:pt x="107667" y="4345686"/>
                  <a:pt x="146840" y="4280033"/>
                  <a:pt x="132327" y="4219510"/>
                </a:cubicBezTo>
                <a:cubicBezTo>
                  <a:pt x="138549" y="4158987"/>
                  <a:pt x="124091" y="4192084"/>
                  <a:pt x="172424" y="4048117"/>
                </a:cubicBezTo>
                <a:cubicBezTo>
                  <a:pt x="167703" y="4015047"/>
                  <a:pt x="203806" y="3905047"/>
                  <a:pt x="177666" y="3878222"/>
                </a:cubicBezTo>
                <a:cubicBezTo>
                  <a:pt x="167714" y="3821305"/>
                  <a:pt x="183914" y="3845122"/>
                  <a:pt x="156982" y="3778166"/>
                </a:cubicBezTo>
                <a:cubicBezTo>
                  <a:pt x="160365" y="3760234"/>
                  <a:pt x="142791" y="3724716"/>
                  <a:pt x="142115" y="3707357"/>
                </a:cubicBezTo>
                <a:cubicBezTo>
                  <a:pt x="139253" y="3688591"/>
                  <a:pt x="140202" y="3672776"/>
                  <a:pt x="139805" y="3665569"/>
                </a:cubicBezTo>
                <a:cubicBezTo>
                  <a:pt x="139778" y="3665084"/>
                  <a:pt x="139750" y="3664599"/>
                  <a:pt x="139723" y="3664114"/>
                </a:cubicBezTo>
                <a:lnTo>
                  <a:pt x="134134" y="3653088"/>
                </a:lnTo>
                <a:lnTo>
                  <a:pt x="126568" y="3641228"/>
                </a:lnTo>
                <a:cubicBezTo>
                  <a:pt x="126560" y="3629488"/>
                  <a:pt x="126549" y="3617747"/>
                  <a:pt x="126540" y="3606007"/>
                </a:cubicBezTo>
                <a:lnTo>
                  <a:pt x="134645" y="3597336"/>
                </a:lnTo>
                <a:lnTo>
                  <a:pt x="131649" y="3586412"/>
                </a:lnTo>
                <a:lnTo>
                  <a:pt x="134221" y="3569719"/>
                </a:lnTo>
                <a:lnTo>
                  <a:pt x="133795" y="3568021"/>
                </a:lnTo>
                <a:lnTo>
                  <a:pt x="130189" y="3553678"/>
                </a:lnTo>
                <a:lnTo>
                  <a:pt x="129827" y="3552249"/>
                </a:lnTo>
                <a:lnTo>
                  <a:pt x="122183" y="3542019"/>
                </a:lnTo>
                <a:lnTo>
                  <a:pt x="112426" y="3531201"/>
                </a:lnTo>
                <a:lnTo>
                  <a:pt x="105626" y="3496391"/>
                </a:lnTo>
                <a:lnTo>
                  <a:pt x="111971" y="3486850"/>
                </a:lnTo>
                <a:lnTo>
                  <a:pt x="106910" y="3476412"/>
                </a:lnTo>
                <a:cubicBezTo>
                  <a:pt x="105781" y="3466028"/>
                  <a:pt x="105824" y="3433967"/>
                  <a:pt x="105209" y="3424545"/>
                </a:cubicBezTo>
                <a:lnTo>
                  <a:pt x="103215" y="3419880"/>
                </a:lnTo>
                <a:lnTo>
                  <a:pt x="104953" y="3415218"/>
                </a:lnTo>
                <a:lnTo>
                  <a:pt x="101255" y="3409825"/>
                </a:lnTo>
                <a:lnTo>
                  <a:pt x="103044" y="3407057"/>
                </a:lnTo>
                <a:lnTo>
                  <a:pt x="89764" y="3378959"/>
                </a:lnTo>
                <a:lnTo>
                  <a:pt x="83991" y="3362948"/>
                </a:lnTo>
                <a:lnTo>
                  <a:pt x="66858" y="3332072"/>
                </a:lnTo>
                <a:lnTo>
                  <a:pt x="69057" y="3325671"/>
                </a:lnTo>
                <a:lnTo>
                  <a:pt x="51631" y="3278130"/>
                </a:lnTo>
                <a:lnTo>
                  <a:pt x="53959" y="3277179"/>
                </a:lnTo>
                <a:lnTo>
                  <a:pt x="60205" y="3262610"/>
                </a:lnTo>
                <a:lnTo>
                  <a:pt x="58998" y="3258677"/>
                </a:lnTo>
                <a:cubicBezTo>
                  <a:pt x="46010" y="3210316"/>
                  <a:pt x="80872" y="3236545"/>
                  <a:pt x="45170" y="3180546"/>
                </a:cubicBezTo>
                <a:cubicBezTo>
                  <a:pt x="53643" y="3171780"/>
                  <a:pt x="52550" y="3163902"/>
                  <a:pt x="45228" y="3151828"/>
                </a:cubicBezTo>
                <a:cubicBezTo>
                  <a:pt x="39651" y="3128169"/>
                  <a:pt x="64667" y="3124610"/>
                  <a:pt x="45020" y="3103777"/>
                </a:cubicBezTo>
                <a:cubicBezTo>
                  <a:pt x="59127" y="3105196"/>
                  <a:pt x="41123" y="3057428"/>
                  <a:pt x="57092" y="3065434"/>
                </a:cubicBezTo>
                <a:cubicBezTo>
                  <a:pt x="55435" y="3051512"/>
                  <a:pt x="40803" y="3032637"/>
                  <a:pt x="35088" y="3020247"/>
                </a:cubicBezTo>
                <a:cubicBezTo>
                  <a:pt x="32503" y="3002537"/>
                  <a:pt x="18197" y="3001119"/>
                  <a:pt x="22803" y="2991092"/>
                </a:cubicBezTo>
                <a:cubicBezTo>
                  <a:pt x="24338" y="2987749"/>
                  <a:pt x="27975" y="2983455"/>
                  <a:pt x="34850" y="2977278"/>
                </a:cubicBezTo>
                <a:cubicBezTo>
                  <a:pt x="22587" y="2954448"/>
                  <a:pt x="35600" y="2946689"/>
                  <a:pt x="36223" y="2911749"/>
                </a:cubicBezTo>
                <a:cubicBezTo>
                  <a:pt x="35158" y="2886513"/>
                  <a:pt x="29761" y="2843788"/>
                  <a:pt x="28462" y="2825860"/>
                </a:cubicBezTo>
                <a:cubicBezTo>
                  <a:pt x="28449" y="2818634"/>
                  <a:pt x="28437" y="2811409"/>
                  <a:pt x="28424" y="2804183"/>
                </a:cubicBezTo>
                <a:lnTo>
                  <a:pt x="21292" y="2790136"/>
                </a:lnTo>
                <a:lnTo>
                  <a:pt x="16179" y="2760208"/>
                </a:lnTo>
                <a:lnTo>
                  <a:pt x="22858" y="2751112"/>
                </a:lnTo>
                <a:lnTo>
                  <a:pt x="18505" y="2740278"/>
                </a:lnTo>
                <a:lnTo>
                  <a:pt x="22482" y="2726489"/>
                </a:lnTo>
                <a:lnTo>
                  <a:pt x="18175" y="2725052"/>
                </a:lnTo>
                <a:lnTo>
                  <a:pt x="10521" y="2715895"/>
                </a:lnTo>
                <a:lnTo>
                  <a:pt x="25499" y="2665666"/>
                </a:lnTo>
                <a:lnTo>
                  <a:pt x="30658" y="2635351"/>
                </a:lnTo>
                <a:cubicBezTo>
                  <a:pt x="30723" y="2625597"/>
                  <a:pt x="30791" y="2615842"/>
                  <a:pt x="30857" y="2606088"/>
                </a:cubicBezTo>
                <a:lnTo>
                  <a:pt x="37532" y="2596456"/>
                </a:lnTo>
                <a:cubicBezTo>
                  <a:pt x="41239" y="2582253"/>
                  <a:pt x="34640" y="2564757"/>
                  <a:pt x="36511" y="2549900"/>
                </a:cubicBezTo>
                <a:lnTo>
                  <a:pt x="53712" y="2496499"/>
                </a:lnTo>
                <a:cubicBezTo>
                  <a:pt x="53527" y="2492743"/>
                  <a:pt x="64725" y="2449625"/>
                  <a:pt x="64540" y="2445869"/>
                </a:cubicBezTo>
                <a:cubicBezTo>
                  <a:pt x="61940" y="2441580"/>
                  <a:pt x="65575" y="2413465"/>
                  <a:pt x="64348" y="2408995"/>
                </a:cubicBezTo>
                <a:cubicBezTo>
                  <a:pt x="100333" y="2407546"/>
                  <a:pt x="71752" y="2329020"/>
                  <a:pt x="101725" y="2335735"/>
                </a:cubicBezTo>
                <a:cubicBezTo>
                  <a:pt x="120512" y="2299003"/>
                  <a:pt x="138791" y="2291744"/>
                  <a:pt x="147278" y="2260088"/>
                </a:cubicBezTo>
                <a:cubicBezTo>
                  <a:pt x="152668" y="2224200"/>
                  <a:pt x="143589" y="2220953"/>
                  <a:pt x="152643" y="2193455"/>
                </a:cubicBezTo>
                <a:cubicBezTo>
                  <a:pt x="152701" y="2159228"/>
                  <a:pt x="131577" y="2138038"/>
                  <a:pt x="161815" y="2107942"/>
                </a:cubicBezTo>
                <a:lnTo>
                  <a:pt x="168884" y="2024270"/>
                </a:lnTo>
                <a:lnTo>
                  <a:pt x="210800" y="1969445"/>
                </a:lnTo>
                <a:lnTo>
                  <a:pt x="215063" y="1961162"/>
                </a:lnTo>
                <a:lnTo>
                  <a:pt x="226767" y="1945112"/>
                </a:lnTo>
                <a:lnTo>
                  <a:pt x="225906" y="1942021"/>
                </a:lnTo>
                <a:lnTo>
                  <a:pt x="220555" y="1935584"/>
                </a:lnTo>
                <a:cubicBezTo>
                  <a:pt x="220179" y="1930292"/>
                  <a:pt x="223282" y="1914884"/>
                  <a:pt x="223648" y="1910265"/>
                </a:cubicBezTo>
                <a:cubicBezTo>
                  <a:pt x="221934" y="1909994"/>
                  <a:pt x="221895" y="1909162"/>
                  <a:pt x="222758" y="1907867"/>
                </a:cubicBezTo>
                <a:lnTo>
                  <a:pt x="229387" y="1899379"/>
                </a:lnTo>
                <a:lnTo>
                  <a:pt x="231548" y="1895114"/>
                </a:lnTo>
                <a:lnTo>
                  <a:pt x="216553" y="1892417"/>
                </a:lnTo>
                <a:cubicBezTo>
                  <a:pt x="209075" y="1884999"/>
                  <a:pt x="222114" y="1866643"/>
                  <a:pt x="209739" y="1861483"/>
                </a:cubicBezTo>
                <a:cubicBezTo>
                  <a:pt x="214584" y="1853278"/>
                  <a:pt x="219066" y="1844665"/>
                  <a:pt x="222950" y="1835810"/>
                </a:cubicBezTo>
                <a:lnTo>
                  <a:pt x="224812" y="1830569"/>
                </a:lnTo>
                <a:lnTo>
                  <a:pt x="224522" y="1830429"/>
                </a:lnTo>
                <a:cubicBezTo>
                  <a:pt x="224224" y="1829219"/>
                  <a:pt x="224571" y="1827468"/>
                  <a:pt x="225830" y="1824832"/>
                </a:cubicBezTo>
                <a:lnTo>
                  <a:pt x="228207" y="1821003"/>
                </a:lnTo>
                <a:lnTo>
                  <a:pt x="230878" y="1807109"/>
                </a:lnTo>
                <a:lnTo>
                  <a:pt x="227355" y="1805316"/>
                </a:lnTo>
                <a:lnTo>
                  <a:pt x="228132" y="1804434"/>
                </a:lnTo>
                <a:cubicBezTo>
                  <a:pt x="237533" y="1798221"/>
                  <a:pt x="248274" y="1797417"/>
                  <a:pt x="223762" y="1784314"/>
                </a:cubicBezTo>
                <a:cubicBezTo>
                  <a:pt x="240655" y="1769422"/>
                  <a:pt x="224912" y="1763793"/>
                  <a:pt x="226521" y="1740358"/>
                </a:cubicBezTo>
                <a:cubicBezTo>
                  <a:pt x="240385" y="1732435"/>
                  <a:pt x="239102" y="1724301"/>
                  <a:pt x="233164" y="1715685"/>
                </a:cubicBezTo>
                <a:cubicBezTo>
                  <a:pt x="245499" y="1694404"/>
                  <a:pt x="240415" y="1672675"/>
                  <a:pt x="245819" y="1647555"/>
                </a:cubicBezTo>
                <a:cubicBezTo>
                  <a:pt x="268668" y="1622803"/>
                  <a:pt x="248434" y="1605585"/>
                  <a:pt x="254317" y="1578752"/>
                </a:cubicBezTo>
                <a:lnTo>
                  <a:pt x="249918" y="1546022"/>
                </a:lnTo>
                <a:cubicBezTo>
                  <a:pt x="251996" y="1543635"/>
                  <a:pt x="248777" y="1521210"/>
                  <a:pt x="248927" y="1519929"/>
                </a:cubicBezTo>
                <a:lnTo>
                  <a:pt x="248704" y="1519731"/>
                </a:lnTo>
                <a:lnTo>
                  <a:pt x="252245" y="1514846"/>
                </a:lnTo>
                <a:cubicBezTo>
                  <a:pt x="255314" y="1501295"/>
                  <a:pt x="252199" y="1477394"/>
                  <a:pt x="254681" y="1463304"/>
                </a:cubicBezTo>
                <a:cubicBezTo>
                  <a:pt x="257024" y="1459891"/>
                  <a:pt x="268983" y="1432466"/>
                  <a:pt x="267138" y="1430305"/>
                </a:cubicBezTo>
                <a:lnTo>
                  <a:pt x="266110" y="1429568"/>
                </a:lnTo>
                <a:lnTo>
                  <a:pt x="286784" y="1404045"/>
                </a:lnTo>
                <a:lnTo>
                  <a:pt x="294521" y="1360879"/>
                </a:lnTo>
                <a:lnTo>
                  <a:pt x="324750" y="1301993"/>
                </a:lnTo>
                <a:lnTo>
                  <a:pt x="328780" y="1210776"/>
                </a:lnTo>
                <a:cubicBezTo>
                  <a:pt x="344171" y="1197232"/>
                  <a:pt x="343390" y="1192124"/>
                  <a:pt x="346123" y="1157176"/>
                </a:cubicBezTo>
                <a:cubicBezTo>
                  <a:pt x="359383" y="1110140"/>
                  <a:pt x="355619" y="1111028"/>
                  <a:pt x="349331" y="1063288"/>
                </a:cubicBezTo>
                <a:cubicBezTo>
                  <a:pt x="364194" y="1005331"/>
                  <a:pt x="362778" y="969963"/>
                  <a:pt x="431245" y="889417"/>
                </a:cubicBezTo>
                <a:lnTo>
                  <a:pt x="459477" y="816346"/>
                </a:lnTo>
                <a:cubicBezTo>
                  <a:pt x="465006" y="808083"/>
                  <a:pt x="496978" y="764380"/>
                  <a:pt x="489268" y="752692"/>
                </a:cubicBezTo>
                <a:lnTo>
                  <a:pt x="505368" y="724368"/>
                </a:lnTo>
                <a:lnTo>
                  <a:pt x="511178" y="722494"/>
                </a:lnTo>
                <a:lnTo>
                  <a:pt x="514451" y="717531"/>
                </a:lnTo>
                <a:cubicBezTo>
                  <a:pt x="514171" y="710761"/>
                  <a:pt x="513893" y="703992"/>
                  <a:pt x="513612" y="697222"/>
                </a:cubicBezTo>
                <a:cubicBezTo>
                  <a:pt x="513272" y="693376"/>
                  <a:pt x="513720" y="690905"/>
                  <a:pt x="514772" y="689289"/>
                </a:cubicBezTo>
                <a:lnTo>
                  <a:pt x="515249" y="689151"/>
                </a:lnTo>
                <a:cubicBezTo>
                  <a:pt x="515320" y="686637"/>
                  <a:pt x="515389" y="684122"/>
                  <a:pt x="515461" y="681608"/>
                </a:cubicBezTo>
                <a:cubicBezTo>
                  <a:pt x="522970" y="666964"/>
                  <a:pt x="551123" y="617831"/>
                  <a:pt x="560298" y="601285"/>
                </a:cubicBezTo>
                <a:cubicBezTo>
                  <a:pt x="558549" y="585107"/>
                  <a:pt x="540289" y="573171"/>
                  <a:pt x="570504" y="582332"/>
                </a:cubicBezTo>
                <a:cubicBezTo>
                  <a:pt x="570816" y="577121"/>
                  <a:pt x="573898" y="574271"/>
                  <a:pt x="578347" y="572511"/>
                </a:cubicBezTo>
                <a:lnTo>
                  <a:pt x="580375" y="572092"/>
                </a:lnTo>
                <a:lnTo>
                  <a:pt x="575722" y="536015"/>
                </a:lnTo>
                <a:lnTo>
                  <a:pt x="578705" y="531675"/>
                </a:lnTo>
                <a:lnTo>
                  <a:pt x="564084" y="491380"/>
                </a:lnTo>
                <a:cubicBezTo>
                  <a:pt x="560969" y="487340"/>
                  <a:pt x="560134" y="482008"/>
                  <a:pt x="564457" y="473782"/>
                </a:cubicBezTo>
                <a:lnTo>
                  <a:pt x="566413" y="472000"/>
                </a:lnTo>
                <a:lnTo>
                  <a:pt x="584600" y="354566"/>
                </a:lnTo>
                <a:cubicBezTo>
                  <a:pt x="586100" y="325288"/>
                  <a:pt x="584583" y="317533"/>
                  <a:pt x="588077" y="265704"/>
                </a:cubicBezTo>
                <a:cubicBezTo>
                  <a:pt x="588008" y="205530"/>
                  <a:pt x="578491" y="226511"/>
                  <a:pt x="580576" y="187093"/>
                </a:cubicBezTo>
                <a:cubicBezTo>
                  <a:pt x="579265" y="162458"/>
                  <a:pt x="569240" y="117589"/>
                  <a:pt x="587928" y="130336"/>
                </a:cubicBezTo>
                <a:cubicBezTo>
                  <a:pt x="552635" y="69804"/>
                  <a:pt x="604651" y="82036"/>
                  <a:pt x="593881" y="17287"/>
                </a:cubicBezTo>
                <a:cubicBezTo>
                  <a:pt x="600399" y="13784"/>
                  <a:pt x="605413" y="8440"/>
                  <a:pt x="609224" y="1705"/>
                </a:cubicBezTo>
                <a:close/>
              </a:path>
            </a:pathLst>
          </a:cu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781B10-4E89-76EC-3D69-8F1D5C739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10</a:t>
            </a:fld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09FF59-39BF-ECB4-E23D-8B811783A144}"/>
              </a:ext>
            </a:extLst>
          </p:cNvPr>
          <p:cNvSpPr txBox="1"/>
          <p:nvPr/>
        </p:nvSpPr>
        <p:spPr>
          <a:xfrm>
            <a:off x="457200" y="581433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Clément de Tastes</a:t>
            </a:r>
          </a:p>
        </p:txBody>
      </p:sp>
      <p:sp>
        <p:nvSpPr>
          <p:cNvPr id="5" name="Google Shape;1035;p40">
            <a:extLst>
              <a:ext uri="{FF2B5EF4-FFF2-40B4-BE49-F238E27FC236}">
                <a16:creationId xmlns:a16="http://schemas.microsoft.com/office/drawing/2014/main" id="{17D25E4B-34C0-773B-DB6A-2AE7988A7195}"/>
              </a:ext>
            </a:extLst>
          </p:cNvPr>
          <p:cNvSpPr txBox="1">
            <a:spLocks/>
          </p:cNvSpPr>
          <p:nvPr/>
        </p:nvSpPr>
        <p:spPr>
          <a:xfrm>
            <a:off x="170653" y="2217548"/>
            <a:ext cx="4669797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Tech Lead @ SCIAM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@cdetastes.bsky.social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CodeSimcoe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blog.sciam.fr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www.toulon.dev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— JavaFX —  </a:t>
            </a:r>
            <a:r>
              <a:rPr lang="en-US" sz="2400" dirty="0" err="1">
                <a:latin typeface="Fira Sans Condensed SemiBold" panose="020B0603050000020004" pitchFamily="34" charset="0"/>
              </a:rPr>
              <a:t>Quarkus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brew my own beer 🍺</a:t>
            </a:r>
          </a:p>
          <a:p>
            <a:pPr marL="285750">
              <a:spcBef>
                <a:spcPts val="0"/>
              </a:spcBef>
            </a:pPr>
            <a:endParaRPr lang="en-US" sz="2400" dirty="0">
              <a:latin typeface="Fira Sans Condensed SemiBold" panose="020B06030500000200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A581052-A9F1-A62D-E34C-F392A03B4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589" y="2014031"/>
            <a:ext cx="877301" cy="92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809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BEA7D7-31AA-8392-AF67-1777F4D5B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11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591D2CC-5838-48D5-FF1F-342E2EE9D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" b="632"/>
          <a:stretch>
            <a:fillRect/>
          </a:stretch>
        </p:blipFill>
        <p:spPr>
          <a:xfrm>
            <a:off x="20" y="10"/>
            <a:ext cx="6901711" cy="6857990"/>
          </a:xfrm>
          <a:custGeom>
            <a:avLst/>
            <a:gdLst/>
            <a:ahLst/>
            <a:cxnLst/>
            <a:rect l="l" t="t" r="r" b="b"/>
            <a:pathLst>
              <a:path w="6901731" h="6858000">
                <a:moveTo>
                  <a:pt x="0" y="0"/>
                </a:moveTo>
                <a:lnTo>
                  <a:pt x="6897896" y="5958"/>
                </a:lnTo>
                <a:lnTo>
                  <a:pt x="6866823" y="62592"/>
                </a:lnTo>
                <a:lnTo>
                  <a:pt x="6901731" y="89476"/>
                </a:lnTo>
                <a:lnTo>
                  <a:pt x="6901731" y="103833"/>
                </a:lnTo>
                <a:lnTo>
                  <a:pt x="6900034" y="110092"/>
                </a:lnTo>
                <a:lnTo>
                  <a:pt x="6901731" y="113679"/>
                </a:lnTo>
                <a:lnTo>
                  <a:pt x="6901731" y="405560"/>
                </a:lnTo>
                <a:lnTo>
                  <a:pt x="6900456" y="429509"/>
                </a:lnTo>
                <a:cubicBezTo>
                  <a:pt x="6892773" y="535647"/>
                  <a:pt x="6878314" y="537918"/>
                  <a:pt x="6886342" y="636808"/>
                </a:cubicBezTo>
                <a:cubicBezTo>
                  <a:pt x="6892506" y="756883"/>
                  <a:pt x="6864504" y="771443"/>
                  <a:pt x="6851784" y="839073"/>
                </a:cubicBezTo>
                <a:cubicBezTo>
                  <a:pt x="6838675" y="892655"/>
                  <a:pt x="6864124" y="961738"/>
                  <a:pt x="6845760" y="994930"/>
                </a:cubicBezTo>
                <a:cubicBezTo>
                  <a:pt x="6833572" y="1024166"/>
                  <a:pt x="6859282" y="1058905"/>
                  <a:pt x="6845601" y="1112932"/>
                </a:cubicBezTo>
                <a:cubicBezTo>
                  <a:pt x="6838700" y="1149910"/>
                  <a:pt x="6829138" y="1151035"/>
                  <a:pt x="6820235" y="1187433"/>
                </a:cubicBezTo>
                <a:cubicBezTo>
                  <a:pt x="6815504" y="1196464"/>
                  <a:pt x="6777707" y="1338549"/>
                  <a:pt x="6759643" y="1337010"/>
                </a:cubicBezTo>
                <a:cubicBezTo>
                  <a:pt x="6737660" y="1337296"/>
                  <a:pt x="6760650" y="1396341"/>
                  <a:pt x="6736375" y="1382272"/>
                </a:cubicBezTo>
                <a:cubicBezTo>
                  <a:pt x="6755741" y="1415836"/>
                  <a:pt x="6714675" y="1414567"/>
                  <a:pt x="6701292" y="1432111"/>
                </a:cubicBezTo>
                <a:cubicBezTo>
                  <a:pt x="6721110" y="1460185"/>
                  <a:pt x="6692106" y="1490815"/>
                  <a:pt x="6686578" y="1518624"/>
                </a:cubicBezTo>
                <a:cubicBezTo>
                  <a:pt x="6682512" y="1567002"/>
                  <a:pt x="6679579" y="1571443"/>
                  <a:pt x="6670824" y="1607743"/>
                </a:cubicBezTo>
                <a:cubicBezTo>
                  <a:pt x="6671133" y="1629590"/>
                  <a:pt x="6663161" y="1656870"/>
                  <a:pt x="6664392" y="1696405"/>
                </a:cubicBezTo>
                <a:cubicBezTo>
                  <a:pt x="6655686" y="1770486"/>
                  <a:pt x="6641938" y="1757082"/>
                  <a:pt x="6642880" y="1812372"/>
                </a:cubicBezTo>
                <a:cubicBezTo>
                  <a:pt x="6638579" y="1872475"/>
                  <a:pt x="6619231" y="1825476"/>
                  <a:pt x="6612547" y="1876437"/>
                </a:cubicBezTo>
                <a:cubicBezTo>
                  <a:pt x="6600695" y="1913834"/>
                  <a:pt x="6591061" y="1923231"/>
                  <a:pt x="6571760" y="1953331"/>
                </a:cubicBezTo>
                <a:cubicBezTo>
                  <a:pt x="6561039" y="1989021"/>
                  <a:pt x="6544090" y="2087896"/>
                  <a:pt x="6520213" y="2096455"/>
                </a:cubicBezTo>
                <a:lnTo>
                  <a:pt x="6492461" y="2188148"/>
                </a:lnTo>
                <a:cubicBezTo>
                  <a:pt x="6504372" y="2211333"/>
                  <a:pt x="6489131" y="2253220"/>
                  <a:pt x="6471854" y="2259117"/>
                </a:cubicBezTo>
                <a:cubicBezTo>
                  <a:pt x="6466151" y="2287829"/>
                  <a:pt x="6440452" y="2301346"/>
                  <a:pt x="6439832" y="2328334"/>
                </a:cubicBezTo>
                <a:cubicBezTo>
                  <a:pt x="6431013" y="2351201"/>
                  <a:pt x="6444250" y="2396409"/>
                  <a:pt x="6425162" y="2408211"/>
                </a:cubicBezTo>
                <a:lnTo>
                  <a:pt x="6417221" y="2427382"/>
                </a:lnTo>
                <a:lnTo>
                  <a:pt x="6425030" y="2464387"/>
                </a:lnTo>
                <a:lnTo>
                  <a:pt x="6406293" y="2472223"/>
                </a:lnTo>
                <a:cubicBezTo>
                  <a:pt x="6406862" y="2477277"/>
                  <a:pt x="6406486" y="2491723"/>
                  <a:pt x="6405400" y="2493547"/>
                </a:cubicBezTo>
                <a:lnTo>
                  <a:pt x="6374829" y="2532070"/>
                </a:lnTo>
                <a:cubicBezTo>
                  <a:pt x="6374597" y="2545374"/>
                  <a:pt x="6360976" y="2563797"/>
                  <a:pt x="6350864" y="2577422"/>
                </a:cubicBezTo>
                <a:cubicBezTo>
                  <a:pt x="6327056" y="2632768"/>
                  <a:pt x="6341262" y="2616275"/>
                  <a:pt x="6329174" y="2663854"/>
                </a:cubicBezTo>
                <a:cubicBezTo>
                  <a:pt x="6326303" y="2703642"/>
                  <a:pt x="6332854" y="2709643"/>
                  <a:pt x="6315095" y="2741507"/>
                </a:cubicBezTo>
                <a:cubicBezTo>
                  <a:pt x="6319921" y="2740191"/>
                  <a:pt x="6321925" y="2742004"/>
                  <a:pt x="6322463" y="2745641"/>
                </a:cubicBezTo>
                <a:cubicBezTo>
                  <a:pt x="6322245" y="2747982"/>
                  <a:pt x="6322027" y="2750323"/>
                  <a:pt x="6321808" y="2752663"/>
                </a:cubicBezTo>
                <a:lnTo>
                  <a:pt x="6314569" y="2756718"/>
                </a:lnTo>
                <a:cubicBezTo>
                  <a:pt x="6289324" y="2773686"/>
                  <a:pt x="6317551" y="2780051"/>
                  <a:pt x="6315211" y="2811618"/>
                </a:cubicBezTo>
                <a:cubicBezTo>
                  <a:pt x="6315620" y="2826627"/>
                  <a:pt x="6296047" y="2885298"/>
                  <a:pt x="6302211" y="2882314"/>
                </a:cubicBezTo>
                <a:lnTo>
                  <a:pt x="6286167" y="2949597"/>
                </a:lnTo>
                <a:cubicBezTo>
                  <a:pt x="6286401" y="2994618"/>
                  <a:pt x="6286615" y="2971464"/>
                  <a:pt x="6287037" y="3008578"/>
                </a:cubicBezTo>
                <a:cubicBezTo>
                  <a:pt x="6293795" y="3029535"/>
                  <a:pt x="6274405" y="3114154"/>
                  <a:pt x="6259150" y="3123139"/>
                </a:cubicBezTo>
                <a:cubicBezTo>
                  <a:pt x="6250085" y="3189063"/>
                  <a:pt x="6269067" y="3151280"/>
                  <a:pt x="6272249" y="3227854"/>
                </a:cubicBezTo>
                <a:cubicBezTo>
                  <a:pt x="6278775" y="3295842"/>
                  <a:pt x="6289216" y="3303765"/>
                  <a:pt x="6292288" y="3378383"/>
                </a:cubicBezTo>
                <a:cubicBezTo>
                  <a:pt x="6303894" y="3395995"/>
                  <a:pt x="6287498" y="3432581"/>
                  <a:pt x="6288328" y="3459618"/>
                </a:cubicBezTo>
                <a:cubicBezTo>
                  <a:pt x="6289158" y="3486653"/>
                  <a:pt x="6299937" y="3538735"/>
                  <a:pt x="6297272" y="3540603"/>
                </a:cubicBezTo>
                <a:cubicBezTo>
                  <a:pt x="6296849" y="3577379"/>
                  <a:pt x="6294184" y="3587943"/>
                  <a:pt x="6291001" y="3638374"/>
                </a:cubicBezTo>
                <a:cubicBezTo>
                  <a:pt x="6283026" y="3666794"/>
                  <a:pt x="6265833" y="3731744"/>
                  <a:pt x="6283592" y="3763609"/>
                </a:cubicBezTo>
                <a:cubicBezTo>
                  <a:pt x="6264286" y="3758340"/>
                  <a:pt x="6290177" y="3803150"/>
                  <a:pt x="6274068" y="3814506"/>
                </a:cubicBezTo>
                <a:cubicBezTo>
                  <a:pt x="6260645" y="3821643"/>
                  <a:pt x="6265372" y="3836902"/>
                  <a:pt x="6262850" y="3850454"/>
                </a:cubicBezTo>
                <a:cubicBezTo>
                  <a:pt x="6250418" y="3863479"/>
                  <a:pt x="6250660" y="3955243"/>
                  <a:pt x="6257357" y="3975474"/>
                </a:cubicBezTo>
                <a:cubicBezTo>
                  <a:pt x="6245091" y="4036737"/>
                  <a:pt x="6237535" y="4029237"/>
                  <a:pt x="6257889" y="4073155"/>
                </a:cubicBezTo>
                <a:cubicBezTo>
                  <a:pt x="6259272" y="4085906"/>
                  <a:pt x="6239882" y="4116397"/>
                  <a:pt x="6237441" y="4126638"/>
                </a:cubicBezTo>
                <a:lnTo>
                  <a:pt x="6245587" y="4172738"/>
                </a:lnTo>
                <a:lnTo>
                  <a:pt x="6235772" y="4176721"/>
                </a:lnTo>
                <a:lnTo>
                  <a:pt x="6233287" y="4195136"/>
                </a:lnTo>
                <a:lnTo>
                  <a:pt x="6234619" y="4280850"/>
                </a:lnTo>
                <a:cubicBezTo>
                  <a:pt x="6239453" y="4320763"/>
                  <a:pt x="6223309" y="4337596"/>
                  <a:pt x="6219318" y="4402526"/>
                </a:cubicBezTo>
                <a:cubicBezTo>
                  <a:pt x="6205466" y="4516209"/>
                  <a:pt x="6216183" y="4588729"/>
                  <a:pt x="6216810" y="4651172"/>
                </a:cubicBezTo>
                <a:cubicBezTo>
                  <a:pt x="6217673" y="4756959"/>
                  <a:pt x="6228654" y="4824005"/>
                  <a:pt x="6225945" y="4916779"/>
                </a:cubicBezTo>
                <a:cubicBezTo>
                  <a:pt x="6217032" y="4993010"/>
                  <a:pt x="6264271" y="4984591"/>
                  <a:pt x="6230174" y="5051379"/>
                </a:cubicBezTo>
                <a:cubicBezTo>
                  <a:pt x="6235713" y="5056951"/>
                  <a:pt x="6239420" y="5163714"/>
                  <a:pt x="6242600" y="5170879"/>
                </a:cubicBezTo>
                <a:lnTo>
                  <a:pt x="6235996" y="5216428"/>
                </a:lnTo>
                <a:lnTo>
                  <a:pt x="6214638" y="5285298"/>
                </a:lnTo>
                <a:cubicBezTo>
                  <a:pt x="6211392" y="5297492"/>
                  <a:pt x="6225576" y="5312063"/>
                  <a:pt x="6228432" y="5317696"/>
                </a:cubicBezTo>
                <a:lnTo>
                  <a:pt x="6246496" y="5398787"/>
                </a:lnTo>
                <a:lnTo>
                  <a:pt x="6244793" y="5399530"/>
                </a:lnTo>
                <a:lnTo>
                  <a:pt x="6241695" y="5406948"/>
                </a:lnTo>
                <a:lnTo>
                  <a:pt x="6267461" y="5499413"/>
                </a:lnTo>
                <a:cubicBezTo>
                  <a:pt x="6285387" y="5533848"/>
                  <a:pt x="6284888" y="5550029"/>
                  <a:pt x="6295987" y="5582659"/>
                </a:cubicBezTo>
                <a:cubicBezTo>
                  <a:pt x="6311253" y="5681724"/>
                  <a:pt x="6295439" y="5695558"/>
                  <a:pt x="6364803" y="5784263"/>
                </a:cubicBezTo>
                <a:cubicBezTo>
                  <a:pt x="6379348" y="5818651"/>
                  <a:pt x="6412475" y="5906802"/>
                  <a:pt x="6423050" y="5922637"/>
                </a:cubicBezTo>
                <a:cubicBezTo>
                  <a:pt x="6445210" y="5973612"/>
                  <a:pt x="6468179" y="6023873"/>
                  <a:pt x="6497767" y="6090108"/>
                </a:cubicBezTo>
                <a:cubicBezTo>
                  <a:pt x="6571895" y="6150548"/>
                  <a:pt x="6572491" y="6236583"/>
                  <a:pt x="6606710" y="6281543"/>
                </a:cubicBezTo>
                <a:cubicBezTo>
                  <a:pt x="6633675" y="6335892"/>
                  <a:pt x="6654357" y="6388782"/>
                  <a:pt x="6667540" y="6443715"/>
                </a:cubicBezTo>
                <a:cubicBezTo>
                  <a:pt x="6685192" y="6466826"/>
                  <a:pt x="6650500" y="6508701"/>
                  <a:pt x="6659722" y="6550105"/>
                </a:cubicBezTo>
                <a:cubicBezTo>
                  <a:pt x="6665926" y="6645044"/>
                  <a:pt x="6669126" y="6627536"/>
                  <a:pt x="6671805" y="6687397"/>
                </a:cubicBezTo>
                <a:cubicBezTo>
                  <a:pt x="6682671" y="6733683"/>
                  <a:pt x="6665210" y="6772117"/>
                  <a:pt x="6669658" y="6806602"/>
                </a:cubicBezTo>
                <a:cubicBezTo>
                  <a:pt x="6661174" y="6812658"/>
                  <a:pt x="6667097" y="6831470"/>
                  <a:pt x="6675783" y="6850325"/>
                </a:cubicBezTo>
                <a:lnTo>
                  <a:pt x="6679704" y="6858000"/>
                </a:lnTo>
                <a:lnTo>
                  <a:pt x="4532241" y="6858000"/>
                </a:lnTo>
                <a:lnTo>
                  <a:pt x="1208596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4" name="Google Shape;1035;p40">
            <a:extLst>
              <a:ext uri="{FF2B5EF4-FFF2-40B4-BE49-F238E27FC236}">
                <a16:creationId xmlns:a16="http://schemas.microsoft.com/office/drawing/2014/main" id="{7C614D9A-8529-AA45-0C1E-9AEB4718CDCB}"/>
              </a:ext>
            </a:extLst>
          </p:cNvPr>
          <p:cNvSpPr txBox="1">
            <a:spLocks/>
          </p:cNvSpPr>
          <p:nvPr/>
        </p:nvSpPr>
        <p:spPr>
          <a:xfrm>
            <a:off x="6692590" y="2023505"/>
            <a:ext cx="5384042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Associate Professor at University Gustave Eiffel (Paris)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forax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specs for </a:t>
            </a:r>
            <a:r>
              <a:rPr lang="en-US" sz="2400" dirty="0" err="1">
                <a:latin typeface="Fira Sans Condensed SemiBold" panose="020B0603050000020004" pitchFamily="34" charset="0"/>
              </a:rPr>
              <a:t>invokedynamic</a:t>
            </a:r>
            <a:r>
              <a:rPr lang="en-US" sz="2400" dirty="0">
                <a:latin typeface="Fira Sans Condensed SemiBold" panose="020B0603050000020004" pitchFamily="34" charset="0"/>
              </a:rPr>
              <a:t>, lambda, module, record, pattern-matching</a:t>
            </a:r>
            <a:r>
              <a:rPr lang="en-US" sz="2400">
                <a:latin typeface="Fira Sans Condensed SemiBold" panose="020B0603050000020004" pitchFamily="34" charset="0"/>
              </a:rPr>
              <a:t>, value-class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maintain several open-source projects nobody use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D0DF8-3C59-4ED5-E268-98A12868ADEA}"/>
              </a:ext>
            </a:extLst>
          </p:cNvPr>
          <p:cNvSpPr txBox="1"/>
          <p:nvPr/>
        </p:nvSpPr>
        <p:spPr>
          <a:xfrm>
            <a:off x="7219559" y="431632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Rémi Forax</a:t>
            </a:r>
          </a:p>
        </p:txBody>
      </p:sp>
    </p:spTree>
    <p:extLst>
      <p:ext uri="{BB962C8B-B14F-4D97-AF65-F5344CB8AC3E}">
        <p14:creationId xmlns:p14="http://schemas.microsoft.com/office/powerpoint/2010/main" val="3467707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A3B17-267A-FAD7-72F3-A4512D0E3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AC7E62C-3FFC-E229-3320-764578DBCBAA}"/>
              </a:ext>
            </a:extLst>
          </p:cNvPr>
          <p:cNvSpPr txBox="1"/>
          <p:nvPr/>
        </p:nvSpPr>
        <p:spPr>
          <a:xfrm>
            <a:off x="4995379" y="490008"/>
            <a:ext cx="2201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Disclaimer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71ADED-9E38-8974-F7BE-D6B74297ECF0}"/>
              </a:ext>
            </a:extLst>
          </p:cNvPr>
          <p:cNvSpPr txBox="1"/>
          <p:nvPr/>
        </p:nvSpPr>
        <p:spPr>
          <a:xfrm>
            <a:off x="2751174" y="3167390"/>
            <a:ext cx="66896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latin typeface="Fira Sans Condensed SemiBold" panose="020B0603050000020004" pitchFamily="34" charset="0"/>
              </a:rPr>
              <a:t>These are </a:t>
            </a:r>
            <a:r>
              <a:rPr lang="en-US" sz="28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800">
                <a:latin typeface="Fira Sans Condensed SemiBold" panose="020B0603050000020004" pitchFamily="34" charset="0"/>
              </a:rPr>
              <a:t> or experimental features</a:t>
            </a:r>
            <a:endParaRPr lang="fr-FR" sz="28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DE535F-78F2-59DE-96E8-D62481E3E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12</a:t>
            </a:fld>
            <a:endParaRPr lang="fr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E61677-B91B-280C-8D4A-65FB599F5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9844" y="2471495"/>
            <a:ext cx="2554967" cy="420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870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758331" y="490008"/>
            <a:ext cx="44807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What is a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</a:t>
            </a:r>
            <a:r>
              <a:rPr lang="en-US" sz="3600">
                <a:latin typeface="Fira Sans Condensed SemiBold" panose="020B0603050000020004" pitchFamily="34" charset="0"/>
              </a:rPr>
              <a:t> </a:t>
            </a:r>
            <a:r>
              <a:rPr lang="en-US" sz="3600" dirty="0">
                <a:latin typeface="Fira Sans Condensed SemiBold" panose="020B0603050000020004" pitchFamily="34" charset="0"/>
              </a:rPr>
              <a:t>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BE1EB4B-4E15-B83A-C55F-424CC4899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5228" y="3898909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value 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E59D21A7-E586-E5CB-8DB4-2157497BDD20}"/>
              </a:ext>
            </a:extLst>
          </p:cNvPr>
          <p:cNvSpPr txBox="1"/>
          <p:nvPr/>
        </p:nvSpPr>
        <p:spPr>
          <a:xfrm>
            <a:off x="1965980" y="1980996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I</a:t>
            </a:r>
            <a:r>
              <a:rPr lang="en-US" sz="2400">
                <a:latin typeface="Fira Sans Condensed SemiBold" panose="020B0603050000020004" pitchFamily="34" charset="0"/>
              </a:rPr>
              <a:t>nstances </a:t>
            </a:r>
            <a:r>
              <a:rPr lang="en-US" sz="2400" dirty="0">
                <a:latin typeface="Fira Sans Condensed SemiBold" panose="020B0603050000020004" pitchFamily="34" charset="0"/>
              </a:rPr>
              <a:t>/ references / objects are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values</a:t>
            </a:r>
            <a:r>
              <a:rPr lang="en-US" sz="2400" dirty="0">
                <a:latin typeface="Fira Sans Condensed SemiBold" panose="020B0603050000020004" pitchFamily="34" charset="0"/>
              </a:rPr>
              <a:t>, not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pointers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7BAE77C4-60D8-1E86-FA86-9C0CA19B9FEA}"/>
              </a:ext>
            </a:extLst>
          </p:cNvPr>
          <p:cNvSpPr txBox="1"/>
          <p:nvPr/>
        </p:nvSpPr>
        <p:spPr>
          <a:xfrm>
            <a:off x="1965980" y="306144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New keyword :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7512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F521E-D226-599D-0321-A5277AA48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3E0E9D-3E94-2985-BE42-562122D63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14</a:t>
            </a:fld>
            <a:endParaRPr lang="fr-FR"/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1B633D86-26D3-FEB8-1ECF-106E4A9DB5DA}"/>
              </a:ext>
            </a:extLst>
          </p:cNvPr>
          <p:cNvSpPr txBox="1"/>
          <p:nvPr/>
        </p:nvSpPr>
        <p:spPr>
          <a:xfrm>
            <a:off x="1779355" y="33782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A value class instance is passed “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>
                <a:latin typeface="Fira Sans Condensed SemiBold" panose="020B0603050000020004" pitchFamily="34" charset="0"/>
              </a:rPr>
              <a:t>”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F1DCD4FB-30F5-955A-C171-089AEAE22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8343" y="1306738"/>
            <a:ext cx="9355315" cy="1015663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 sz="2000" err="1">
                <a:solidFill>
                  <a:srgbClr val="0033B3"/>
                </a:solidFill>
                <a:latin typeface="Consolas" panose="020B0609020204030204" pitchFamily="49" charset="0"/>
              </a:rPr>
              <a:t>static</a:t>
            </a: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 </a:t>
            </a:r>
            <a:r>
              <a:rPr lang="fr-FR" sz="2000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 p,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{</a:t>
            </a:r>
            <a:b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new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p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.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p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.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);</a:t>
            </a:r>
            <a:b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05EC6A63-888D-9DE2-C0C2-1F0E0EB75269}"/>
              </a:ext>
            </a:extLst>
          </p:cNvPr>
          <p:cNvSpPr txBox="1"/>
          <p:nvPr/>
        </p:nvSpPr>
        <p:spPr>
          <a:xfrm>
            <a:off x="2063292" y="349005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At runtime, </a:t>
            </a:r>
            <a:r>
              <a:rPr lang="en-US" sz="2400">
                <a:latin typeface="Fira Sans Condensed SemiBold" panose="020B0603050000020004" pitchFamily="34" charset="0"/>
              </a:rPr>
              <a:t>in “pseudo Java”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DC2F91FB-60D9-CD97-A419-5A68ED376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8343" y="4432060"/>
            <a:ext cx="9355315" cy="92333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static 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) {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;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2" name="TextBox 9">
            <a:extLst>
              <a:ext uri="{FF2B5EF4-FFF2-40B4-BE49-F238E27FC236}">
                <a16:creationId xmlns:a16="http://schemas.microsoft.com/office/drawing/2014/main" id="{E0C08F18-1A06-F293-A7C8-CF8D28362611}"/>
              </a:ext>
            </a:extLst>
          </p:cNvPr>
          <p:cNvSpPr txBox="1"/>
          <p:nvPr/>
        </p:nvSpPr>
        <p:spPr>
          <a:xfrm>
            <a:off x="2063292" y="5831495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The VM can eliminate allocation (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scalarization</a:t>
            </a:r>
            <a:r>
              <a:rPr lang="en-US" sz="2400">
                <a:latin typeface="Fira Sans Condensed SemiBold" panose="020B0603050000020004" pitchFamily="34" charset="0"/>
              </a:rPr>
              <a:t>)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9333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C56C0-A7D0-8DE3-EB28-B7A9D61BA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4F2FDB-C6A2-243D-6DD7-21C1FBA8E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B56E31CD-D051-83AB-F76F-7EB00CD0ADD6}"/>
              </a:ext>
            </a:extLst>
          </p:cNvPr>
          <p:cNvSpPr txBox="1"/>
          <p:nvPr/>
        </p:nvSpPr>
        <p:spPr>
          <a:xfrm>
            <a:off x="4131032" y="490008"/>
            <a:ext cx="37353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are :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FAB838EE-C6CF-D265-E24D-F5E5780FBE00}"/>
              </a:ext>
            </a:extLst>
          </p:cNvPr>
          <p:cNvSpPr txBox="1"/>
          <p:nvPr/>
        </p:nvSpPr>
        <p:spPr>
          <a:xfrm>
            <a:off x="1965980" y="1980996"/>
            <a:ext cx="80654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Identity-free</a:t>
            </a:r>
            <a:r>
              <a:rPr lang="en-US" sz="2400" dirty="0">
                <a:latin typeface="Fira Sans Condensed SemiBold" panose="020B0603050000020004" pitchFamily="34" charset="0"/>
              </a:rPr>
              <a:t> (no address in memory, no </a:t>
            </a:r>
            <a:r>
              <a:rPr lang="en-US" sz="2400">
                <a:latin typeface="Fira Sans Condensed SemiBold" panose="020B0603050000020004" pitchFamily="34" charset="0"/>
              </a:rPr>
              <a:t>header)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Unmodifiable</a:t>
            </a:r>
            <a:r>
              <a:rPr lang="en-US" sz="2400">
                <a:latin typeface="Fira Sans Condensed SemiBold" panose="020B0603050000020004" pitchFamily="34" charset="0"/>
              </a:rPr>
              <a:t> </a:t>
            </a:r>
            <a:r>
              <a:rPr lang="en-US" sz="2400" dirty="0">
                <a:latin typeface="Fira Sans Condensed SemiBold" panose="020B0603050000020004" pitchFamily="34" charset="0"/>
              </a:rPr>
              <a:t>(fields are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 dirty="0">
                <a:latin typeface="Fira Sans Condensed SemiBold" panose="020B0603050000020004" pitchFamily="34" charset="0"/>
              </a:rPr>
              <a:t>, class is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>
                <a:latin typeface="Fira Sans Condensed SemiBold" panose="020B0603050000020004" pitchFamily="34" charset="0"/>
              </a:rPr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Stored </a:t>
            </a:r>
            <a:r>
              <a:rPr lang="en-US" sz="2400" dirty="0">
                <a:latin typeface="Fira Sans Condensed SemiBold" panose="020B0603050000020004" pitchFamily="34" charset="0"/>
              </a:rPr>
              <a:t>and passed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 dirty="0">
                <a:latin typeface="Fira Sans Condensed SemiBold" panose="020B0603050000020004" pitchFamily="34" charset="0"/>
              </a:rPr>
              <a:t> rather than by pointer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FEB393-9B8C-CABF-79B8-501F733ACAD3}"/>
              </a:ext>
            </a:extLst>
          </p:cNvPr>
          <p:cNvSpPr txBox="1"/>
          <p:nvPr/>
        </p:nvSpPr>
        <p:spPr>
          <a:xfrm>
            <a:off x="1965980" y="4025982"/>
            <a:ext cx="69817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Goals 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pointer indirection</a:t>
            </a:r>
            <a:r>
              <a:rPr lang="en-US" sz="2400">
                <a:latin typeface="Fira Sans Condensed SemiBold" panose="020B0603050000020004" pitchFamily="34" charset="0"/>
              </a:rPr>
              <a:t> for small data structures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overhead</a:t>
            </a:r>
            <a:r>
              <a:rPr lang="en-US" sz="2400">
                <a:latin typeface="Fira Sans Condensed SemiBold" panose="020B0603050000020004" pitchFamily="34" charset="0"/>
              </a:rPr>
              <a:t> for heap allocation</a:t>
            </a:r>
          </a:p>
        </p:txBody>
      </p:sp>
    </p:spTree>
    <p:extLst>
      <p:ext uri="{BB962C8B-B14F-4D97-AF65-F5344CB8AC3E}">
        <p14:creationId xmlns:p14="http://schemas.microsoft.com/office/powerpoint/2010/main" val="1607546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D70EA-5D1D-FBA5-8385-C7F083A80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ADCA92-F775-E0D1-38C1-E210BE0A2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16</a:t>
            </a:fld>
            <a:endParaRPr lang="fr-FR"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4A713E5-5FC5-158E-4A77-0C7C0EE9A167}"/>
              </a:ext>
            </a:extLst>
          </p:cNvPr>
          <p:cNvSpPr txBox="1"/>
          <p:nvPr/>
        </p:nvSpPr>
        <p:spPr>
          <a:xfrm>
            <a:off x="3804832" y="3198167"/>
            <a:ext cx="458233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800"/>
              <a:t>🎬</a:t>
            </a:r>
            <a:r>
              <a:rPr lang="en-US" sz="4800">
                <a:latin typeface="Fira Sans Condensed SemiBold" panose="020B0603050000020004" pitchFamily="34" charset="0"/>
              </a:rPr>
              <a:t>Demo 01 &amp; 02</a:t>
            </a:r>
            <a:endParaRPr lang="en-US" sz="48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763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C927B-A443-D269-A102-1CBFFF46D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2368F2-7903-DF12-5AE9-95D7135CF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76EB2B6B-D73A-2E94-EDA6-54D023F4D0FA}"/>
              </a:ext>
            </a:extLst>
          </p:cNvPr>
          <p:cNvSpPr txBox="1"/>
          <p:nvPr/>
        </p:nvSpPr>
        <p:spPr>
          <a:xfrm>
            <a:off x="2038639" y="490008"/>
            <a:ext cx="81147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Classes</a:t>
            </a:r>
            <a:r>
              <a:rPr lang="en-US" sz="3600">
                <a:latin typeface="Fira Sans Condensed SemiBold" panose="020B0603050000020004" pitchFamily="34" charset="0"/>
              </a:rPr>
              <a:t> require strict initialization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312EA3B-DD98-8346-5715-9BB1B8BF43CF}"/>
              </a:ext>
            </a:extLst>
          </p:cNvPr>
          <p:cNvSpPr txBox="1"/>
          <p:nvPr/>
        </p:nvSpPr>
        <p:spPr>
          <a:xfrm>
            <a:off x="1626880" y="1980996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</a:t>
            </a:r>
            <a:r>
              <a:rPr lang="en-US" sz="2400">
                <a:latin typeface="Fira Sans Condensed SemiBold" panose="020B0603050000020004" pitchFamily="34" charset="0"/>
              </a:rPr>
              <a:t> must never have an observable state that changes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there’s a place we can mutate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>
                <a:latin typeface="Fira Sans Condensed SemiBold" panose="020B0603050000020004" pitchFamily="34" charset="0"/>
              </a:rPr>
              <a:t> fields : constructors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19108516-9423-A3FC-BEF2-A332A7E1C488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 03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231C7C-94E3-1C3B-7515-71556E9C59E9}"/>
              </a:ext>
            </a:extLst>
          </p:cNvPr>
          <p:cNvSpPr txBox="1"/>
          <p:nvPr/>
        </p:nvSpPr>
        <p:spPr>
          <a:xfrm>
            <a:off x="1626880" y="3137464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513 : Flexible Constructor Bodies </a:t>
            </a:r>
            <a:r>
              <a:rPr lang="en-US" sz="2400" i="1">
                <a:latin typeface="Fira Sans Condensed SemiBold" panose="020B0603050000020004" pitchFamily="34" charset="0"/>
              </a:rPr>
              <a:t>(Java 25)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all fields can - </a:t>
            </a:r>
            <a:r>
              <a:rPr lang="en-US" sz="2400" i="1">
                <a:latin typeface="Fira Sans Condensed SemiBold" panose="020B0603050000020004" pitchFamily="34" charset="0"/>
              </a:rPr>
              <a:t>and must</a:t>
            </a:r>
            <a:r>
              <a:rPr lang="en-US" sz="2400">
                <a:latin typeface="Fira Sans Condensed SemiBold" panose="020B0603050000020004" pitchFamily="34" charset="0"/>
              </a:rPr>
              <a:t> - be initialized before the call to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super()</a:t>
            </a:r>
          </a:p>
        </p:txBody>
      </p:sp>
    </p:spTree>
    <p:extLst>
      <p:ext uri="{BB962C8B-B14F-4D97-AF65-F5344CB8AC3E}">
        <p14:creationId xmlns:p14="http://schemas.microsoft.com/office/powerpoint/2010/main" val="98563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A7F15-9044-26C9-F637-4041CA12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5F5041-518B-9DDA-542A-34F347FB7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18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19803458-973C-4EF8-3B93-2BA2BD7BAED5}"/>
              </a:ext>
            </a:extLst>
          </p:cNvPr>
          <p:cNvSpPr txBox="1"/>
          <p:nvPr/>
        </p:nvSpPr>
        <p:spPr>
          <a:xfrm>
            <a:off x="2681444" y="490008"/>
            <a:ext cx="6829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Are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objects 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2E063BD-09FE-07F6-F3AA-8D4903C83DF9}"/>
              </a:ext>
            </a:extLst>
          </p:cNvPr>
          <p:cNvSpPr txBox="1"/>
          <p:nvPr/>
        </p:nvSpPr>
        <p:spPr>
          <a:xfrm>
            <a:off x="2681443" y="2429337"/>
            <a:ext cx="682911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Yes !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They can even implement interfaces…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… or extend an abstract class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93E47F34-ECFF-0020-9ED4-16B24B2631E3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 04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887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19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2414543" y="490008"/>
            <a:ext cx="7362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FBCB8AD-FD33-1FFF-1A95-A35F28DC0CB2}"/>
              </a:ext>
            </a:extLst>
          </p:cNvPr>
          <p:cNvSpPr txBox="1"/>
          <p:nvPr/>
        </p:nvSpPr>
        <p:spPr>
          <a:xfrm>
            <a:off x="2753543" y="1624940"/>
            <a:ext cx="66849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It works, but the VM might not be able to optimize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61F403E-CE2C-11A1-EEDF-6BBEB33DE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1870" y="2853046"/>
            <a:ext cx="4221170" cy="132343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Vec3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133BBD7D-A1C2-CE9B-3151-A2EA44912A15}"/>
              </a:ext>
            </a:extLst>
          </p:cNvPr>
          <p:cNvSpPr txBox="1"/>
          <p:nvPr/>
        </p:nvSpPr>
        <p:spPr>
          <a:xfrm>
            <a:off x="1126222" y="4942927"/>
            <a:ext cx="99395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Reading/storing the value instance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origin</a:t>
            </a:r>
            <a:r>
              <a:rPr lang="en-US" sz="2400" dirty="0">
                <a:latin typeface="Fira Sans Condensed SemiBold" panose="020B0603050000020004" pitchFamily="34" charset="0"/>
              </a:rPr>
              <a:t> requires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several reads/writes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The VM spec mandates reference reads/writes to be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atomic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64</a:t>
            </a:r>
            <a:r>
              <a:rPr lang="en-US" sz="2400" dirty="0">
                <a:latin typeface="Fira Sans Condensed SemiBold" panose="020B0603050000020004" pitchFamily="34" charset="0"/>
              </a:rPr>
              <a:t> bit CPU vs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192</a:t>
            </a:r>
            <a:r>
              <a:rPr lang="en-US" sz="2400" dirty="0">
                <a:latin typeface="Fira Sans Condensed SemiBold" panose="020B0603050000020004" pitchFamily="34" charset="0"/>
              </a:rPr>
              <a:t> bits here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82EA566-F41D-5AF0-41B8-243FCA443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6605" y="2545270"/>
            <a:ext cx="4221170" cy="193899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origin_x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origin_y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origin_z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85174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20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2414543" y="490008"/>
            <a:ext cx="7362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82EA566-F41D-5AF0-41B8-243FCA443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5415" y="2774325"/>
            <a:ext cx="4221170" cy="224676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boolean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origin_null</a:t>
            </a:r>
            <a:r>
              <a:rPr lang="fr-FR" alt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;</a:t>
            </a:r>
            <a:endParaRPr lang="fr-FR" altLang="fr-FR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origin_x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origin_y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origin_z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3EB0CBE-9B9A-ED1A-B2C3-9358716562EB}"/>
              </a:ext>
            </a:extLst>
          </p:cNvPr>
          <p:cNvSpPr txBox="1"/>
          <p:nvPr/>
        </p:nvSpPr>
        <p:spPr>
          <a:xfrm>
            <a:off x="2267761" y="2001738"/>
            <a:ext cx="7656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null</a:t>
            </a:r>
            <a:r>
              <a:rPr lang="en-US" sz="2400" dirty="0">
                <a:latin typeface="Fira Sans Condensed SemiBold" panose="020B0603050000020004" pitchFamily="34" charset="0"/>
              </a:rPr>
              <a:t>  marker required :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7</a:t>
            </a:r>
            <a:r>
              <a:rPr lang="en-US" sz="2400" dirty="0">
                <a:latin typeface="Fira Sans Condensed SemiBold" panose="020B0603050000020004" pitchFamily="34" charset="0"/>
              </a:rPr>
              <a:t> bytes of useful payload (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56</a:t>
            </a:r>
            <a:r>
              <a:rPr lang="en-US" sz="2400" dirty="0">
                <a:latin typeface="Fira Sans Condensed SemiBold" panose="020B0603050000020004" pitchFamily="34" charset="0"/>
              </a:rPr>
              <a:t> bits)</a:t>
            </a:r>
          </a:p>
        </p:txBody>
      </p:sp>
    </p:spTree>
    <p:extLst>
      <p:ext uri="{BB962C8B-B14F-4D97-AF65-F5344CB8AC3E}">
        <p14:creationId xmlns:p14="http://schemas.microsoft.com/office/powerpoint/2010/main" val="26732397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21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2520342" y="490008"/>
            <a:ext cx="7151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Flattening on heap : storing </a:t>
            </a:r>
            <a:r>
              <a:rPr lang="en-US" sz="3600" dirty="0">
                <a:solidFill>
                  <a:srgbClr val="0033B3"/>
                </a:solidFill>
                <a:latin typeface="Consolas" panose="020B0609020204030204" pitchFamily="49" charset="0"/>
              </a:rPr>
              <a:t>Vec3[]</a:t>
            </a:r>
            <a:r>
              <a:rPr lang="en-US" sz="3600" dirty="0">
                <a:latin typeface="Fira Sans Condensed SemiBold" panose="020B0603050000020004" pitchFamily="34" charset="0"/>
              </a:rPr>
              <a:t> 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D15C2D2A-278C-3769-3406-C9383C4B605B}"/>
              </a:ext>
            </a:extLst>
          </p:cNvPr>
          <p:cNvSpPr txBox="1"/>
          <p:nvPr/>
        </p:nvSpPr>
        <p:spPr>
          <a:xfrm>
            <a:off x="2753543" y="1425850"/>
            <a:ext cx="66849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Vec3</a:t>
            </a:r>
            <a:r>
              <a:rPr lang="en-US" sz="2400" dirty="0">
                <a:latin typeface="Fira Sans Condensed SemiBold" panose="020B0603050000020004" pitchFamily="34" charset="0"/>
              </a:rPr>
              <a:t> is too “large” to be flattened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874C75F7-CE93-85B8-65D6-30D9A636572A}"/>
              </a:ext>
            </a:extLst>
          </p:cNvPr>
          <p:cNvGrpSpPr/>
          <p:nvPr/>
        </p:nvGrpSpPr>
        <p:grpSpPr>
          <a:xfrm>
            <a:off x="958332" y="3478862"/>
            <a:ext cx="5536429" cy="861775"/>
            <a:chOff x="2452539" y="3511139"/>
            <a:chExt cx="5536429" cy="861775"/>
          </a:xfrm>
        </p:grpSpPr>
        <p:sp>
          <p:nvSpPr>
            <p:cNvPr id="6" name="Rectangle 1">
              <a:extLst>
                <a:ext uri="{FF2B5EF4-FFF2-40B4-BE49-F238E27FC236}">
                  <a16:creationId xmlns:a16="http://schemas.microsoft.com/office/drawing/2014/main" id="{070AD4D8-8E1B-D8D7-2BD4-1FE3F899E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3972804"/>
              <a:ext cx="5536428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y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z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7" name="TextBox 9">
              <a:extLst>
                <a:ext uri="{FF2B5EF4-FFF2-40B4-BE49-F238E27FC236}">
                  <a16:creationId xmlns:a16="http://schemas.microsoft.com/office/drawing/2014/main" id="{F924E763-506C-1E29-EFBC-5CDF97E74A5A}"/>
                </a:ext>
              </a:extLst>
            </p:cNvPr>
            <p:cNvSpPr txBox="1"/>
            <p:nvPr/>
          </p:nvSpPr>
          <p:spPr>
            <a:xfrm>
              <a:off x="2753542" y="3511139"/>
              <a:ext cx="523542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400" dirty="0">
                  <a:latin typeface="Fira Sans Condensed SemiBold" panose="020B0603050000020004" pitchFamily="34" charset="0"/>
                </a:rPr>
                <a:t>A cheap version can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B03A529-8E05-2E17-D67B-FEC07812CD6A}"/>
              </a:ext>
            </a:extLst>
          </p:cNvPr>
          <p:cNvGrpSpPr/>
          <p:nvPr/>
        </p:nvGrpSpPr>
        <p:grpSpPr>
          <a:xfrm>
            <a:off x="8533276" y="2207290"/>
            <a:ext cx="1502768" cy="4266694"/>
            <a:chOff x="710739" y="2694253"/>
            <a:chExt cx="1502768" cy="4266694"/>
          </a:xfrm>
        </p:grpSpPr>
        <p:sp>
          <p:nvSpPr>
            <p:cNvPr id="9" name="TextBox 5">
              <a:extLst>
                <a:ext uri="{FF2B5EF4-FFF2-40B4-BE49-F238E27FC236}">
                  <a16:creationId xmlns:a16="http://schemas.microsoft.com/office/drawing/2014/main" id="{9688BB31-798B-2949-7407-6DBF3A35F69E}"/>
                </a:ext>
              </a:extLst>
            </p:cNvPr>
            <p:cNvSpPr txBox="1"/>
            <p:nvPr/>
          </p:nvSpPr>
          <p:spPr>
            <a:xfrm>
              <a:off x="860035" y="2694253"/>
              <a:ext cx="12041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</a:rPr>
                <a:t>Vec3[]</a:t>
              </a:r>
              <a:endParaRPr lang="fr-FR" sz="2400" dirty="0">
                <a:latin typeface="Consolas" panose="020B0609020204030204" pitchFamily="49" charset="0"/>
              </a:endParaRPr>
            </a:p>
          </p:txBody>
        </p: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CEB5CBB7-0271-E443-10CE-30B526F1CFB5}"/>
                </a:ext>
              </a:extLst>
            </p:cNvPr>
            <p:cNvGrpSpPr/>
            <p:nvPr/>
          </p:nvGrpSpPr>
          <p:grpSpPr>
            <a:xfrm>
              <a:off x="710739" y="3155918"/>
              <a:ext cx="1502768" cy="3805029"/>
              <a:chOff x="5344616" y="2160015"/>
              <a:chExt cx="1502768" cy="3805029"/>
            </a:xfrm>
          </p:grpSpPr>
          <p:grpSp>
            <p:nvGrpSpPr>
              <p:cNvPr id="11" name="Groupe 10">
                <a:extLst>
                  <a:ext uri="{FF2B5EF4-FFF2-40B4-BE49-F238E27FC236}">
                    <a16:creationId xmlns:a16="http://schemas.microsoft.com/office/drawing/2014/main" id="{DC737E34-2B07-815C-545B-19F50F406012}"/>
                  </a:ext>
                </a:extLst>
              </p:cNvPr>
              <p:cNvGrpSpPr/>
              <p:nvPr/>
            </p:nvGrpSpPr>
            <p:grpSpPr>
              <a:xfrm>
                <a:off x="5344616" y="2160015"/>
                <a:ext cx="1502768" cy="3805029"/>
                <a:chOff x="1331843" y="1855304"/>
                <a:chExt cx="1345096" cy="3805029"/>
              </a:xfrm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8A4A4E52-3CEB-C44B-7DEE-43C71689AFB0}"/>
                    </a:ext>
                  </a:extLst>
                </p:cNvPr>
                <p:cNvSpPr/>
                <p:nvPr/>
              </p:nvSpPr>
              <p:spPr>
                <a:xfrm>
                  <a:off x="1331843" y="1855304"/>
                  <a:ext cx="1345096" cy="523461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Header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C82633F9-877F-EA0B-367D-4853D61A0282}"/>
                    </a:ext>
                  </a:extLst>
                </p:cNvPr>
                <p:cNvSpPr/>
                <p:nvPr/>
              </p:nvSpPr>
              <p:spPr>
                <a:xfrm>
                  <a:off x="1331843" y="2378765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x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12B035FF-2607-E4F5-2752-5EB14A38712D}"/>
                    </a:ext>
                  </a:extLst>
                </p:cNvPr>
                <p:cNvSpPr/>
                <p:nvPr/>
              </p:nvSpPr>
              <p:spPr>
                <a:xfrm>
                  <a:off x="1331843" y="2729948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y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A4E60E47-3AB5-D9E8-B520-0073D859B515}"/>
                    </a:ext>
                  </a:extLst>
                </p:cNvPr>
                <p:cNvSpPr/>
                <p:nvPr/>
              </p:nvSpPr>
              <p:spPr>
                <a:xfrm>
                  <a:off x="1331843" y="3077817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z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D722396-DF5E-1A71-7121-8756E7E79EA1}"/>
                    </a:ext>
                  </a:extLst>
                </p:cNvPr>
                <p:cNvSpPr/>
                <p:nvPr/>
              </p:nvSpPr>
              <p:spPr>
                <a:xfrm>
                  <a:off x="1331843" y="5521185"/>
                  <a:ext cx="1345096" cy="13914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>
                    <a:latin typeface="Consolas" panose="020B0609020204030204" pitchFamily="49" charset="0"/>
                  </a:endParaRPr>
                </a:p>
              </p:txBody>
            </p:sp>
          </p:grp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4077CD-57BC-FFC6-4A85-322701B81360}"/>
                  </a:ext>
                </a:extLst>
              </p:cNvPr>
              <p:cNvSpPr/>
              <p:nvPr/>
            </p:nvSpPr>
            <p:spPr>
              <a:xfrm>
                <a:off x="5344616" y="4079923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9305327-AC04-6E05-7491-627A805B1418}"/>
                  </a:ext>
                </a:extLst>
              </p:cNvPr>
              <p:cNvSpPr/>
              <p:nvPr/>
            </p:nvSpPr>
            <p:spPr>
              <a:xfrm>
                <a:off x="5344616" y="4431106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C3EF0DD-F5AF-9D89-55F6-322B576A045B}"/>
                  </a:ext>
                </a:extLst>
              </p:cNvPr>
              <p:cNvSpPr/>
              <p:nvPr/>
            </p:nvSpPr>
            <p:spPr>
              <a:xfrm>
                <a:off x="5344616" y="4778975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C121AF1-75F7-0650-C361-A0601375ABED}"/>
                  </a:ext>
                </a:extLst>
              </p:cNvPr>
              <p:cNvSpPr/>
              <p:nvPr/>
            </p:nvSpPr>
            <p:spPr>
              <a:xfrm>
                <a:off x="5344616" y="5478027"/>
                <a:ext cx="1502768" cy="351183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latin typeface="Consolas" panose="020B0609020204030204" pitchFamily="49" charset="0"/>
                  </a:rPr>
                  <a:t>…</a:t>
                </a:r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BB65101-BA0E-2AEC-AC56-3FA79363B269}"/>
                </a:ext>
              </a:extLst>
            </p:cNvPr>
            <p:cNvSpPr/>
            <p:nvPr/>
          </p:nvSpPr>
          <p:spPr>
            <a:xfrm>
              <a:off x="710739" y="4727957"/>
              <a:ext cx="1502768" cy="35118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latin typeface="Consolas" panose="020B0609020204030204" pitchFamily="49" charset="0"/>
                </a:rPr>
                <a:t>null_marker</a:t>
              </a:r>
              <a:endParaRPr lang="fr-FR" sz="1600" dirty="0">
                <a:latin typeface="Consolas" panose="020B0609020204030204" pitchFamily="49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1C69D66-70F9-596F-D3A1-4ED8C2342667}"/>
                </a:ext>
              </a:extLst>
            </p:cNvPr>
            <p:cNvSpPr/>
            <p:nvPr/>
          </p:nvSpPr>
          <p:spPr>
            <a:xfrm>
              <a:off x="710739" y="6126061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latin typeface="Consolas" panose="020B0609020204030204" pitchFamily="49" charset="0"/>
                </a:rPr>
                <a:t>null_marker</a:t>
              </a:r>
              <a:endParaRPr lang="fr-FR" sz="1600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52572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78C9-D527-4707-96C7-022193C36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13C4A9-5841-7515-5FFF-7EFC79104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22</a:t>
            </a:fld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6F425E-FC57-B3F5-24AB-108B23FFF1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9380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7E332-B134-7554-2F12-E8DF14FC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E95868F-3048-77AB-E274-DBA1768EF1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B0055-0FFA-B157-7C03-62A5BF656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706AC4D-FEF8-088C-C5C7-2BF2635AB28C}"/>
              </a:ext>
            </a:extLst>
          </p:cNvPr>
          <p:cNvSpPr txBox="1"/>
          <p:nvPr/>
        </p:nvSpPr>
        <p:spPr>
          <a:xfrm>
            <a:off x="2447405" y="5766532"/>
            <a:ext cx="72971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bg2"/>
                </a:solidFill>
                <a:latin typeface="Fira Sans Condensed SemiBold" panose="020B0603050000020004" pitchFamily="34" charset="0"/>
              </a:rPr>
              <a:t>Let’s generate a blackhole, shall we ?</a:t>
            </a:r>
            <a:endParaRPr lang="fr-FR" sz="3600" dirty="0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B9C46D8C-6F7B-6469-63DA-476129B0F557}"/>
              </a:ext>
            </a:extLst>
          </p:cNvPr>
          <p:cNvSpPr txBox="1">
            <a:spLocks/>
          </p:cNvSpPr>
          <p:nvPr/>
        </p:nvSpPr>
        <p:spPr>
          <a:xfrm>
            <a:off x="9449844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Fira Sans Condensed SemiBold" panose="020B0603050000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pPr/>
              <a:t>23</a:t>
            </a:fld>
            <a:endParaRPr lang="fr-FR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34467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97A99-3222-AC27-12F7-F2CB58F31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85CCED2D-A115-D0DE-A2E3-3140078F2B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7A333F-1D41-4FA0-4BD3-9E3133482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t>24</a:t>
            </a:fld>
            <a:endParaRPr lang="fr-FR">
              <a:solidFill>
                <a:schemeClr val="bg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304B39-9DF1-0958-4E9D-56B7378F4005}"/>
              </a:ext>
            </a:extLst>
          </p:cNvPr>
          <p:cNvSpPr txBox="1"/>
          <p:nvPr/>
        </p:nvSpPr>
        <p:spPr>
          <a:xfrm>
            <a:off x="543140" y="3994484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camera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FCA29D-CE20-E014-3AED-68E50EB35EC1}"/>
              </a:ext>
            </a:extLst>
          </p:cNvPr>
          <p:cNvSpPr txBox="1"/>
          <p:nvPr/>
        </p:nvSpPr>
        <p:spPr>
          <a:xfrm>
            <a:off x="3012479" y="5405044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image</a:t>
            </a:r>
            <a:b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</a:br>
            <a:r>
              <a:rPr lang="en-US" i="1">
                <a:solidFill>
                  <a:schemeClr val="bg2"/>
                </a:solidFill>
                <a:latin typeface="Fira Sans Condensed SemiBold" panose="020B0603050000020004" pitchFamily="34" charset="0"/>
              </a:rPr>
              <a:t>1 ray / pixel</a:t>
            </a:r>
            <a:endParaRPr lang="fr-FR" i="1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237E9D-C03F-C07F-D835-74F8148A2D57}"/>
              </a:ext>
            </a:extLst>
          </p:cNvPr>
          <p:cNvSpPr txBox="1"/>
          <p:nvPr/>
        </p:nvSpPr>
        <p:spPr>
          <a:xfrm>
            <a:off x="9069518" y="1273229"/>
            <a:ext cx="1590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photon sphere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94CD94-36E8-67E2-9E05-F01E11AB04A4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9563386" y="1642561"/>
            <a:ext cx="301382" cy="502498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528539F-A4D8-D407-6200-B8E9BB39498B}"/>
              </a:ext>
            </a:extLst>
          </p:cNvPr>
          <p:cNvSpPr txBox="1"/>
          <p:nvPr/>
        </p:nvSpPr>
        <p:spPr>
          <a:xfrm>
            <a:off x="5410930" y="783478"/>
            <a:ext cx="1936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ray-marching step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AFFDA0C2-5B68-488C-8295-E98087B9B938}"/>
              </a:ext>
            </a:extLst>
          </p:cNvPr>
          <p:cNvSpPr/>
          <p:nvPr/>
        </p:nvSpPr>
        <p:spPr>
          <a:xfrm rot="16385211">
            <a:off x="6288867" y="955554"/>
            <a:ext cx="180876" cy="607859"/>
          </a:xfrm>
          <a:prstGeom prst="rightBrac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2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367073-E4E6-2EE8-6296-EC0DEA9DEF2F}"/>
              </a:ext>
            </a:extLst>
          </p:cNvPr>
          <p:cNvSpPr txBox="1"/>
          <p:nvPr/>
        </p:nvSpPr>
        <p:spPr>
          <a:xfrm>
            <a:off x="6070946" y="4574174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accretion disk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A8EA53A-0B01-2359-9EFC-B77F70FDA803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6836540" y="3667565"/>
            <a:ext cx="444284" cy="906609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2AAAE6A-A24B-2990-C09A-4C7CEF3F762D}"/>
              </a:ext>
            </a:extLst>
          </p:cNvPr>
          <p:cNvSpPr txBox="1"/>
          <p:nvPr/>
        </p:nvSpPr>
        <p:spPr>
          <a:xfrm>
            <a:off x="9894121" y="5215439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event horizon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2DEAA7B-E0E5-3C4F-2C00-F13C8CCCF1F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9449844" y="4120869"/>
            <a:ext cx="1190635" cy="1094570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53851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3411617" y="490008"/>
            <a:ext cx="53687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Defining the Domain Model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4B02D644-FFBD-1C50-CF49-899C86865A0B}"/>
              </a:ext>
            </a:extLst>
          </p:cNvPr>
          <p:cNvGrpSpPr/>
          <p:nvPr/>
        </p:nvGrpSpPr>
        <p:grpSpPr>
          <a:xfrm>
            <a:off x="1773827" y="5074495"/>
            <a:ext cx="8644344" cy="890652"/>
            <a:chOff x="1773827" y="5210682"/>
            <a:chExt cx="8644344" cy="890652"/>
          </a:xfrm>
        </p:grpSpPr>
        <p:sp>
          <p:nvSpPr>
            <p:cNvPr id="5" name="TextBox 9">
              <a:extLst>
                <a:ext uri="{FF2B5EF4-FFF2-40B4-BE49-F238E27FC236}">
                  <a16:creationId xmlns:a16="http://schemas.microsoft.com/office/drawing/2014/main" id="{EAF201C6-28DE-58EB-2DAD-6A4DEF48AC00}"/>
                </a:ext>
              </a:extLst>
            </p:cNvPr>
            <p:cNvSpPr txBox="1"/>
            <p:nvPr/>
          </p:nvSpPr>
          <p:spPr>
            <a:xfrm>
              <a:off x="1773827" y="5210682"/>
              <a:ext cx="8644344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dirty="0">
                  <a:latin typeface="Fira Sans Condensed SemiBold" panose="020B0603050000020004" pitchFamily="34" charset="0"/>
                </a:rPr>
                <a:t>Accumulate encountered light and produce the pixel’s final </a:t>
              </a:r>
              <a:r>
                <a:rPr lang="en-US" sz="2400" dirty="0">
                  <a:solidFill>
                    <a:srgbClr val="0033B3"/>
                  </a:solidFill>
                  <a:latin typeface="Consolas" panose="020B0609020204030204" pitchFamily="49" charset="0"/>
                </a:rPr>
                <a:t>Color</a:t>
              </a:r>
            </a:p>
          </p:txBody>
        </p:sp>
        <p:sp>
          <p:nvSpPr>
            <p:cNvPr id="8" name="Rectangle 1">
              <a:extLst>
                <a:ext uri="{FF2B5EF4-FFF2-40B4-BE49-F238E27FC236}">
                  <a16:creationId xmlns:a16="http://schemas.microsoft.com/office/drawing/2014/main" id="{1CE785D7-A4B9-7FAD-D5DC-0D295C60F6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5701224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Color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r</a:t>
              </a:r>
              <a:r>
                <a:rPr lang="fr-FR" altLang="fr-FR" sz="2000">
                  <a:solidFill>
                    <a:srgbClr val="080808"/>
                  </a:solidFill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g</a:t>
              </a:r>
              <a:r>
                <a:rPr lang="fr-FR" altLang="fr-FR" sz="2000">
                  <a:solidFill>
                    <a:srgbClr val="080808"/>
                  </a:solidFill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b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7226FAFF-3F63-286C-AECB-314D123D14E5}"/>
              </a:ext>
            </a:extLst>
          </p:cNvPr>
          <p:cNvGrpSpPr/>
          <p:nvPr/>
        </p:nvGrpSpPr>
        <p:grpSpPr>
          <a:xfrm>
            <a:off x="2452539" y="1837560"/>
            <a:ext cx="7286920" cy="914939"/>
            <a:chOff x="2452539" y="1875349"/>
            <a:chExt cx="7286920" cy="914939"/>
          </a:xfrm>
        </p:grpSpPr>
        <p:sp>
          <p:nvSpPr>
            <p:cNvPr id="7" name="Rectangle 1">
              <a:extLst>
                <a:ext uri="{FF2B5EF4-FFF2-40B4-BE49-F238E27FC236}">
                  <a16:creationId xmlns:a16="http://schemas.microsoft.com/office/drawing/2014/main" id="{7B9E3728-5C13-7F5B-9C72-4C6B88A9A6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2390178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Ray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fr-FR" altLang="fr-FR" sz="2000">
                  <a:solidFill>
                    <a:srgbClr val="000000"/>
                  </a:solidFill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origin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0000"/>
                  </a:solidFill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direction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229A5C77-880A-CE38-B38C-094C5935E6E5}"/>
                </a:ext>
              </a:extLst>
            </p:cNvPr>
            <p:cNvSpPr txBox="1"/>
            <p:nvPr/>
          </p:nvSpPr>
          <p:spPr>
            <a:xfrm>
              <a:off x="3046379" y="1875349"/>
              <a:ext cx="609924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Trace thousands of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33B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Ray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 from the camera </a:t>
              </a: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64864278-88EB-D11B-BA2C-C690294B0D7C}"/>
              </a:ext>
            </a:extLst>
          </p:cNvPr>
          <p:cNvGrpSpPr/>
          <p:nvPr/>
        </p:nvGrpSpPr>
        <p:grpSpPr>
          <a:xfrm>
            <a:off x="2180617" y="3453720"/>
            <a:ext cx="7830765" cy="919194"/>
            <a:chOff x="2180617" y="3453720"/>
            <a:chExt cx="7830765" cy="919194"/>
          </a:xfrm>
        </p:grpSpPr>
        <p:sp>
          <p:nvSpPr>
            <p:cNvPr id="6" name="Rectangle 1">
              <a:extLst>
                <a:ext uri="{FF2B5EF4-FFF2-40B4-BE49-F238E27FC236}">
                  <a16:creationId xmlns:a16="http://schemas.microsoft.com/office/drawing/2014/main" id="{161A580C-5E28-E439-3273-1AD4A8DCA3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3972804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y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z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3E0458FA-647B-459C-BD13-B0E858412638}"/>
                </a:ext>
              </a:extLst>
            </p:cNvPr>
            <p:cNvSpPr txBox="1"/>
            <p:nvPr/>
          </p:nvSpPr>
          <p:spPr>
            <a:xfrm>
              <a:off x="2180617" y="3453720"/>
              <a:ext cx="783076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Use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33B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Vec3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 to represent and update positions and directions</a:t>
              </a:r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313998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4130558" y="119512"/>
            <a:ext cx="39308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Algorithm’s snippet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25DF5256-B858-24B9-23DD-7A13409362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2289" y="2386302"/>
            <a:ext cx="8307422" cy="4278094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Math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sz="16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+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+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!=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1.0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/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2155E4C8-3497-5C8C-19BF-8DE3381E73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2289" y="1037463"/>
            <a:ext cx="8307422" cy="10772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var 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vel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forward</a:t>
            </a:r>
            <a:endParaRPr lang="fr-FR" altLang="fr-FR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right.mul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(u))</a:t>
            </a: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trueUp.mul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(v))</a:t>
            </a: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norm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9A9534-F64D-CEA8-BAE9-09A8E2B4563E}"/>
              </a:ext>
            </a:extLst>
          </p:cNvPr>
          <p:cNvSpPr txBox="1"/>
          <p:nvPr/>
        </p:nvSpPr>
        <p:spPr>
          <a:xfrm>
            <a:off x="8372274" y="1037462"/>
            <a:ext cx="1877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/>
                </a:solidFill>
                <a:latin typeface="Fira Sans SemiBold" panose="020B0603050000020004" pitchFamily="34" charset="0"/>
              </a:rPr>
              <a:t>With value class</a:t>
            </a:r>
            <a:endParaRPr lang="fr-FR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972C23-0020-7CEF-663C-660BC7ABD56A}"/>
              </a:ext>
            </a:extLst>
          </p:cNvPr>
          <p:cNvSpPr txBox="1"/>
          <p:nvPr/>
        </p:nvSpPr>
        <p:spPr>
          <a:xfrm>
            <a:off x="8016407" y="2386301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accent1"/>
                </a:solidFill>
                <a:latin typeface="Fira Sans SemiBold" panose="020B0603050000020004" pitchFamily="34" charset="0"/>
              </a:rPr>
              <a:t>Without value class</a:t>
            </a:r>
            <a:endParaRPr lang="fr-FR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1057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07D6D-117F-B43E-4D41-47D36309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46F527-AC4A-0E38-4B45-594B359B99B6}"/>
              </a:ext>
            </a:extLst>
          </p:cNvPr>
          <p:cNvSpPr txBox="1"/>
          <p:nvPr/>
        </p:nvSpPr>
        <p:spPr>
          <a:xfrm>
            <a:off x="4940876" y="1508596"/>
            <a:ext cx="23102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Identity vs Value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5B3C1C-33AD-9FA6-E394-614F0D9B1EE3}"/>
              </a:ext>
            </a:extLst>
          </p:cNvPr>
          <p:cNvSpPr txBox="1"/>
          <p:nvPr/>
        </p:nvSpPr>
        <p:spPr>
          <a:xfrm>
            <a:off x="1196281" y="2378890"/>
            <a:ext cx="9799439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u="sng">
                <a:latin typeface="Consolas" panose="020B0609020204030204" pitchFamily="49" charset="0"/>
              </a:rPr>
              <a:t>Benchmark                 Mode  Cnt          Score    Error   Units</a:t>
            </a:r>
            <a:br>
              <a:rPr lang="fr-FR" sz="2000" u="sng">
                <a:latin typeface="Consolas" panose="020B0609020204030204" pitchFamily="49" charset="0"/>
              </a:rPr>
            </a:br>
            <a:endParaRPr lang="fr-FR" sz="2000" u="sng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renderWithIdentity        avgt    5         52,593 ±  1,389   ms/op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2022,373 ± 53,553  MB/sec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128,000           counts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gc.time                   avgt    5         51,000               ms</a:t>
            </a:r>
          </a:p>
          <a:p>
            <a:endParaRPr lang="fr-FR" sz="2000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renderWithValue           avgt    5         48,566 ±  1,727   ms/op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   4,151 ±  0,147  MB/sec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    ≈ 0           counts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3A3B12-534F-64E7-98A3-584C6A62F7B4}"/>
              </a:ext>
            </a:extLst>
          </p:cNvPr>
          <p:cNvSpPr txBox="1"/>
          <p:nvPr/>
        </p:nvSpPr>
        <p:spPr>
          <a:xfrm>
            <a:off x="4928048" y="463504"/>
            <a:ext cx="2335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Benchmark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3583F3-3EB9-FAB3-4F35-E7CFA3DC9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83FBCAFE-9BA5-4F25-83BC-8351B4665D24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7554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5D85D-5E8C-D4CC-A4F8-9A89FABF9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BE3330-0952-87D5-7C09-C7A19BF216AD}"/>
              </a:ext>
            </a:extLst>
          </p:cNvPr>
          <p:cNvSpPr txBox="1"/>
          <p:nvPr/>
        </p:nvSpPr>
        <p:spPr>
          <a:xfrm>
            <a:off x="5251858" y="359770"/>
            <a:ext cx="1688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Identity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01F543-7508-E795-3099-BB3A16CFC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28</a:t>
            </a:fld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48D8A8-1918-398D-80F3-F9626AF98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6980"/>
            <a:ext cx="12192000" cy="5415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178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C116-8761-0BA1-5D8C-3B4F4CA1C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DA9582-5CE7-27C9-1D6F-0A70A686BE9F}"/>
              </a:ext>
            </a:extLst>
          </p:cNvPr>
          <p:cNvSpPr txBox="1"/>
          <p:nvPr/>
        </p:nvSpPr>
        <p:spPr>
          <a:xfrm>
            <a:off x="5469867" y="359770"/>
            <a:ext cx="12522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Value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44CE8-5284-3BB7-0102-1E625B9AA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29</a:t>
            </a:fld>
            <a:endParaRPr lang="fr-F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F392ED-488B-B9A3-BF50-E89549DA3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6101"/>
            <a:ext cx="12192000" cy="5405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8280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35D2B-C30E-7AC6-AE6B-F118DC7BD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9">
            <a:extLst>
              <a:ext uri="{FF2B5EF4-FFF2-40B4-BE49-F238E27FC236}">
                <a16:creationId xmlns:a16="http://schemas.microsoft.com/office/drawing/2014/main" id="{A35402DB-77AE-FD8E-387D-76BA8F479D90}"/>
              </a:ext>
            </a:extLst>
          </p:cNvPr>
          <p:cNvSpPr txBox="1"/>
          <p:nvPr/>
        </p:nvSpPr>
        <p:spPr>
          <a:xfrm>
            <a:off x="1668379" y="3105835"/>
            <a:ext cx="8855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This is not </a:t>
            </a:r>
            <a:r>
              <a:rPr lang="en-US" sz="3600" i="1">
                <a:latin typeface="Fira Sans Condensed SemiBold" panose="020B0603050000020004" pitchFamily="34" charset="0"/>
              </a:rPr>
              <a:t>“just”</a:t>
            </a:r>
            <a:r>
              <a:rPr lang="en-US" sz="3600">
                <a:latin typeface="Fira Sans Condensed SemiBold" panose="020B0603050000020004" pitchFamily="34" charset="0"/>
              </a:rPr>
              <a:t> a performance improvement</a:t>
            </a:r>
            <a:endParaRPr lang="fr-FR" sz="3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A954F8-6912-5C1E-770E-CDEE3872D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32022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7B811-C1EC-1F1B-C202-B237CD1AF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3150643-66FF-05EB-6913-E9B69BE52258}"/>
              </a:ext>
            </a:extLst>
          </p:cNvPr>
          <p:cNvSpPr txBox="1"/>
          <p:nvPr/>
        </p:nvSpPr>
        <p:spPr>
          <a:xfrm>
            <a:off x="4216319" y="463504"/>
            <a:ext cx="37593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Changes in the JDK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84FBF85E-2FF7-B9B1-D2BF-83C849C5DD75}"/>
              </a:ext>
            </a:extLst>
          </p:cNvPr>
          <p:cNvSpPr txBox="1"/>
          <p:nvPr/>
        </p:nvSpPr>
        <p:spPr>
          <a:xfrm>
            <a:off x="1206690" y="1966419"/>
            <a:ext cx="977862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@ValueBased</a:t>
            </a:r>
            <a:r>
              <a:rPr lang="en-US" sz="2400" b="1">
                <a:latin typeface="Consolas" panose="020B0609020204030204" pitchFamily="49" charset="0"/>
              </a:rPr>
              <a:t> -&gt; </a:t>
            </a:r>
            <a:r>
              <a:rPr lang="en-US" sz="2400" b="1">
                <a:latin typeface="Fira Sans Condensed SemiBold" panose="020B0603050000020004" pitchFamily="34" charset="0"/>
              </a:rPr>
              <a:t>Value Classes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java.lang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Integer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Long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Float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java.util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OptionalInt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OptionalLong</a:t>
            </a:r>
            <a:r>
              <a:rPr lang="en-US" sz="2400">
                <a:latin typeface="Consolas" panose="020B0609020204030204" pitchFamily="49" charset="0"/>
              </a:rPr>
              <a:t> …</a:t>
            </a:r>
            <a:endParaRPr lang="en-US" sz="2400" i="1">
              <a:latin typeface="Consolas" panose="020B0609020204030204" pitchFamily="49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java.time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LocalDate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LocalTime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Duration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Instant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 b="1">
              <a:solidFill>
                <a:schemeClr val="accent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390: Warnings for Value-Based Classes </a:t>
            </a:r>
            <a:r>
              <a:rPr lang="en-US" sz="2400" i="1">
                <a:latin typeface="Fira Sans Condensed SemiBold" panose="020B0603050000020004" pitchFamily="34" charset="0"/>
              </a:rPr>
              <a:t>(JDK 16)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2AF909-34C6-55C3-6372-462009729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31</a:t>
            </a:fld>
            <a:endParaRPr lang="fr-FR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ED71D6A6-CE90-BEDE-E8C5-2D9D0EB8A5C3}"/>
              </a:ext>
            </a:extLst>
          </p:cNvPr>
          <p:cNvSpPr txBox="1"/>
          <p:nvPr/>
        </p:nvSpPr>
        <p:spPr>
          <a:xfrm>
            <a:off x="5065090" y="5415294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 05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98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7643B-9BEB-1189-D79E-CA73D26E0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5093943-F75F-8912-14EE-7665FAF591C1}"/>
              </a:ext>
            </a:extLst>
          </p:cNvPr>
          <p:cNvSpPr txBox="1"/>
          <p:nvPr/>
        </p:nvSpPr>
        <p:spPr>
          <a:xfrm>
            <a:off x="3085406" y="463504"/>
            <a:ext cx="60212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Java compiler and VM </a:t>
            </a:r>
            <a:r>
              <a:rPr lang="en-US" sz="3600" i="1">
                <a:latin typeface="Fira Sans Condensed SemiBold" panose="020B0603050000020004" pitchFamily="34" charset="0"/>
              </a:rPr>
              <a:t>(JEP 539)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A01DD33D-04C9-8028-DE32-1A24EF864AE1}"/>
              </a:ext>
            </a:extLst>
          </p:cNvPr>
          <p:cNvSpPr txBox="1"/>
          <p:nvPr/>
        </p:nvSpPr>
        <p:spPr>
          <a:xfrm>
            <a:off x="1438619" y="1980169"/>
            <a:ext cx="931476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tx1"/>
              </a:buClr>
            </a:pPr>
            <a:r>
              <a:rPr lang="en-US" sz="2400" b="1">
                <a:latin typeface="Fira Sans Condensed SemiBold" panose="020B0603050000020004" pitchFamily="34" charset="0"/>
              </a:rPr>
              <a:t>When compiling a value class, the compiler :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clears the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ACC_IDENTITY</a:t>
            </a:r>
            <a:r>
              <a:rPr lang="en-US" sz="2400" b="1">
                <a:latin typeface="Fira Sans Condensed SemiBold" panose="020B0603050000020004" pitchFamily="34" charset="0"/>
              </a:rPr>
              <a:t> modifier bit of the class file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sets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ACC_STRICT_INIT</a:t>
            </a:r>
            <a:r>
              <a:rPr lang="en-US" sz="2400" b="1">
                <a:latin typeface="Fira Sans Condensed SemiBold" panose="020B0603050000020004" pitchFamily="34" charset="0"/>
              </a:rPr>
              <a:t> on all fields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no need to recompile old external code using value classes…</a:t>
            </a:r>
          </a:p>
          <a:p>
            <a:pPr lvl="0"/>
            <a:r>
              <a:rPr lang="en-US" sz="2400">
                <a:latin typeface="Fira Sans Condensed SemiBold" panose="020B0603050000020004" pitchFamily="34" charset="0"/>
              </a:rPr>
              <a:t>    … but this may help : the compiler adds a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LoadableDescriptors</a:t>
            </a:r>
            <a:r>
              <a:rPr lang="en-US" sz="2400">
                <a:solidFill>
                  <a:srgbClr val="0033B3"/>
                </a:solidFill>
                <a:latin typeface="Fira Sans SemiBold" panose="020B0603050000020004" pitchFamily="34" charset="0"/>
              </a:rPr>
              <a:t> </a:t>
            </a:r>
            <a:r>
              <a:rPr lang="en-US" sz="2400">
                <a:latin typeface="Fira Sans Condensed SemiBold" panose="020B0603050000020004" pitchFamily="34" charset="0"/>
              </a:rPr>
              <a:t>attribute to ask to load value classes early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BFAF50-ACA9-3925-7157-135D7665C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8052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5C0E4-29DB-8659-8507-4A006DE89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2375C65-2869-A98D-F6E4-7F31BD7CE4E3}"/>
              </a:ext>
            </a:extLst>
          </p:cNvPr>
          <p:cNvSpPr txBox="1"/>
          <p:nvPr/>
        </p:nvSpPr>
        <p:spPr>
          <a:xfrm>
            <a:off x="4952123" y="463504"/>
            <a:ext cx="2287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Conclusion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9CB6D-2607-4721-532D-8A024C62D44B}"/>
              </a:ext>
            </a:extLst>
          </p:cNvPr>
          <p:cNvSpPr txBox="1"/>
          <p:nvPr/>
        </p:nvSpPr>
        <p:spPr>
          <a:xfrm>
            <a:off x="1041355" y="2056730"/>
            <a:ext cx="1026994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No-cost abstraction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Encapsulation (OOP) with primitive performance</a:t>
            </a:r>
          </a:p>
          <a:p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Will change the way you write Java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>
              <a:latin typeface="Fira Sans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F7E78-FA7D-49D3-BC1C-A3749175ACF5}"/>
              </a:ext>
            </a:extLst>
          </p:cNvPr>
          <p:cNvSpPr txBox="1"/>
          <p:nvPr/>
        </p:nvSpPr>
        <p:spPr>
          <a:xfrm>
            <a:off x="3016653" y="6441949"/>
            <a:ext cx="6158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>
                <a:latin typeface="Fira Sans SemiBold" panose="020B0603050000020004" pitchFamily="34" charset="0"/>
              </a:rPr>
              <a:t>https://github.com/CodeSimcoe/blackhole-devoxx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F5F51A-979D-631C-22AF-B39E449D6C2F}"/>
              </a:ext>
            </a:extLst>
          </p:cNvPr>
          <p:cNvSpPr txBox="1"/>
          <p:nvPr/>
        </p:nvSpPr>
        <p:spPr>
          <a:xfrm>
            <a:off x="1041355" y="1430772"/>
            <a:ext cx="21867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chemeClr val="accent1"/>
                </a:solidFill>
                <a:latin typeface="Fira Sans SemiBold" panose="020B0603050000020004" pitchFamily="34" charset="0"/>
              </a:rPr>
              <a:t>Value Classes</a:t>
            </a:r>
            <a:endParaRPr lang="fr-FR" sz="2400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1FC32-14AC-C039-AD96-EFD3E4310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33</a:t>
            </a:fld>
            <a:endParaRPr lang="fr-FR"/>
          </a:p>
        </p:txBody>
      </p:sp>
      <p:pic>
        <p:nvPicPr>
          <p:cNvPr id="7" name="Picture 6" descr="QR Code Image">
            <a:extLst>
              <a:ext uri="{FF2B5EF4-FFF2-40B4-BE49-F238E27FC236}">
                <a16:creationId xmlns:a16="http://schemas.microsoft.com/office/drawing/2014/main" id="{4E6588ED-DAD8-3857-59AD-6698AA9C6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4189" y="4882049"/>
            <a:ext cx="1583622" cy="1583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0261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4453568" y="490008"/>
            <a:ext cx="32848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Flattening types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4" name="Tableau 4">
            <a:extLst>
              <a:ext uri="{FF2B5EF4-FFF2-40B4-BE49-F238E27FC236}">
                <a16:creationId xmlns:a16="http://schemas.microsoft.com/office/drawing/2014/main" id="{5C4FAA36-7A19-A5BD-5345-7AA9D5729866}"/>
              </a:ext>
            </a:extLst>
          </p:cNvPr>
          <p:cNvGraphicFramePr>
            <a:graphicFrameLocks noGrp="1"/>
          </p:cNvGraphicFramePr>
          <p:nvPr/>
        </p:nvGraphicFramePr>
        <p:xfrm>
          <a:off x="346953" y="2208180"/>
          <a:ext cx="11498094" cy="2071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2698">
                  <a:extLst>
                    <a:ext uri="{9D8B030D-6E8A-4147-A177-3AD203B41FA5}">
                      <a16:colId xmlns:a16="http://schemas.microsoft.com/office/drawing/2014/main" val="1105050186"/>
                    </a:ext>
                  </a:extLst>
                </a:gridCol>
                <a:gridCol w="3832698">
                  <a:extLst>
                    <a:ext uri="{9D8B030D-6E8A-4147-A177-3AD203B41FA5}">
                      <a16:colId xmlns:a16="http://schemas.microsoft.com/office/drawing/2014/main" val="473807918"/>
                    </a:ext>
                  </a:extLst>
                </a:gridCol>
                <a:gridCol w="3832698">
                  <a:extLst>
                    <a:ext uri="{9D8B030D-6E8A-4147-A177-3AD203B41FA5}">
                      <a16:colId xmlns:a16="http://schemas.microsoft.com/office/drawing/2014/main" val="2952751683"/>
                    </a:ext>
                  </a:extLst>
                </a:gridCol>
              </a:tblGrid>
              <a:tr h="690664">
                <a:tc>
                  <a:txBody>
                    <a:bodyPr/>
                    <a:lstStyle/>
                    <a:p>
                      <a:endParaRPr lang="fr-FR" sz="2400"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null</a:t>
                      </a:r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 marker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null</a:t>
                      </a:r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 free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1080007"/>
                  </a:ext>
                </a:extLst>
              </a:tr>
              <a:tr h="690664"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atomic</a:t>
                      </a:r>
                      <a:endParaRPr lang="fr-FR" sz="2400" dirty="0">
                        <a:solidFill>
                          <a:schemeClr val="accent1"/>
                        </a:solidFill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56 bits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64 bits*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7604896"/>
                  </a:ext>
                </a:extLst>
              </a:tr>
              <a:tr h="690664">
                <a:tc>
                  <a:txBody>
                    <a:bodyPr/>
                    <a:lstStyle/>
                    <a:p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non-</a:t>
                      </a:r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atomic</a:t>
                      </a:r>
                      <a:endParaRPr lang="fr-FR" sz="2400" dirty="0">
                        <a:solidFill>
                          <a:schemeClr val="accent1"/>
                        </a:solidFill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must </a:t>
                      </a:r>
                      <a:r>
                        <a:rPr lang="fr-FR" sz="2400" dirty="0" err="1">
                          <a:latin typeface="Fira Sans SemiBold" panose="020B0603050000020004" pitchFamily="34" charset="0"/>
                        </a:rPr>
                        <a:t>be</a:t>
                      </a:r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 strict final*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no restriction*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893250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0A439666-DC65-3B55-658D-06C0376F0159}"/>
              </a:ext>
            </a:extLst>
          </p:cNvPr>
          <p:cNvSpPr txBox="1"/>
          <p:nvPr/>
        </p:nvSpPr>
        <p:spPr>
          <a:xfrm>
            <a:off x="2267760" y="4732358"/>
            <a:ext cx="7656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(*) not yet fully implemented</a:t>
            </a:r>
          </a:p>
        </p:txBody>
      </p:sp>
    </p:spTree>
    <p:extLst>
      <p:ext uri="{BB962C8B-B14F-4D97-AF65-F5344CB8AC3E}">
        <p14:creationId xmlns:p14="http://schemas.microsoft.com/office/powerpoint/2010/main" val="1353586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08808-CE46-D49A-7A0C-4761EFE0E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035A2F7-4B2E-F857-C071-32BA8D9BDDA4}"/>
              </a:ext>
            </a:extLst>
          </p:cNvPr>
          <p:cNvSpPr txBox="1"/>
          <p:nvPr/>
        </p:nvSpPr>
        <p:spPr>
          <a:xfrm>
            <a:off x="4273256" y="463504"/>
            <a:ext cx="36455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Valhalla Roadmap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EDF19C-560B-2605-01BC-3FD8D015F55B}"/>
              </a:ext>
            </a:extLst>
          </p:cNvPr>
          <p:cNvSpPr txBox="1"/>
          <p:nvPr/>
        </p:nvSpPr>
        <p:spPr>
          <a:xfrm>
            <a:off x="2882324" y="2037908"/>
            <a:ext cx="831418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401 : Value Classes &amp;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and Nullable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Value Class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402 : Enhanced Primitive Boxing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int ≈ Integer!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Parametric JVM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List&lt;</a:t>
            </a:r>
            <a:r>
              <a:rPr lang="en-US" sz="2400" b="1" dirty="0" err="1">
                <a:solidFill>
                  <a:schemeClr val="accent1"/>
                </a:solidFill>
                <a:latin typeface="Consolas" panose="020B0609020204030204" pitchFamily="49" charset="0"/>
              </a:rPr>
              <a:t>ValueType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&gt;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7A3B2A-B129-D0B3-8BE0-FC4003457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35</a:t>
            </a:fld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CB3D92-97E3-A7A7-F998-40A4995F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19" y="5075997"/>
            <a:ext cx="2553282" cy="16894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B3322-E666-D2C2-09E5-B6F9E30B5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55" y="4125091"/>
            <a:ext cx="2172195" cy="1181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C64553-763B-EDC9-36A4-BA07A8AA7E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904" y="2948823"/>
            <a:ext cx="2324630" cy="12321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17C72C-56BE-CE25-DF4D-81DFEAC160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180" y="2284582"/>
            <a:ext cx="1664079" cy="1206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0A860F6-4AF6-C730-9DDA-3D8A93FB8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5752" y="1120894"/>
            <a:ext cx="342978" cy="8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7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215D4-B452-9816-18B2-1E89033CD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893284-0E96-7FDB-0038-E36D348D2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F8C0A50-25E7-E8CD-3538-9A983A8D897F}"/>
              </a:ext>
            </a:extLst>
          </p:cNvPr>
          <p:cNvSpPr txBox="1"/>
          <p:nvPr/>
        </p:nvSpPr>
        <p:spPr>
          <a:xfrm>
            <a:off x="4386710" y="490008"/>
            <a:ext cx="32239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 dirty="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583A4E09-7E81-20F4-CA26-64C5195B3645}"/>
              </a:ext>
            </a:extLst>
          </p:cNvPr>
          <p:cNvSpPr txBox="1"/>
          <p:nvPr/>
        </p:nvSpPr>
        <p:spPr>
          <a:xfrm>
            <a:off x="3067318" y="2558512"/>
            <a:ext cx="60573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 dirty="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r>
              <a:rPr lang="en-US" sz="2400" dirty="0">
                <a:latin typeface="Fira Sans Condensed SemiBold" panose="020B0603050000020004" pitchFamily="34" charset="0"/>
              </a:rPr>
              <a:t> needs a bit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A value class has no header</a:t>
            </a:r>
          </a:p>
        </p:txBody>
      </p:sp>
    </p:spTree>
    <p:extLst>
      <p:ext uri="{BB962C8B-B14F-4D97-AF65-F5344CB8AC3E}">
        <p14:creationId xmlns:p14="http://schemas.microsoft.com/office/powerpoint/2010/main" val="9823676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463B2-6FCA-869F-0B3D-9405A3E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E7F0B7-AF05-7B15-55C1-B3A6D23D0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04A7F3-6834-0FF3-2F25-A8366CCB53E2}"/>
              </a:ext>
            </a:extLst>
          </p:cNvPr>
          <p:cNvSpPr txBox="1"/>
          <p:nvPr/>
        </p:nvSpPr>
        <p:spPr>
          <a:xfrm>
            <a:off x="4639985" y="490008"/>
            <a:ext cx="2717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solidFill>
                  <a:srgbClr val="0033B3"/>
                </a:solidFill>
                <a:latin typeface="Consolas" panose="020B0609020204030204" pitchFamily="49" charset="0"/>
              </a:rPr>
              <a:t>hashCode()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70072132-0C2B-8D63-4B34-4D167EF44967}"/>
              </a:ext>
            </a:extLst>
          </p:cNvPr>
          <p:cNvSpPr txBox="1"/>
          <p:nvPr/>
        </p:nvSpPr>
        <p:spPr>
          <a:xfrm>
            <a:off x="1144413" y="2558512"/>
            <a:ext cx="99031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 dirty="0">
                <a:latin typeface="Fira Sans Condensed SemiBold" panose="020B0603050000020004" pitchFamily="34" charset="0"/>
              </a:rPr>
              <a:t>Default </a:t>
            </a:r>
            <a:r>
              <a:rPr lang="fr-FR" altLang="fr-FR" sz="2400" dirty="0" err="1">
                <a:solidFill>
                  <a:srgbClr val="0033B3"/>
                </a:solidFill>
                <a:latin typeface="Consolas" panose="020B0609020204030204" pitchFamily="49" charset="0"/>
              </a:rPr>
              <a:t>hashCode</a:t>
            </a:r>
            <a:r>
              <a:rPr lang="fr-FR" altLang="fr-FR" sz="2400" dirty="0">
                <a:solidFill>
                  <a:srgbClr val="0033B3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>
                <a:latin typeface="Fira Sans Condensed SemiBold" panose="020B0603050000020004" pitchFamily="34" charset="0"/>
              </a:rPr>
              <a:t> picks a random number and stores 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A value class </a:t>
            </a:r>
            <a:r>
              <a:rPr lang="en-US" sz="2400" i="1" dirty="0">
                <a:latin typeface="Fira Sans Condensed SemiBold" panose="020B0603050000020004" pitchFamily="34" charset="0"/>
              </a:rPr>
              <a:t>still</a:t>
            </a:r>
            <a:r>
              <a:rPr lang="en-US" sz="2400" dirty="0">
                <a:latin typeface="Fira Sans Condensed SemiBold" panose="020B0603050000020004" pitchFamily="34" charset="0"/>
              </a:rPr>
              <a:t> has no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Relies on the fields’ values to compute the hash</a:t>
            </a:r>
          </a:p>
        </p:txBody>
      </p:sp>
    </p:spTree>
    <p:extLst>
      <p:ext uri="{BB962C8B-B14F-4D97-AF65-F5344CB8AC3E}">
        <p14:creationId xmlns:p14="http://schemas.microsoft.com/office/powerpoint/2010/main" val="13650200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4618A-E230-1BB1-7F4C-29C6E8DF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A5A61D-ADEB-8DE3-2532-4C97857E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38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675D730B-BDA0-B09D-A480-6CA0CFD742BE}"/>
              </a:ext>
            </a:extLst>
          </p:cNvPr>
          <p:cNvSpPr txBox="1"/>
          <p:nvPr/>
        </p:nvSpPr>
        <p:spPr>
          <a:xfrm>
            <a:off x="4358185" y="490008"/>
            <a:ext cx="3475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latin typeface="Fira Sans Condensed SemiBold" panose="020B0603050000020004" pitchFamily="34" charset="0"/>
              </a:rPr>
              <a:t>Weak References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D5B92562-2071-5613-5805-E6D14618999D}"/>
              </a:ext>
            </a:extLst>
          </p:cNvPr>
          <p:cNvSpPr txBox="1"/>
          <p:nvPr/>
        </p:nvSpPr>
        <p:spPr>
          <a:xfrm>
            <a:off x="1723219" y="3623139"/>
            <a:ext cx="87455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WeakReference</a:t>
            </a:r>
            <a:r>
              <a:rPr lang="en-US" sz="2400">
                <a:latin typeface="Fira Sans Condensed SemiBold" panose="020B0603050000020004" pitchFamily="34" charset="0"/>
              </a:rPr>
              <a:t> leaves B collectible by GC </a:t>
            </a:r>
            <a:r>
              <a:rPr lang="en-US" sz="2400" i="1">
                <a:latin typeface="Fira Sans Condensed SemiBold" panose="020B0603050000020004" pitchFamily="34" charset="0"/>
              </a:rPr>
              <a:t>(if only reference)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Can’t make a reference to a non-existing address in memory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Throws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(No)</a:t>
            </a: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IdentityException</a:t>
            </a:r>
            <a:endParaRPr lang="en-US" sz="2400"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1B2C74E-B6CE-F16C-42B7-4455CE8ED643}"/>
              </a:ext>
            </a:extLst>
          </p:cNvPr>
          <p:cNvGrpSpPr/>
          <p:nvPr/>
        </p:nvGrpSpPr>
        <p:grpSpPr>
          <a:xfrm>
            <a:off x="1991030" y="2459103"/>
            <a:ext cx="8209937" cy="351185"/>
            <a:chOff x="550982" y="5485075"/>
            <a:chExt cx="8209937" cy="35118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DCBE930-3C8C-6440-2B1D-5BA2F67B33D9}"/>
                </a:ext>
              </a:extLst>
            </p:cNvPr>
            <p:cNvSpPr/>
            <p:nvPr/>
          </p:nvSpPr>
          <p:spPr>
            <a:xfrm>
              <a:off x="550982" y="5485075"/>
              <a:ext cx="1833743" cy="3511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GC root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FC99179-370B-91CC-83D4-E57E51ECFC32}"/>
                </a:ext>
              </a:extLst>
            </p:cNvPr>
            <p:cNvSpPr/>
            <p:nvPr/>
          </p:nvSpPr>
          <p:spPr>
            <a:xfrm>
              <a:off x="2676380" y="5485077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A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728D222-A506-250A-7200-1C215499926F}"/>
                </a:ext>
              </a:extLst>
            </p:cNvPr>
            <p:cNvSpPr/>
            <p:nvPr/>
          </p:nvSpPr>
          <p:spPr>
            <a:xfrm>
              <a:off x="4801778" y="5485076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WeakReference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B759AEE-C22A-80E6-5B44-F91024C923E8}"/>
                </a:ext>
              </a:extLst>
            </p:cNvPr>
            <p:cNvSpPr/>
            <p:nvPr/>
          </p:nvSpPr>
          <p:spPr>
            <a:xfrm>
              <a:off x="6927176" y="5485075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B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Connecteur droit avec flèche 33">
              <a:extLst>
                <a:ext uri="{FF2B5EF4-FFF2-40B4-BE49-F238E27FC236}">
                  <a16:creationId xmlns:a16="http://schemas.microsoft.com/office/drawing/2014/main" id="{168BCAF3-EB51-05C1-5213-7D5361776462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2384725" y="5660667"/>
              <a:ext cx="291655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avec flèche 33">
              <a:extLst>
                <a:ext uri="{FF2B5EF4-FFF2-40B4-BE49-F238E27FC236}">
                  <a16:creationId xmlns:a16="http://schemas.microsoft.com/office/drawing/2014/main" id="{4BC99D1E-A79A-E4C4-6D14-7F6A62E71E97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4510123" y="5660668"/>
              <a:ext cx="29165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avec flèche 33">
              <a:extLst>
                <a:ext uri="{FF2B5EF4-FFF2-40B4-BE49-F238E27FC236}">
                  <a16:creationId xmlns:a16="http://schemas.microsoft.com/office/drawing/2014/main" id="{06F505F7-53A4-D89C-8FFA-0F4B0E1691F1}"/>
                </a:ext>
              </a:extLst>
            </p:cNvPr>
            <p:cNvCxnSpPr>
              <a:cxnSpLocks/>
              <a:stCxn id="10" idx="3"/>
              <a:endCxn id="13" idx="1"/>
            </p:cNvCxnSpPr>
            <p:nvPr/>
          </p:nvCxnSpPr>
          <p:spPr>
            <a:xfrm flipV="1">
              <a:off x="6635521" y="5660667"/>
              <a:ext cx="291655" cy="1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74494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5AB0324-0823-428D-9D93-FEEADD32F87E}">
  <we:reference id="4defab0e-9c81-47f2-ac62-1298126f1299" version="1.0.0.0" store="EXCatalog" storeType="EXCatalog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8359</TotalTime>
  <Words>1424</Words>
  <Application>Microsoft Office PowerPoint</Application>
  <PresentationFormat>Widescreen</PresentationFormat>
  <Paragraphs>286</Paragraphs>
  <Slides>38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Consolas</vt:lpstr>
      <vt:lpstr>Fira Sans Condensed</vt:lpstr>
      <vt:lpstr>Fira Sans Condensed SemiBold</vt:lpstr>
      <vt:lpstr>Fira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Clément de Tastes</dc:creator>
  <cp:lastModifiedBy>Clément de Tastes</cp:lastModifiedBy>
  <cp:revision>513</cp:revision>
  <cp:lastPrinted>2026-09-26T13:38:52Z</cp:lastPrinted>
  <dcterms:created xsi:type="dcterms:W3CDTF">2025-12-16T09:28:58Z</dcterms:created>
  <dcterms:modified xsi:type="dcterms:W3CDTF">2026-09-27T07:13:16Z</dcterms:modified>
</cp:coreProperties>
</file>